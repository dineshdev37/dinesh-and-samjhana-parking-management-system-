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66" r:id="rId3"/>
    <p:sldId id="257" r:id="rId4"/>
    <p:sldId id="258" r:id="rId5"/>
    <p:sldId id="259" r:id="rId6"/>
    <p:sldId id="267" r:id="rId7"/>
    <p:sldId id="272" r:id="rId8"/>
    <p:sldId id="260" r:id="rId9"/>
    <p:sldId id="268" r:id="rId10"/>
    <p:sldId id="273" r:id="rId11"/>
    <p:sldId id="261" r:id="rId12"/>
    <p:sldId id="270" r:id="rId13"/>
    <p:sldId id="274" r:id="rId14"/>
    <p:sldId id="271" r:id="rId15"/>
    <p:sldId id="263" r:id="rId16"/>
    <p:sldId id="269" r:id="rId17"/>
    <p:sldId id="264" r:id="rId18"/>
    <p:sldId id="265"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72" autoAdjust="0"/>
    <p:restoredTop sz="94610"/>
  </p:normalViewPr>
  <p:slideViewPr>
    <p:cSldViewPr snapToGrid="0" snapToObjects="1">
      <p:cViewPr varScale="1">
        <p:scale>
          <a:sx n="80" d="100"/>
          <a:sy n="80" d="100"/>
        </p:scale>
        <p:origin x="782"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960933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8" Type="http://schemas.openxmlformats.org/officeDocument/2006/relationships/hyperlink" Target="https://trello.com/guide?utm_source=chatgpt.com" TargetMode="External"/><Relationship Id="rId3" Type="http://schemas.openxmlformats.org/officeDocument/2006/relationships/hyperlink" Target="https://www.atlassian.com/agile/about?utm_source=chatgpt.com" TargetMode="External"/><Relationship Id="rId7" Type="http://schemas.openxmlformats.org/officeDocument/2006/relationships/hyperlink" Target="https://www.scrum.org/resources/scrum-guide?utm_source=chatgpt.com"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hyperlink" Target="https://www.omg.org/spec/UML/2.5.1?utm_source=chatgpt.com" TargetMode="External"/><Relationship Id="rId5" Type="http://schemas.openxmlformats.org/officeDocument/2006/relationships/hyperlink" Target="https://www.istqb.org/?utm_source=chatgpt.com" TargetMode="External"/><Relationship Id="rId4" Type="http://schemas.openxmlformats.org/officeDocument/2006/relationships/hyperlink" Target="https://docs.github.com/en/pull-requests?utm_source=chatgpt.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9326880" y="-1463040"/>
            <a:ext cx="4754880" cy="4754880"/>
          </a:xfrm>
          <a:prstGeom prst="ellipse">
            <a:avLst/>
          </a:prstGeom>
          <a:solidFill>
            <a:srgbClr val="065A82">
              <a:alpha val="45000"/>
            </a:srgbClr>
          </a:solidFill>
          <a:ln/>
        </p:spPr>
      </p:sp>
      <p:sp>
        <p:nvSpPr>
          <p:cNvPr id="3" name="Shape 1"/>
          <p:cNvSpPr/>
          <p:nvPr/>
        </p:nvSpPr>
        <p:spPr>
          <a:xfrm>
            <a:off x="-1371600" y="4572000"/>
            <a:ext cx="4023360" cy="4023360"/>
          </a:xfrm>
          <a:prstGeom prst="ellipse">
            <a:avLst/>
          </a:prstGeom>
          <a:solidFill>
            <a:srgbClr val="1C7293">
              <a:alpha val="40000"/>
            </a:srgbClr>
          </a:solidFill>
          <a:ln/>
        </p:spPr>
      </p:sp>
      <p:sp>
        <p:nvSpPr>
          <p:cNvPr id="4" name="Shape 2"/>
          <p:cNvSpPr/>
          <p:nvPr/>
        </p:nvSpPr>
        <p:spPr>
          <a:xfrm>
            <a:off x="10607040" y="4297680"/>
            <a:ext cx="2011680" cy="2011680"/>
          </a:xfrm>
          <a:prstGeom prst="ellipse">
            <a:avLst/>
          </a:prstGeom>
          <a:solidFill>
            <a:srgbClr val="1C7293">
              <a:alpha val="65000"/>
            </a:srgbClr>
          </a:solidFill>
          <a:ln/>
        </p:spPr>
      </p:sp>
      <p:sp>
        <p:nvSpPr>
          <p:cNvPr id="6" name="Text 4"/>
          <p:cNvSpPr/>
          <p:nvPr/>
        </p:nvSpPr>
        <p:spPr>
          <a:xfrm>
            <a:off x="777240" y="1874520"/>
            <a:ext cx="10607040" cy="128016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Parking Management System</a:t>
            </a:r>
            <a:endParaRPr lang="en-US" sz="4600" dirty="0"/>
          </a:p>
        </p:txBody>
      </p:sp>
      <p:sp>
        <p:nvSpPr>
          <p:cNvPr id="7" name="Text 5"/>
          <p:cNvSpPr/>
          <p:nvPr/>
        </p:nvSpPr>
        <p:spPr>
          <a:xfrm>
            <a:off x="822960" y="3063240"/>
            <a:ext cx="10241280" cy="457200"/>
          </a:xfrm>
          <a:prstGeom prst="rect">
            <a:avLst/>
          </a:prstGeom>
          <a:noFill/>
          <a:ln/>
        </p:spPr>
        <p:txBody>
          <a:bodyPr wrap="square" lIns="0" tIns="0" rIns="0" bIns="0" rtlCol="0" anchor="ctr"/>
          <a:lstStyle/>
          <a:p>
            <a:pPr marL="0" indent="0">
              <a:buNone/>
            </a:pPr>
            <a:r>
              <a:rPr lang="en-US" sz="1800" i="1" dirty="0">
                <a:solidFill>
                  <a:srgbClr val="CFE8EF"/>
                </a:solidFill>
                <a:latin typeface="Calibri" pitchFamily="34" charset="0"/>
                <a:ea typeface="Calibri" pitchFamily="34" charset="-122"/>
                <a:cs typeface="Calibri" pitchFamily="34" charset="-120"/>
              </a:rPr>
              <a:t>Planning with Trello  •  Documentation &amp; Version Control with GitHub</a:t>
            </a:r>
            <a:endParaRPr lang="en-US" sz="1800" dirty="0"/>
          </a:p>
        </p:txBody>
      </p:sp>
      <p:sp>
        <p:nvSpPr>
          <p:cNvPr id="8" name="Shape 6"/>
          <p:cNvSpPr/>
          <p:nvPr/>
        </p:nvSpPr>
        <p:spPr>
          <a:xfrm>
            <a:off x="822960" y="3703320"/>
            <a:ext cx="2743200" cy="0"/>
          </a:xfrm>
          <a:prstGeom prst="line">
            <a:avLst/>
          </a:prstGeom>
          <a:noFill/>
          <a:ln w="25400">
            <a:solidFill>
              <a:srgbClr val="1C7293"/>
            </a:solidFill>
            <a:prstDash val="solid"/>
          </a:ln>
        </p:spPr>
      </p:sp>
      <p:sp>
        <p:nvSpPr>
          <p:cNvPr id="13" name="Text 11"/>
          <p:cNvSpPr/>
          <p:nvPr/>
        </p:nvSpPr>
        <p:spPr>
          <a:xfrm flipH="1">
            <a:off x="8258174" y="6035040"/>
            <a:ext cx="3771899" cy="822960"/>
          </a:xfrm>
          <a:prstGeom prst="rect">
            <a:avLst/>
          </a:prstGeom>
          <a:noFill/>
          <a:ln/>
        </p:spPr>
        <p:txBody>
          <a:bodyPr wrap="square" lIns="0" tIns="0" rIns="0" bIns="0" rtlCol="0" anchor="ctr"/>
          <a:lstStyle/>
          <a:p>
            <a:pPr marL="0" indent="0">
              <a:buNone/>
            </a:pPr>
            <a:r>
              <a:rPr lang="en-US" sz="1600" dirty="0">
                <a:solidFill>
                  <a:srgbClr val="00B0F0"/>
                </a:solidFill>
                <a:latin typeface="Times New Roman" panose="02020603050405020304" pitchFamily="18" charset="0"/>
                <a:ea typeface="Calibri" pitchFamily="34" charset="-122"/>
                <a:cs typeface="Times New Roman" panose="02020603050405020304" pitchFamily="18" charset="0"/>
              </a:rPr>
              <a:t>Course / Module Name : CSE 220</a:t>
            </a:r>
            <a:br>
              <a:rPr lang="en-US" sz="1600" dirty="0">
                <a:solidFill>
                  <a:srgbClr val="00B0F0"/>
                </a:solidFill>
                <a:latin typeface="Times New Roman" panose="02020603050405020304" pitchFamily="18" charset="0"/>
                <a:ea typeface="Calibri" pitchFamily="34" charset="-122"/>
                <a:cs typeface="Times New Roman" panose="02020603050405020304" pitchFamily="18" charset="0"/>
              </a:rPr>
            </a:br>
            <a:r>
              <a:rPr lang="en-US" sz="1600" dirty="0">
                <a:solidFill>
                  <a:srgbClr val="00B0F0"/>
                </a:solidFill>
                <a:latin typeface="Times New Roman" panose="02020603050405020304" pitchFamily="18" charset="0"/>
                <a:ea typeface="Calibri" pitchFamily="34" charset="-122"/>
                <a:cs typeface="Times New Roman" panose="02020603050405020304" pitchFamily="18" charset="0"/>
              </a:rPr>
              <a:t>Instructor: Poshan Karki</a:t>
            </a:r>
            <a:br>
              <a:rPr lang="en-US" sz="1600" dirty="0">
                <a:solidFill>
                  <a:srgbClr val="00B0F0"/>
                </a:solidFill>
                <a:latin typeface="Times New Roman" panose="02020603050405020304" pitchFamily="18" charset="0"/>
                <a:ea typeface="Calibri" pitchFamily="34" charset="-122"/>
                <a:cs typeface="Times New Roman" panose="02020603050405020304" pitchFamily="18" charset="0"/>
              </a:rPr>
            </a:br>
            <a:r>
              <a:rPr lang="en-US" sz="1600" dirty="0">
                <a:solidFill>
                  <a:srgbClr val="00B0F0"/>
                </a:solidFill>
                <a:latin typeface="Times New Roman" panose="02020603050405020304" pitchFamily="18" charset="0"/>
                <a:ea typeface="Calibri" pitchFamily="34" charset="-122"/>
                <a:cs typeface="Times New Roman" panose="02020603050405020304" pitchFamily="18" charset="0"/>
              </a:rPr>
              <a:t>Team: Dinesh and Samjhana</a:t>
            </a:r>
            <a:endParaRPr lang="en-US" sz="1600" dirty="0">
              <a:solidFill>
                <a:srgbClr val="00B0F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15A69EB2-2104-659C-950A-0AD7151F3503}"/>
              </a:ext>
            </a:extLst>
          </p:cNvPr>
          <p:cNvSpPr/>
          <p:nvPr/>
        </p:nvSpPr>
        <p:spPr>
          <a:xfrm>
            <a:off x="548640" y="315468"/>
            <a:ext cx="1653384" cy="68580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Agenda</a:t>
            </a:r>
            <a:endParaRPr lang="en-US" sz="3000" dirty="0"/>
          </a:p>
        </p:txBody>
      </p:sp>
      <p:sp>
        <p:nvSpPr>
          <p:cNvPr id="7" name="Shape 3">
            <a:extLst>
              <a:ext uri="{FF2B5EF4-FFF2-40B4-BE49-F238E27FC236}">
                <a16:creationId xmlns:a16="http://schemas.microsoft.com/office/drawing/2014/main" id="{CEEF5F10-A0AF-CB43-A829-96F55823BFCE}"/>
              </a:ext>
            </a:extLst>
          </p:cNvPr>
          <p:cNvSpPr/>
          <p:nvPr/>
        </p:nvSpPr>
        <p:spPr>
          <a:xfrm>
            <a:off x="594359" y="1124990"/>
            <a:ext cx="6487575" cy="4146805"/>
          </a:xfrm>
          <a:prstGeom prst="roundRect">
            <a:avLst>
              <a:gd name="adj" fmla="val 2000"/>
            </a:avLst>
          </a:prstGeom>
          <a:solidFill>
            <a:srgbClr val="CFE8EF"/>
          </a:solidFill>
          <a:ln/>
        </p:spPr>
        <p:txBody>
          <a:bodyPr/>
          <a:lstStyle/>
          <a:p>
            <a:pPr marL="285750" indent="-285750">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Introduction, Scope and Team Roles</a:t>
            </a:r>
          </a:p>
          <a:p>
            <a:pPr marL="285750" indent="-285750">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Agile Methodology: The Scrum Framework</a:t>
            </a:r>
          </a:p>
          <a:p>
            <a:pPr marL="285750" indent="-285750">
              <a:lnSpc>
                <a:spcPct val="150000"/>
              </a:lnSpc>
              <a:buFont typeface="Arial" panose="020B0604020202020204" pitchFamily="34" charset="0"/>
              <a:buChar char="•"/>
            </a:pPr>
            <a:r>
              <a:rPr lang="en-US" b="1" dirty="0">
                <a:latin typeface="Times New Roman" panose="02020603050405020304" pitchFamily="18" charset="0"/>
                <a:ea typeface="Cambria" pitchFamily="34" charset="-122"/>
                <a:cs typeface="Times New Roman" panose="02020603050405020304" pitchFamily="18" charset="0"/>
              </a:rPr>
              <a:t>Requirement Analysis</a:t>
            </a:r>
          </a:p>
          <a:p>
            <a:pPr marL="285750" indent="-285750">
              <a:lnSpc>
                <a:spcPct val="150000"/>
              </a:lnSpc>
              <a:buFont typeface="Arial" panose="020B0604020202020204" pitchFamily="34" charset="0"/>
              <a:buChar char="•"/>
            </a:pPr>
            <a:r>
              <a:rPr lang="en-US" b="1" dirty="0">
                <a:latin typeface="Times New Roman" panose="02020603050405020304" pitchFamily="18" charset="0"/>
                <a:ea typeface="Cambria" pitchFamily="34" charset="-122"/>
                <a:cs typeface="Times New Roman" panose="02020603050405020304" pitchFamily="18" charset="0"/>
              </a:rPr>
              <a:t>Modelling the System: UML Diagrams</a:t>
            </a:r>
          </a:p>
          <a:p>
            <a:pPr marL="285750" indent="-285750">
              <a:lnSpc>
                <a:spcPct val="150000"/>
              </a:lnSpc>
              <a:buFont typeface="Arial" panose="020B0604020202020204" pitchFamily="34" charset="0"/>
              <a:buChar char="•"/>
            </a:pPr>
            <a:r>
              <a:rPr lang="en-US" b="1" dirty="0">
                <a:latin typeface="Times New Roman" panose="02020603050405020304" pitchFamily="18" charset="0"/>
                <a:ea typeface="Cambria" pitchFamily="34" charset="-122"/>
                <a:cs typeface="Times New Roman" panose="02020603050405020304" pitchFamily="18" charset="0"/>
              </a:rPr>
              <a:t>Product Backlog and Sprint Planning with Trello</a:t>
            </a:r>
            <a:endParaRPr lang="en-US"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b="1" dirty="0">
                <a:latin typeface="Times New Roman" panose="02020603050405020304" pitchFamily="18" charset="0"/>
                <a:ea typeface="Cambria" pitchFamily="34" charset="-122"/>
                <a:cs typeface="Times New Roman" panose="02020603050405020304" pitchFamily="18" charset="0"/>
              </a:rPr>
              <a:t>Testing Strategy</a:t>
            </a:r>
          </a:p>
          <a:p>
            <a:pPr marL="285750" indent="-285750">
              <a:lnSpc>
                <a:spcPct val="150000"/>
              </a:lnSpc>
              <a:buFont typeface="Arial" panose="020B0604020202020204" pitchFamily="34" charset="0"/>
              <a:buChar char="•"/>
            </a:pPr>
            <a:r>
              <a:rPr lang="en-US" b="1" dirty="0">
                <a:latin typeface="Times New Roman" panose="02020603050405020304" pitchFamily="18" charset="0"/>
                <a:ea typeface="Cambria" pitchFamily="34" charset="-122"/>
                <a:cs typeface="Times New Roman" panose="02020603050405020304" pitchFamily="18" charset="0"/>
              </a:rPr>
              <a:t>Reflections on Using Agile Tools &amp; Conclusion</a:t>
            </a:r>
          </a:p>
          <a:p>
            <a:pPr marL="285750" indent="-285750">
              <a:lnSpc>
                <a:spcPct val="150000"/>
              </a:lnSpc>
              <a:buFont typeface="Arial" panose="020B0604020202020204" pitchFamily="34" charset="0"/>
              <a:buChar char="•"/>
            </a:pPr>
            <a:r>
              <a:rPr lang="en-US" b="1" dirty="0">
                <a:latin typeface="Times New Roman" panose="02020603050405020304" pitchFamily="18" charset="0"/>
                <a:ea typeface="Cambria" pitchFamily="34" charset="-122"/>
                <a:cs typeface="Times New Roman" panose="02020603050405020304" pitchFamily="18" charset="0"/>
              </a:rPr>
              <a:t>References</a:t>
            </a:r>
            <a:endParaRPr lang="en-US"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028219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01  INTRODUCTION</a:t>
            </a:r>
            <a:endParaRPr lang="en-US" sz="13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Introduction, Scope &amp; Team Roles</a:t>
            </a:r>
            <a:endParaRPr lang="en-US" sz="3000" dirty="0"/>
          </a:p>
        </p:txBody>
      </p:sp>
      <p:sp>
        <p:nvSpPr>
          <p:cNvPr id="4" name="Text 2"/>
          <p:cNvSpPr/>
          <p:nvPr/>
        </p:nvSpPr>
        <p:spPr>
          <a:xfrm>
            <a:off x="579120" y="1268963"/>
            <a:ext cx="11033760" cy="1017037"/>
          </a:xfrm>
          <a:prstGeom prst="rect">
            <a:avLst/>
          </a:prstGeom>
          <a:noFill/>
          <a:ln/>
        </p:spPr>
        <p:txBody>
          <a:bodyPr wrap="square" lIns="0" tIns="0" rIns="0" bIns="0" rtlCol="0" anchor="t"/>
          <a:lstStyle/>
          <a:p>
            <a:pPr>
              <a:lnSpc>
                <a:spcPct val="150000"/>
              </a:lnSpc>
            </a:pPr>
            <a:r>
              <a:rPr lang="en-US" sz="1400" dirty="0">
                <a:latin typeface="Times New Roman" panose="02020603050405020304" pitchFamily="18" charset="0"/>
                <a:cs typeface="Times New Roman" panose="02020603050405020304" pitchFamily="18" charset="0"/>
              </a:rPr>
              <a:t>This project is based on an Agile approach to develop a Parking Management System (PMS). The main goal is to learn how software projects are planned and managed in a real-world environment. Instead of coding, it’s focuses on creating project documents, managing tasks in Trello, and maintaining project files in GitHub. Team members collaborate, track progress, and follow Agile practices such as planning, task assignment, and version control. This helps to understand the complete software development process and teamwork.</a:t>
            </a:r>
          </a:p>
        </p:txBody>
      </p:sp>
      <p:sp>
        <p:nvSpPr>
          <p:cNvPr id="5" name="Shape 3"/>
          <p:cNvSpPr/>
          <p:nvPr/>
        </p:nvSpPr>
        <p:spPr>
          <a:xfrm>
            <a:off x="579120" y="2743201"/>
            <a:ext cx="5394960" cy="3657600"/>
          </a:xfrm>
          <a:prstGeom prst="roundRect">
            <a:avLst>
              <a:gd name="adj" fmla="val 2000"/>
            </a:avLst>
          </a:prstGeom>
          <a:solidFill>
            <a:srgbClr val="CFE8EF"/>
          </a:solidFill>
          <a:ln/>
        </p:spPr>
      </p:sp>
      <p:sp>
        <p:nvSpPr>
          <p:cNvPr id="6" name="Text 4"/>
          <p:cNvSpPr/>
          <p:nvPr/>
        </p:nvSpPr>
        <p:spPr>
          <a:xfrm>
            <a:off x="868680" y="2834639"/>
            <a:ext cx="4846320" cy="347473"/>
          </a:xfrm>
          <a:prstGeom prst="rect">
            <a:avLst/>
          </a:prstGeom>
          <a:noFill/>
          <a:ln/>
        </p:spPr>
        <p:txBody>
          <a:bodyPr wrap="square" lIns="0" tIns="0" rIns="0" bIns="0" rtlCol="0" anchor="ctr"/>
          <a:lstStyle/>
          <a:p>
            <a:pPr marL="0" indent="0">
              <a:buNone/>
            </a:pPr>
            <a:r>
              <a:rPr lang="en-US" sz="1700" b="1" dirty="0">
                <a:solidFill>
                  <a:srgbClr val="21295C"/>
                </a:solidFill>
                <a:latin typeface="Cambria" pitchFamily="34" charset="0"/>
                <a:ea typeface="Cambria" pitchFamily="34" charset="-122"/>
                <a:cs typeface="Cambria" pitchFamily="34" charset="-120"/>
              </a:rPr>
              <a:t>Project Scope</a:t>
            </a:r>
            <a:endParaRPr lang="en-US" sz="1700" dirty="0"/>
          </a:p>
        </p:txBody>
      </p:sp>
      <p:sp>
        <p:nvSpPr>
          <p:cNvPr id="7" name="Text 5"/>
          <p:cNvSpPr/>
          <p:nvPr/>
        </p:nvSpPr>
        <p:spPr>
          <a:xfrm>
            <a:off x="868680" y="3255264"/>
            <a:ext cx="4800600" cy="2944368"/>
          </a:xfrm>
          <a:prstGeom prst="rect">
            <a:avLst/>
          </a:prstGeom>
          <a:noFill/>
          <a:ln/>
        </p:spPr>
        <p:txBody>
          <a:bodyPr wrap="square" lIns="0" tIns="0" rIns="0" bIns="0" rtlCol="0" anchor="t"/>
          <a:lstStyle/>
          <a:p>
            <a:r>
              <a:rPr lang="en-US" sz="1400" b="1" dirty="0">
                <a:solidFill>
                  <a:srgbClr val="0070C0"/>
                </a:solidFill>
              </a:rPr>
              <a:t>In Scope:</a:t>
            </a:r>
            <a:r>
              <a:rPr lang="en-US" sz="1400" dirty="0">
                <a:solidFill>
                  <a:srgbClr val="0070C0"/>
                </a:solidFill>
              </a:rPr>
              <a:t> </a:t>
            </a:r>
            <a:r>
              <a:rPr lang="en-US" sz="1400" dirty="0"/>
              <a:t>We are working on vehicle entry and exit tracking, parking slot allocation, fee calculation, reservation management, and reporting workflows within the Parking Management System.</a:t>
            </a:r>
          </a:p>
          <a:p>
            <a:endParaRPr lang="en-US" sz="1400" dirty="0"/>
          </a:p>
          <a:p>
            <a:r>
              <a:rPr lang="en-US" sz="1400" b="1" dirty="0">
                <a:solidFill>
                  <a:srgbClr val="0070C0"/>
                </a:solidFill>
              </a:rPr>
              <a:t>Out of Scope:</a:t>
            </a:r>
            <a:r>
              <a:rPr lang="en-US" sz="1400" dirty="0">
                <a:solidFill>
                  <a:srgbClr val="0070C0"/>
                </a:solidFill>
              </a:rPr>
              <a:t> </a:t>
            </a:r>
            <a:r>
              <a:rPr lang="en-US" sz="1400" dirty="0"/>
              <a:t>Hardware sensor integration, payment gateway implementation, and mobile application coding are not included in this project.</a:t>
            </a:r>
          </a:p>
          <a:p>
            <a:endParaRPr lang="en-US" sz="1400" dirty="0"/>
          </a:p>
          <a:p>
            <a:r>
              <a:rPr lang="en-US" sz="1400" b="1" dirty="0">
                <a:solidFill>
                  <a:srgbClr val="0070C0"/>
                </a:solidFill>
              </a:rPr>
              <a:t>Deliverables:</a:t>
            </a:r>
            <a:r>
              <a:rPr lang="en-US" sz="1400" dirty="0">
                <a:solidFill>
                  <a:srgbClr val="0070C0"/>
                </a:solidFill>
              </a:rPr>
              <a:t> </a:t>
            </a:r>
            <a:r>
              <a:rPr lang="en-US" sz="1400" dirty="0"/>
              <a:t>We will produce a project plan, requirement and design documents, UML diagrams, test cases, and evidence of project management and collaboration using Trello and GitHub.</a:t>
            </a:r>
          </a:p>
        </p:txBody>
      </p:sp>
      <p:sp>
        <p:nvSpPr>
          <p:cNvPr id="8" name="Text 6"/>
          <p:cNvSpPr/>
          <p:nvPr/>
        </p:nvSpPr>
        <p:spPr>
          <a:xfrm>
            <a:off x="6217920" y="2423160"/>
            <a:ext cx="5394960" cy="365760"/>
          </a:xfrm>
          <a:prstGeom prst="rect">
            <a:avLst/>
          </a:prstGeom>
          <a:noFill/>
          <a:ln/>
        </p:spPr>
        <p:txBody>
          <a:bodyPr wrap="square" lIns="0" tIns="0" rIns="0" bIns="0" rtlCol="0" anchor="ctr"/>
          <a:lstStyle/>
          <a:p>
            <a:pPr marL="0" indent="0">
              <a:buNone/>
            </a:pPr>
            <a:r>
              <a:rPr lang="en-US" sz="1700" b="1" dirty="0">
                <a:solidFill>
                  <a:srgbClr val="21295C"/>
                </a:solidFill>
                <a:latin typeface="Cambria" pitchFamily="34" charset="0"/>
                <a:ea typeface="Cambria" pitchFamily="34" charset="-122"/>
                <a:cs typeface="Cambria" pitchFamily="34" charset="-120"/>
              </a:rPr>
              <a:t>Team Roles &amp; Responsibilities</a:t>
            </a:r>
            <a:endParaRPr lang="en-US" sz="1700" dirty="0"/>
          </a:p>
        </p:txBody>
      </p:sp>
      <p:graphicFrame>
        <p:nvGraphicFramePr>
          <p:cNvPr id="9" name="Table 0"/>
          <p:cNvGraphicFramePr>
            <a:graphicFrameLocks noGrp="1"/>
          </p:cNvGraphicFramePr>
          <p:nvPr>
            <p:extLst>
              <p:ext uri="{D42A27DB-BD31-4B8C-83A1-F6EECF244321}">
                <p14:modId xmlns:p14="http://schemas.microsoft.com/office/powerpoint/2010/main" val="1038214322"/>
              </p:ext>
            </p:extLst>
          </p:nvPr>
        </p:nvGraphicFramePr>
        <p:xfrm>
          <a:off x="6217920" y="2834640"/>
          <a:ext cx="5394960" cy="2057399"/>
        </p:xfrm>
        <a:graphic>
          <a:graphicData uri="http://schemas.openxmlformats.org/drawingml/2006/table">
            <a:tbl>
              <a:tblPr/>
              <a:tblGrid>
                <a:gridCol w="1321215">
                  <a:extLst>
                    <a:ext uri="{9D8B030D-6E8A-4147-A177-3AD203B41FA5}">
                      <a16:colId xmlns:a16="http://schemas.microsoft.com/office/drawing/2014/main" val="20000"/>
                    </a:ext>
                  </a:extLst>
                </a:gridCol>
                <a:gridCol w="4073745">
                  <a:extLst>
                    <a:ext uri="{9D8B030D-6E8A-4147-A177-3AD203B41FA5}">
                      <a16:colId xmlns:a16="http://schemas.microsoft.com/office/drawing/2014/main" val="20001"/>
                    </a:ext>
                  </a:extLst>
                </a:gridCol>
              </a:tblGrid>
              <a:tr h="631479">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Team member</a:t>
                      </a:r>
                      <a:endParaRPr lang="en-US" sz="150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065A82"/>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Core Responsibility</a:t>
                      </a:r>
                      <a:endParaRPr lang="en-US" sz="150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712960">
                <a:tc>
                  <a:txBody>
                    <a:bodyPr/>
                    <a:lstStyle/>
                    <a:p>
                      <a:pPr marL="0" indent="0">
                        <a:buNone/>
                      </a:pPr>
                      <a:r>
                        <a:rPr lang="en-US" sz="1300" b="1" dirty="0">
                          <a:solidFill>
                            <a:srgbClr val="21295C"/>
                          </a:solidFill>
                          <a:latin typeface="Times New Roman" panose="02020603050405020304" pitchFamily="18" charset="0"/>
                          <a:ea typeface="Calibri" pitchFamily="34" charset="-122"/>
                          <a:cs typeface="Times New Roman" panose="02020603050405020304" pitchFamily="18" charset="0"/>
                        </a:rPr>
                        <a:t>Dinesh</a:t>
                      </a:r>
                      <a:endParaRPr lang="en-US" sz="13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tcPr>
                </a:tc>
                <a:tc>
                  <a:txBody>
                    <a:bodyPr/>
                    <a:lstStyle/>
                    <a:p>
                      <a:pPr marL="0" indent="0">
                        <a:buNone/>
                      </a:pPr>
                      <a:r>
                        <a:rPr lang="en-US" sz="1300" dirty="0">
                          <a:latin typeface="Times New Roman" panose="02020603050405020304" pitchFamily="18" charset="0"/>
                          <a:cs typeface="Times New Roman" panose="02020603050405020304" pitchFamily="18" charset="0"/>
                        </a:rPr>
                        <a:t>Manages and prioritizes the product backlog, monitors progress, removes blockers, and manages GitHub repositories, branches, pull requests, and merges.</a:t>
                      </a:r>
                      <a:endParaRPr lang="en-US" sz="13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tcPr>
                </a:tc>
                <a:extLst>
                  <a:ext uri="{0D108BD9-81ED-4DB2-BD59-A6C34878D82A}">
                    <a16:rowId xmlns:a16="http://schemas.microsoft.com/office/drawing/2014/main" val="10001"/>
                  </a:ext>
                </a:extLst>
              </a:tr>
              <a:tr h="712960">
                <a:tc>
                  <a:txBody>
                    <a:bodyPr/>
                    <a:lstStyle/>
                    <a:p>
                      <a:pPr marL="0" indent="0">
                        <a:buNone/>
                      </a:pPr>
                      <a:r>
                        <a:rPr lang="en-US" sz="1300" b="1" dirty="0">
                          <a:solidFill>
                            <a:srgbClr val="21295C"/>
                          </a:solidFill>
                          <a:latin typeface="Times New Roman" panose="02020603050405020304" pitchFamily="18" charset="0"/>
                          <a:ea typeface="Calibri" pitchFamily="34" charset="-122"/>
                          <a:cs typeface="Times New Roman" panose="02020603050405020304" pitchFamily="18" charset="0"/>
                        </a:rPr>
                        <a:t>Samjhana</a:t>
                      </a:r>
                      <a:endParaRPr lang="en-US" sz="13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tcPr>
                </a:tc>
                <a:tc>
                  <a:txBody>
                    <a:bodyPr/>
                    <a:lstStyle/>
                    <a:p>
                      <a:pPr marL="0" indent="0">
                        <a:buNone/>
                      </a:pPr>
                      <a:r>
                        <a:rPr lang="en-US" sz="1300" dirty="0">
                          <a:latin typeface="Times New Roman" panose="02020603050405020304" pitchFamily="18" charset="0"/>
                          <a:cs typeface="Times New Roman" panose="02020603050405020304" pitchFamily="18" charset="0"/>
                        </a:rPr>
                        <a:t>Gathers and analyzes requirements, prepares project documentation and UML diagrams, designs test cases and ensures quality standards are met.</a:t>
                      </a:r>
                      <a:endParaRPr lang="en-US" sz="13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0" name="Text 7"/>
          <p:cNvSpPr/>
          <p:nvPr/>
        </p:nvSpPr>
        <p:spPr>
          <a:xfrm>
            <a:off x="457200" y="6473952"/>
            <a:ext cx="7315200" cy="274320"/>
          </a:xfrm>
          <a:prstGeom prst="rect">
            <a:avLst/>
          </a:prstGeom>
          <a:noFill/>
          <a:ln/>
        </p:spPr>
        <p:txBody>
          <a:bodyPr wrap="square" rtlCol="0" anchor="ctr"/>
          <a:lstStyle/>
          <a:p>
            <a:pPr marL="0" indent="0" algn="l">
              <a:buNone/>
            </a:pPr>
            <a:r>
              <a:rPr lang="en-US" sz="1200" dirty="0">
                <a:latin typeface="Times New Roman" panose="02020603050405020304" pitchFamily="18" charset="0"/>
                <a:ea typeface="Calibri" pitchFamily="34" charset="-122"/>
                <a:cs typeface="Times New Roman" panose="02020603050405020304" pitchFamily="18" charset="0"/>
              </a:rPr>
              <a:t>Parking Management System: Agile Project Simulation</a:t>
            </a:r>
            <a:endParaRPr lang="en-US" sz="1200" dirty="0">
              <a:latin typeface="Times New Roman" panose="02020603050405020304" pitchFamily="18" charset="0"/>
              <a:cs typeface="Times New Roman" panose="02020603050405020304" pitchFamily="18" charset="0"/>
            </a:endParaRPr>
          </a:p>
        </p:txBody>
      </p:sp>
      <p:sp>
        <p:nvSpPr>
          <p:cNvPr id="11" name="Text 8"/>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02  PROCESS FRAMEWORK</a:t>
            </a:r>
            <a:endParaRPr lang="en-US" sz="13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Agile Methodology: The Scrum Framework</a:t>
            </a:r>
            <a:endParaRPr lang="en-US" sz="3000" dirty="0"/>
          </a:p>
        </p:txBody>
      </p:sp>
      <p:sp>
        <p:nvSpPr>
          <p:cNvPr id="4" name="Text 2"/>
          <p:cNvSpPr/>
          <p:nvPr/>
        </p:nvSpPr>
        <p:spPr>
          <a:xfrm>
            <a:off x="548640" y="1472885"/>
            <a:ext cx="11064240" cy="918972"/>
          </a:xfrm>
          <a:prstGeom prst="rect">
            <a:avLst/>
          </a:prstGeom>
          <a:noFill/>
          <a:ln/>
        </p:spPr>
        <p:txBody>
          <a:bodyPr wrap="square" lIns="0" tIns="0" rIns="0" bIns="0" rtlCol="0" anchor="ctr"/>
          <a:lstStyle/>
          <a:p>
            <a:pPr>
              <a:lnSpc>
                <a:spcPct val="150000"/>
              </a:lnSpc>
            </a:pPr>
            <a:r>
              <a:rPr lang="en-US" sz="1400" dirty="0">
                <a:latin typeface="Times New Roman" panose="02020603050405020304" pitchFamily="18" charset="0"/>
                <a:cs typeface="Times New Roman" panose="02020603050405020304" pitchFamily="18" charset="0"/>
              </a:rPr>
              <a:t>We follow the Scrum framework, an Agile methodology that promotes teamwork, continuous improvement, and regular feedback. Scrum helps us manage the project through short, fixed-length iterations called Sprints. During each sprint, we plan tasks, track progress, review outcomes, and make improvements based on feedback. This approach ensures transparency, effective collaboration, and the timely delivery of project goals.</a:t>
            </a:r>
          </a:p>
        </p:txBody>
      </p:sp>
      <p:sp>
        <p:nvSpPr>
          <p:cNvPr id="5" name="Text 3"/>
          <p:cNvSpPr/>
          <p:nvPr/>
        </p:nvSpPr>
        <p:spPr>
          <a:xfrm>
            <a:off x="548640" y="2714835"/>
            <a:ext cx="5120640" cy="320040"/>
          </a:xfrm>
          <a:prstGeom prst="rect">
            <a:avLst/>
          </a:prstGeom>
          <a:noFill/>
          <a:ln/>
        </p:spPr>
        <p:txBody>
          <a:bodyPr wrap="square" lIns="0" tIns="0" rIns="0" bIns="0" rtlCol="0" anchor="ctr"/>
          <a:lstStyle/>
          <a:p>
            <a:pPr marL="0" indent="0">
              <a:buNone/>
            </a:pPr>
            <a:r>
              <a:rPr lang="en-US" b="1" dirty="0">
                <a:solidFill>
                  <a:srgbClr val="21295C"/>
                </a:solidFill>
                <a:latin typeface="Cambria" pitchFamily="34" charset="0"/>
                <a:ea typeface="Cambria" pitchFamily="34" charset="-122"/>
                <a:cs typeface="Cambria" pitchFamily="34" charset="-120"/>
              </a:rPr>
              <a:t>Core Agile Principles</a:t>
            </a:r>
            <a:endParaRPr lang="en-US" dirty="0"/>
          </a:p>
        </p:txBody>
      </p:sp>
      <p:sp>
        <p:nvSpPr>
          <p:cNvPr id="6" name="Shape 4"/>
          <p:cNvSpPr/>
          <p:nvPr/>
        </p:nvSpPr>
        <p:spPr>
          <a:xfrm>
            <a:off x="594360" y="3306023"/>
            <a:ext cx="365760" cy="365760"/>
          </a:xfrm>
          <a:prstGeom prst="ellipse">
            <a:avLst/>
          </a:prstGeom>
          <a:solidFill>
            <a:srgbClr val="1C7293"/>
          </a:solidFill>
          <a:ln/>
        </p:spPr>
      </p:sp>
      <p:sp>
        <p:nvSpPr>
          <p:cNvPr id="7" name="Text 5"/>
          <p:cNvSpPr/>
          <p:nvPr/>
        </p:nvSpPr>
        <p:spPr>
          <a:xfrm>
            <a:off x="594360" y="3286242"/>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097280" y="3279430"/>
            <a:ext cx="4617720" cy="402336"/>
          </a:xfrm>
          <a:prstGeom prst="rect">
            <a:avLst/>
          </a:prstGeom>
          <a:noFill/>
          <a:ln/>
        </p:spPr>
        <p:txBody>
          <a:bodyPr wrap="square" lIns="0" tIns="0" rIns="0" bIns="0" rtlCol="0" anchor="ctr"/>
          <a:lstStyle/>
          <a:p>
            <a:r>
              <a:rPr lang="en-US" sz="1400" dirty="0">
                <a:latin typeface="Times New Roman" panose="02020603050405020304" pitchFamily="18" charset="0"/>
                <a:cs typeface="Times New Roman" panose="02020603050405020304" pitchFamily="18" charset="0"/>
              </a:rPr>
              <a:t>Prioritize individuals and interactions over processes and tools.</a:t>
            </a:r>
          </a:p>
        </p:txBody>
      </p:sp>
      <p:sp>
        <p:nvSpPr>
          <p:cNvPr id="9" name="Shape 7"/>
          <p:cNvSpPr/>
          <p:nvPr/>
        </p:nvSpPr>
        <p:spPr>
          <a:xfrm>
            <a:off x="565202" y="3997981"/>
            <a:ext cx="365760" cy="365760"/>
          </a:xfrm>
          <a:prstGeom prst="ellipse">
            <a:avLst/>
          </a:prstGeom>
          <a:solidFill>
            <a:srgbClr val="1C7293"/>
          </a:solidFill>
          <a:ln/>
        </p:spPr>
      </p:sp>
      <p:sp>
        <p:nvSpPr>
          <p:cNvPr id="10" name="Text 8"/>
          <p:cNvSpPr/>
          <p:nvPr/>
        </p:nvSpPr>
        <p:spPr>
          <a:xfrm>
            <a:off x="565202" y="3959352"/>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097280" y="3959352"/>
            <a:ext cx="4617720" cy="402336"/>
          </a:xfrm>
          <a:prstGeom prst="rect">
            <a:avLst/>
          </a:prstGeom>
          <a:noFill/>
          <a:ln/>
        </p:spPr>
        <p:txBody>
          <a:bodyPr wrap="square" lIns="0" tIns="0" rIns="0" bIns="0" rtlCol="0" anchor="ctr"/>
          <a:lstStyle/>
          <a:p>
            <a:r>
              <a:rPr lang="en-US" sz="1400" dirty="0">
                <a:latin typeface="Times New Roman" panose="02020603050405020304" pitchFamily="18" charset="0"/>
                <a:cs typeface="Times New Roman" panose="02020603050405020304" pitchFamily="18" charset="0"/>
              </a:rPr>
              <a:t>Focus on creating useful project outcomes and documentation rather than excessive upfront specifications.</a:t>
            </a:r>
          </a:p>
        </p:txBody>
      </p:sp>
      <p:sp>
        <p:nvSpPr>
          <p:cNvPr id="12" name="Shape 10"/>
          <p:cNvSpPr/>
          <p:nvPr/>
        </p:nvSpPr>
        <p:spPr>
          <a:xfrm>
            <a:off x="565202" y="4620892"/>
            <a:ext cx="365760" cy="365760"/>
          </a:xfrm>
          <a:prstGeom prst="ellipse">
            <a:avLst/>
          </a:prstGeom>
          <a:solidFill>
            <a:srgbClr val="1C7293"/>
          </a:solidFill>
          <a:ln/>
        </p:spPr>
      </p:sp>
      <p:sp>
        <p:nvSpPr>
          <p:cNvPr id="13" name="Text 11"/>
          <p:cNvSpPr/>
          <p:nvPr/>
        </p:nvSpPr>
        <p:spPr>
          <a:xfrm>
            <a:off x="565202" y="4612681"/>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097280" y="4576105"/>
            <a:ext cx="4617720" cy="402336"/>
          </a:xfrm>
          <a:prstGeom prst="rect">
            <a:avLst/>
          </a:prstGeom>
          <a:noFill/>
          <a:ln/>
        </p:spPr>
        <p:txBody>
          <a:bodyPr wrap="square" lIns="0" tIns="0" rIns="0" bIns="0" rtlCol="0" anchor="ctr"/>
          <a:lstStyle/>
          <a:p>
            <a:r>
              <a:rPr lang="en-US" sz="1400" dirty="0">
                <a:latin typeface="Times New Roman" panose="02020603050405020304" pitchFamily="18" charset="0"/>
                <a:cs typeface="Times New Roman" panose="02020603050405020304" pitchFamily="18" charset="0"/>
              </a:rPr>
              <a:t>Encourage collaboration and communication among team members throughout the project.</a:t>
            </a:r>
          </a:p>
        </p:txBody>
      </p:sp>
      <p:sp>
        <p:nvSpPr>
          <p:cNvPr id="15" name="Shape 13"/>
          <p:cNvSpPr/>
          <p:nvPr/>
        </p:nvSpPr>
        <p:spPr>
          <a:xfrm>
            <a:off x="548640" y="5187820"/>
            <a:ext cx="365760" cy="365760"/>
          </a:xfrm>
          <a:prstGeom prst="ellipse">
            <a:avLst/>
          </a:prstGeom>
          <a:solidFill>
            <a:srgbClr val="1C7293"/>
          </a:solidFill>
          <a:ln/>
        </p:spPr>
      </p:sp>
      <p:sp>
        <p:nvSpPr>
          <p:cNvPr id="16" name="Text 14"/>
          <p:cNvSpPr/>
          <p:nvPr/>
        </p:nvSpPr>
        <p:spPr>
          <a:xfrm>
            <a:off x="565202" y="51878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p:nvPr/>
        </p:nvSpPr>
        <p:spPr>
          <a:xfrm>
            <a:off x="1097280" y="5151244"/>
            <a:ext cx="4617720" cy="402336"/>
          </a:xfrm>
          <a:prstGeom prst="rect">
            <a:avLst/>
          </a:prstGeom>
          <a:noFill/>
          <a:ln/>
        </p:spPr>
        <p:txBody>
          <a:bodyPr wrap="square" lIns="0" tIns="0" rIns="0" bIns="0" rtlCol="0" anchor="ctr"/>
          <a:lstStyle/>
          <a:p>
            <a:r>
              <a:rPr lang="en-US" sz="1400" dirty="0">
                <a:latin typeface="Times New Roman" panose="02020603050405020304" pitchFamily="18" charset="0"/>
                <a:cs typeface="Times New Roman" panose="02020603050405020304" pitchFamily="18" charset="0"/>
              </a:rPr>
              <a:t>Remain flexible and adapt to changes when project requirements or priorities evolve.</a:t>
            </a:r>
          </a:p>
        </p:txBody>
      </p:sp>
      <p:sp>
        <p:nvSpPr>
          <p:cNvPr id="31" name="Text 29"/>
          <p:cNvSpPr/>
          <p:nvPr/>
        </p:nvSpPr>
        <p:spPr>
          <a:xfrm>
            <a:off x="548640" y="6377473"/>
            <a:ext cx="3843279" cy="274319"/>
          </a:xfrm>
          <a:prstGeom prst="rect">
            <a:avLst/>
          </a:prstGeom>
          <a:noFill/>
          <a:ln/>
        </p:spPr>
        <p:txBody>
          <a:bodyPr wrap="square" rtlCol="0" anchor="ctr"/>
          <a:lstStyle/>
          <a:p>
            <a:r>
              <a:rPr lang="en-US" sz="1200" dirty="0">
                <a:latin typeface="Times New Roman" panose="02020603050405020304" pitchFamily="18" charset="0"/>
                <a:ea typeface="Calibri" pitchFamily="34" charset="-122"/>
                <a:cs typeface="Times New Roman" panose="02020603050405020304" pitchFamily="18" charset="0"/>
              </a:rPr>
              <a:t>Parking Management System: Agile Project Simulation</a:t>
            </a:r>
            <a:endParaRPr lang="en-US" sz="1200" dirty="0">
              <a:latin typeface="Times New Roman" panose="02020603050405020304" pitchFamily="18" charset="0"/>
              <a:cs typeface="Times New Roman" panose="02020603050405020304" pitchFamily="18" charset="0"/>
            </a:endParaRPr>
          </a:p>
        </p:txBody>
      </p:sp>
      <p:sp>
        <p:nvSpPr>
          <p:cNvPr id="32" name="Text 30"/>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63402"/>
            <a:ext cx="7315200" cy="32004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03  DOCUMENTATION &amp; DESIGN</a:t>
            </a:r>
            <a:endParaRPr lang="en-US" sz="1300" dirty="0"/>
          </a:p>
        </p:txBody>
      </p:sp>
      <p:sp>
        <p:nvSpPr>
          <p:cNvPr id="3" name="Text 1"/>
          <p:cNvSpPr/>
          <p:nvPr/>
        </p:nvSpPr>
        <p:spPr>
          <a:xfrm>
            <a:off x="514893" y="533197"/>
            <a:ext cx="11064240" cy="467698"/>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Requirement Analysis</a:t>
            </a:r>
            <a:endParaRPr lang="en-US" sz="3000" dirty="0"/>
          </a:p>
        </p:txBody>
      </p:sp>
      <p:sp>
        <p:nvSpPr>
          <p:cNvPr id="4" name="Text 2"/>
          <p:cNvSpPr/>
          <p:nvPr/>
        </p:nvSpPr>
        <p:spPr>
          <a:xfrm>
            <a:off x="548640" y="1001817"/>
            <a:ext cx="11064240" cy="1328165"/>
          </a:xfrm>
          <a:prstGeom prst="rect">
            <a:avLst/>
          </a:prstGeom>
          <a:noFill/>
          <a:ln/>
        </p:spPr>
        <p:txBody>
          <a:bodyPr wrap="square" lIns="0" tIns="0" rIns="0" bIns="0" rtlCol="0" anchor="ctr"/>
          <a:lstStyle/>
          <a:p>
            <a:pPr>
              <a:lnSpc>
                <a:spcPct val="150000"/>
              </a:lnSpc>
            </a:pPr>
            <a:r>
              <a:rPr lang="en-US" sz="1400" dirty="0">
                <a:latin typeface="Times New Roman" panose="02020603050405020304" pitchFamily="18" charset="0"/>
                <a:cs typeface="Times New Roman" panose="02020603050405020304" pitchFamily="18" charset="0"/>
              </a:rPr>
              <a:t>Requirement analysis helps us identify the stakeholders of the Parking Management System and understand their needs and expectations. It defines the system's functional and non-functional requirements, ensuring that all project objectives are clearly documented. The information gathered during this phase serves as the foundation for our GitHub-hosted requirement documents, user stories, and UML diagrams. This process helps us create a clear and well-structured project plan before moving to design and testing activities.</a:t>
            </a:r>
          </a:p>
        </p:txBody>
      </p:sp>
      <p:sp>
        <p:nvSpPr>
          <p:cNvPr id="5" name="Shape 3"/>
          <p:cNvSpPr/>
          <p:nvPr/>
        </p:nvSpPr>
        <p:spPr>
          <a:xfrm>
            <a:off x="548639" y="2467014"/>
            <a:ext cx="11282577" cy="4006938"/>
          </a:xfrm>
          <a:prstGeom prst="roundRect">
            <a:avLst>
              <a:gd name="adj" fmla="val 2051"/>
            </a:avLst>
          </a:prstGeom>
          <a:solidFill>
            <a:srgbClr val="CFE8EF"/>
          </a:solidFill>
          <a:ln/>
        </p:spPr>
      </p:sp>
      <p:sp>
        <p:nvSpPr>
          <p:cNvPr id="6" name="Shape 4"/>
          <p:cNvSpPr/>
          <p:nvPr/>
        </p:nvSpPr>
        <p:spPr>
          <a:xfrm>
            <a:off x="612943" y="2467014"/>
            <a:ext cx="502920" cy="502920"/>
          </a:xfrm>
          <a:prstGeom prst="ellipse">
            <a:avLst/>
          </a:prstGeom>
          <a:solidFill>
            <a:srgbClr val="065A82"/>
          </a:solidFill>
          <a:ln/>
        </p:spPr>
      </p:sp>
      <p:sp>
        <p:nvSpPr>
          <p:cNvPr id="7" name="Text 5"/>
          <p:cNvSpPr/>
          <p:nvPr/>
        </p:nvSpPr>
        <p:spPr>
          <a:xfrm>
            <a:off x="612943" y="2465264"/>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S</a:t>
            </a:r>
            <a:endParaRPr lang="en-US" sz="1800" dirty="0"/>
          </a:p>
        </p:txBody>
      </p:sp>
      <p:sp>
        <p:nvSpPr>
          <p:cNvPr id="8" name="Text 6"/>
          <p:cNvSpPr/>
          <p:nvPr/>
        </p:nvSpPr>
        <p:spPr>
          <a:xfrm>
            <a:off x="1180166" y="2484137"/>
            <a:ext cx="2606040" cy="457200"/>
          </a:xfrm>
          <a:prstGeom prst="rect">
            <a:avLst/>
          </a:prstGeom>
          <a:noFill/>
          <a:ln/>
        </p:spPr>
        <p:txBody>
          <a:bodyPr wrap="square" lIns="0" tIns="0" rIns="0" bIns="0" rtlCol="0" anchor="ctr"/>
          <a:lstStyle/>
          <a:p>
            <a:pPr marL="0" indent="0">
              <a:buNone/>
            </a:pPr>
            <a:r>
              <a:rPr lang="en-US" sz="1450" b="1" dirty="0">
                <a:solidFill>
                  <a:srgbClr val="21295C"/>
                </a:solidFill>
                <a:latin typeface="Cambria" pitchFamily="34" charset="0"/>
                <a:ea typeface="Cambria" pitchFamily="34" charset="-122"/>
                <a:cs typeface="Cambria" pitchFamily="34" charset="-120"/>
              </a:rPr>
              <a:t>Stakeholder Analysis</a:t>
            </a:r>
            <a:endParaRPr lang="en-US" sz="1450" dirty="0"/>
          </a:p>
        </p:txBody>
      </p:sp>
      <p:sp>
        <p:nvSpPr>
          <p:cNvPr id="9" name="Text 7"/>
          <p:cNvSpPr/>
          <p:nvPr/>
        </p:nvSpPr>
        <p:spPr>
          <a:xfrm>
            <a:off x="1115863" y="2844554"/>
            <a:ext cx="10615889" cy="3360303"/>
          </a:xfrm>
          <a:prstGeom prst="rect">
            <a:avLst/>
          </a:prstGeom>
          <a:noFill/>
          <a:ln/>
        </p:spPr>
        <p:txBody>
          <a:bodyPr wrap="square" lIns="0" tIns="0" rIns="0" bIns="0" rtlCol="0" anchor="t"/>
          <a:lstStyle/>
          <a:p>
            <a:pPr>
              <a:lnSpc>
                <a:spcPct val="150000"/>
              </a:lnSpc>
            </a:pPr>
            <a:r>
              <a:rPr lang="en-US" sz="1400" i="1" dirty="0">
                <a:latin typeface="Times New Roman" panose="02020603050405020304" pitchFamily="18" charset="0"/>
                <a:cs typeface="Times New Roman" panose="02020603050405020304" pitchFamily="18" charset="0"/>
              </a:rPr>
              <a:t>Identifying and understanding project stakeholders' needs.</a:t>
            </a:r>
            <a:endParaRPr lang="en-US" sz="1400" b="1" dirty="0">
              <a:latin typeface="Times New Roman" panose="02020603050405020304" pitchFamily="18" charset="0"/>
              <a:ea typeface="Calibri" pitchFamily="34" charset="-122"/>
              <a:cs typeface="Times New Roman" panose="02020603050405020304" pitchFamily="18" charset="0"/>
            </a:endParaRPr>
          </a:p>
          <a:p>
            <a:pPr>
              <a:lnSpc>
                <a:spcPct val="150000"/>
              </a:lnSpc>
            </a:pPr>
            <a:r>
              <a:rPr lang="en-US" sz="1600" b="1" dirty="0">
                <a:solidFill>
                  <a:srgbClr val="00B0F0"/>
                </a:solidFill>
                <a:latin typeface="Times New Roman" panose="02020603050405020304" pitchFamily="18" charset="0"/>
                <a:ea typeface="Calibri" pitchFamily="34" charset="-122"/>
                <a:cs typeface="Times New Roman" panose="02020603050405020304" pitchFamily="18" charset="0"/>
              </a:rPr>
              <a:t>Primary:</a:t>
            </a:r>
          </a:p>
          <a:p>
            <a:pPr lvl="0">
              <a:lnSpc>
                <a:spcPct val="150000"/>
              </a:lnSpc>
            </a:pPr>
            <a:r>
              <a:rPr lang="en-US" sz="1400" b="1" dirty="0">
                <a:latin typeface="Times New Roman" panose="02020603050405020304" pitchFamily="18" charset="0"/>
                <a:cs typeface="Times New Roman" panose="02020603050405020304" pitchFamily="18" charset="0"/>
              </a:rPr>
              <a:t>Drivers:</a:t>
            </a:r>
            <a:r>
              <a:rPr lang="en-US" sz="1400" dirty="0">
                <a:latin typeface="Times New Roman" panose="02020603050405020304" pitchFamily="18" charset="0"/>
                <a:cs typeface="Times New Roman" panose="02020603050405020304" pitchFamily="18" charset="0"/>
              </a:rPr>
              <a:t> Use the system to find, reserve, and manage parking spaces. </a:t>
            </a:r>
          </a:p>
          <a:p>
            <a:pPr lvl="0">
              <a:lnSpc>
                <a:spcPct val="150000"/>
              </a:lnSpc>
            </a:pPr>
            <a:r>
              <a:rPr lang="en-US" sz="1400" b="1" dirty="0">
                <a:latin typeface="Times New Roman" panose="02020603050405020304" pitchFamily="18" charset="0"/>
                <a:cs typeface="Times New Roman" panose="02020603050405020304" pitchFamily="18" charset="0"/>
              </a:rPr>
              <a:t>Parking Staff:</a:t>
            </a:r>
            <a:r>
              <a:rPr lang="en-US" sz="1400" dirty="0">
                <a:latin typeface="Times New Roman" panose="02020603050405020304" pitchFamily="18" charset="0"/>
                <a:cs typeface="Times New Roman" panose="02020603050405020304" pitchFamily="18" charset="0"/>
              </a:rPr>
              <a:t> Monitor vehicle entry/exit and manage parking operations. </a:t>
            </a:r>
          </a:p>
          <a:p>
            <a:pPr lvl="0">
              <a:lnSpc>
                <a:spcPct val="150000"/>
              </a:lnSpc>
            </a:pPr>
            <a:r>
              <a:rPr lang="en-US" sz="1400" b="1" dirty="0">
                <a:latin typeface="Times New Roman" panose="02020603050405020304" pitchFamily="18" charset="0"/>
                <a:cs typeface="Times New Roman" panose="02020603050405020304" pitchFamily="18" charset="0"/>
              </a:rPr>
              <a:t>Administrator:</a:t>
            </a:r>
            <a:r>
              <a:rPr lang="en-US" sz="1400" dirty="0">
                <a:latin typeface="Times New Roman" panose="02020603050405020304" pitchFamily="18" charset="0"/>
                <a:cs typeface="Times New Roman" panose="02020603050405020304" pitchFamily="18" charset="0"/>
              </a:rPr>
              <a:t> Manages users, parking slots, reports, and system settings.</a:t>
            </a:r>
            <a:r>
              <a:rPr lang="en-US" sz="1400" dirty="0">
                <a:latin typeface="Times New Roman" panose="02020603050405020304" pitchFamily="18" charset="0"/>
                <a:ea typeface="Calibri" pitchFamily="34" charset="-122"/>
                <a:cs typeface="Times New Roman" panose="02020603050405020304" pitchFamily="18" charset="0"/>
              </a:rPr>
              <a:t>
</a:t>
            </a:r>
            <a:r>
              <a:rPr lang="en-US" sz="1600" b="1" dirty="0">
                <a:solidFill>
                  <a:srgbClr val="00B0F0"/>
                </a:solidFill>
                <a:latin typeface="Times New Roman" panose="02020603050405020304" pitchFamily="18" charset="0"/>
                <a:ea typeface="Calibri" pitchFamily="34" charset="-122"/>
                <a:cs typeface="Times New Roman" panose="02020603050405020304" pitchFamily="18" charset="0"/>
              </a:rPr>
              <a:t>Secondary:</a:t>
            </a:r>
          </a:p>
          <a:p>
            <a:pPr lvl="0">
              <a:lnSpc>
                <a:spcPct val="150000"/>
              </a:lnSpc>
            </a:pPr>
            <a:r>
              <a:rPr lang="en-US" sz="1400" b="1" dirty="0">
                <a:latin typeface="Times New Roman" panose="02020603050405020304" pitchFamily="18" charset="0"/>
                <a:cs typeface="Times New Roman" panose="02020603050405020304" pitchFamily="18" charset="0"/>
              </a:rPr>
              <a:t>Facility Owner:</a:t>
            </a:r>
            <a:r>
              <a:rPr lang="en-US" sz="1400" dirty="0">
                <a:latin typeface="Times New Roman" panose="02020603050405020304" pitchFamily="18" charset="0"/>
                <a:cs typeface="Times New Roman" panose="02020603050405020304" pitchFamily="18" charset="0"/>
              </a:rPr>
              <a:t> Reviews system performance and operational reports. </a:t>
            </a:r>
          </a:p>
          <a:p>
            <a:pPr lvl="0">
              <a:lnSpc>
                <a:spcPct val="150000"/>
              </a:lnSpc>
            </a:pPr>
            <a:r>
              <a:rPr lang="en-US" sz="1400" b="1" dirty="0">
                <a:latin typeface="Times New Roman" panose="02020603050405020304" pitchFamily="18" charset="0"/>
                <a:cs typeface="Times New Roman" panose="02020603050405020304" pitchFamily="18" charset="0"/>
              </a:rPr>
              <a:t>Auditors:</a:t>
            </a:r>
            <a:r>
              <a:rPr lang="en-US" sz="1400" dirty="0">
                <a:latin typeface="Times New Roman" panose="02020603050405020304" pitchFamily="18" charset="0"/>
                <a:cs typeface="Times New Roman" panose="02020603050405020304" pitchFamily="18" charset="0"/>
              </a:rPr>
              <a:t> Examine records and reports for compliance and verification purposes.</a:t>
            </a:r>
          </a:p>
          <a:p>
            <a:pPr>
              <a:lnSpc>
                <a:spcPct val="150000"/>
              </a:lnSpc>
            </a:pPr>
            <a:r>
              <a:rPr lang="en-US" sz="1400" b="1" dirty="0">
                <a:latin typeface="Times New Roman" panose="02020603050405020304" pitchFamily="18" charset="0"/>
                <a:ea typeface="Calibri" pitchFamily="34" charset="-122"/>
                <a:cs typeface="Times New Roman" panose="02020603050405020304" pitchFamily="18" charset="0"/>
              </a:rPr>
              <a:t>Technique: </a:t>
            </a:r>
            <a:r>
              <a:rPr lang="en-US" sz="1400" dirty="0">
                <a:latin typeface="Times New Roman" panose="02020603050405020304" pitchFamily="18" charset="0"/>
                <a:ea typeface="Calibri" pitchFamily="34" charset="-122"/>
                <a:cs typeface="Times New Roman" panose="02020603050405020304" pitchFamily="18" charset="0"/>
              </a:rPr>
              <a:t>U</a:t>
            </a:r>
            <a:r>
              <a:rPr lang="en-US" sz="1400" dirty="0">
                <a:latin typeface="Times New Roman" panose="02020603050405020304" pitchFamily="18" charset="0"/>
                <a:cs typeface="Times New Roman" panose="02020603050405020304" pitchFamily="18" charset="0"/>
              </a:rPr>
              <a:t>se a Power–Interest Grid to identify stakeholders and prioritize their involvement based on their level of influence and interest in the project. This helps us manage communication and engagement effectively throughout the project lifecycle. </a:t>
            </a:r>
          </a:p>
          <a:p>
            <a:pPr marL="0" indent="0">
              <a:lnSpc>
                <a:spcPct val="150000"/>
              </a:lnSpc>
              <a:buNone/>
            </a:pPr>
            <a:endParaRPr lang="en-US" sz="1400" dirty="0"/>
          </a:p>
        </p:txBody>
      </p:sp>
      <p:sp>
        <p:nvSpPr>
          <p:cNvPr id="22" name="Text 20"/>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3</a:t>
            </a:r>
            <a:endParaRPr lang="en-US" sz="1000" dirty="0"/>
          </a:p>
        </p:txBody>
      </p:sp>
      <p:sp>
        <p:nvSpPr>
          <p:cNvPr id="24" name="TextBox 23">
            <a:extLst>
              <a:ext uri="{FF2B5EF4-FFF2-40B4-BE49-F238E27FC236}">
                <a16:creationId xmlns:a16="http://schemas.microsoft.com/office/drawing/2014/main" id="{2496E1E2-FDA7-C4DA-817A-DD11D5EF1C1E}"/>
              </a:ext>
            </a:extLst>
          </p:cNvPr>
          <p:cNvSpPr txBox="1"/>
          <p:nvPr/>
        </p:nvSpPr>
        <p:spPr>
          <a:xfrm>
            <a:off x="514893" y="6556098"/>
            <a:ext cx="6097554" cy="276999"/>
          </a:xfrm>
          <a:prstGeom prst="rect">
            <a:avLst/>
          </a:prstGeom>
          <a:noFill/>
        </p:spPr>
        <p:txBody>
          <a:bodyPr wrap="square">
            <a:spAutoFit/>
          </a:bodyPr>
          <a:lstStyle/>
          <a:p>
            <a:pPr marL="0" indent="0" algn="l">
              <a:buNone/>
            </a:pPr>
            <a:r>
              <a:rPr lang="en-US" sz="1200" dirty="0">
                <a:latin typeface="Times New Roman" panose="02020603050405020304" pitchFamily="18" charset="0"/>
                <a:ea typeface="Calibri" pitchFamily="34" charset="-122"/>
                <a:cs typeface="Times New Roman" panose="02020603050405020304" pitchFamily="18" charset="0"/>
              </a:rPr>
              <a:t>Parking Management System: Agile Project Simulation</a:t>
            </a:r>
            <a:endParaRPr lang="en-US"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8">
            <a:extLst>
              <a:ext uri="{FF2B5EF4-FFF2-40B4-BE49-F238E27FC236}">
                <a16:creationId xmlns:a16="http://schemas.microsoft.com/office/drawing/2014/main" id="{B2159CD6-DFD7-9479-2BA0-E7B6E265FB5D}"/>
              </a:ext>
            </a:extLst>
          </p:cNvPr>
          <p:cNvSpPr/>
          <p:nvPr/>
        </p:nvSpPr>
        <p:spPr>
          <a:xfrm>
            <a:off x="11355354" y="6561543"/>
            <a:ext cx="457200" cy="274320"/>
          </a:xfrm>
          <a:prstGeom prst="rect">
            <a:avLst/>
          </a:prstGeom>
          <a:noFill/>
          <a:ln/>
        </p:spPr>
        <p:txBody>
          <a:bodyPr wrap="square"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4</a:t>
            </a:r>
            <a:endParaRPr lang="en-US" sz="1000" dirty="0"/>
          </a:p>
        </p:txBody>
      </p:sp>
      <p:sp>
        <p:nvSpPr>
          <p:cNvPr id="5" name="TextBox 4">
            <a:extLst>
              <a:ext uri="{FF2B5EF4-FFF2-40B4-BE49-F238E27FC236}">
                <a16:creationId xmlns:a16="http://schemas.microsoft.com/office/drawing/2014/main" id="{1E062CE9-3DB2-29E8-0C74-0BF14CEC9698}"/>
              </a:ext>
            </a:extLst>
          </p:cNvPr>
          <p:cNvSpPr txBox="1"/>
          <p:nvPr/>
        </p:nvSpPr>
        <p:spPr>
          <a:xfrm>
            <a:off x="230933" y="119552"/>
            <a:ext cx="6097554" cy="584775"/>
          </a:xfrm>
          <a:prstGeom prst="rect">
            <a:avLst/>
          </a:prstGeom>
          <a:noFill/>
        </p:spPr>
        <p:txBody>
          <a:bodyPr wrap="square">
            <a:spAutoFit/>
          </a:bodyPr>
          <a:lstStyle/>
          <a:p>
            <a:r>
              <a:rPr lang="en-US" sz="3000" b="1" dirty="0">
                <a:solidFill>
                  <a:srgbClr val="21295C"/>
                </a:solidFill>
                <a:latin typeface="Cambria" pitchFamily="34" charset="0"/>
                <a:ea typeface="Cambria" pitchFamily="34" charset="-122"/>
                <a:cs typeface="Cambria" pitchFamily="34" charset="-120"/>
              </a:rPr>
              <a:t>3.1 </a:t>
            </a:r>
            <a:r>
              <a:rPr lang="en-US" sz="3200" b="1" dirty="0">
                <a:solidFill>
                  <a:srgbClr val="21295C"/>
                </a:solidFill>
                <a:latin typeface="Cambria" pitchFamily="34" charset="0"/>
                <a:ea typeface="Cambria" pitchFamily="34" charset="-122"/>
                <a:cs typeface="Cambria" pitchFamily="34" charset="-120"/>
              </a:rPr>
              <a:t>Functional Requirements</a:t>
            </a:r>
            <a:endParaRPr lang="en-US" sz="3200" dirty="0"/>
          </a:p>
        </p:txBody>
      </p:sp>
      <p:sp>
        <p:nvSpPr>
          <p:cNvPr id="7" name="Shape 3">
            <a:extLst>
              <a:ext uri="{FF2B5EF4-FFF2-40B4-BE49-F238E27FC236}">
                <a16:creationId xmlns:a16="http://schemas.microsoft.com/office/drawing/2014/main" id="{A698C047-41FF-C973-56D5-6558F5C22F00}"/>
              </a:ext>
            </a:extLst>
          </p:cNvPr>
          <p:cNvSpPr/>
          <p:nvPr/>
        </p:nvSpPr>
        <p:spPr>
          <a:xfrm>
            <a:off x="354563" y="704327"/>
            <a:ext cx="11457991" cy="5857216"/>
          </a:xfrm>
          <a:prstGeom prst="roundRect">
            <a:avLst>
              <a:gd name="adj" fmla="val 2051"/>
            </a:avLst>
          </a:prstGeom>
          <a:solidFill>
            <a:srgbClr val="CFE8EF"/>
          </a:solidFill>
          <a:ln/>
        </p:spPr>
        <p:txBody>
          <a:bodyPr/>
          <a:lstStyle/>
          <a:p>
            <a:pPr>
              <a:lnSpc>
                <a:spcPct val="125000"/>
              </a:lnSpc>
            </a:pPr>
            <a:r>
              <a:rPr lang="en-US" sz="1600" i="1" dirty="0">
                <a:latin typeface="Times New Roman" panose="02020603050405020304" pitchFamily="18" charset="0"/>
                <a:ea typeface="Calibri" pitchFamily="34" charset="-122"/>
                <a:cs typeface="Times New Roman" panose="02020603050405020304" pitchFamily="18" charset="0"/>
              </a:rPr>
              <a:t>Define what the system does:</a:t>
            </a:r>
            <a:endParaRPr lang="en-US" sz="2000" i="1" dirty="0">
              <a:solidFill>
                <a:srgbClr val="5B6B79"/>
              </a:solidFill>
              <a:latin typeface="Times New Roman" panose="02020603050405020304" pitchFamily="18" charset="0"/>
              <a:ea typeface="Calibri" pitchFamily="34" charset="-122"/>
              <a:cs typeface="Times New Roman" panose="02020603050405020304" pitchFamily="18" charset="0"/>
            </a:endParaRPr>
          </a:p>
          <a:p>
            <a:pPr lvl="0">
              <a:lnSpc>
                <a:spcPct val="150000"/>
              </a:lnSpc>
            </a:pPr>
            <a:r>
              <a:rPr lang="en-US" sz="1500" b="1" dirty="0">
                <a:latin typeface="Times New Roman" panose="02020603050405020304" pitchFamily="18" charset="0"/>
                <a:cs typeface="Times New Roman" panose="02020603050405020304" pitchFamily="18" charset="0"/>
              </a:rPr>
              <a:t>Register Vehicle Entry and Exit:</a:t>
            </a:r>
            <a:r>
              <a:rPr lang="en-US" sz="1500" dirty="0">
                <a:latin typeface="Times New Roman" panose="02020603050405020304" pitchFamily="18" charset="0"/>
                <a:cs typeface="Times New Roman" panose="02020603050405020304" pitchFamily="18" charset="0"/>
              </a:rPr>
              <a:t> Record vehicle arrival and departure details. </a:t>
            </a:r>
          </a:p>
          <a:p>
            <a:pPr lvl="0">
              <a:lnSpc>
                <a:spcPct val="150000"/>
              </a:lnSpc>
            </a:pPr>
            <a:r>
              <a:rPr lang="en-US" sz="1500" b="1" dirty="0">
                <a:latin typeface="Times New Roman" panose="02020603050405020304" pitchFamily="18" charset="0"/>
                <a:cs typeface="Times New Roman" panose="02020603050405020304" pitchFamily="18" charset="0"/>
              </a:rPr>
              <a:t>Allocate Available Parking Slots:</a:t>
            </a:r>
            <a:r>
              <a:rPr lang="en-US" sz="1500" dirty="0">
                <a:latin typeface="Times New Roman" panose="02020603050405020304" pitchFamily="18" charset="0"/>
                <a:cs typeface="Times New Roman" panose="02020603050405020304" pitchFamily="18" charset="0"/>
              </a:rPr>
              <a:t> Assign available parking spaces to vehicles efficiently. </a:t>
            </a:r>
          </a:p>
          <a:p>
            <a:pPr lvl="0">
              <a:lnSpc>
                <a:spcPct val="150000"/>
              </a:lnSpc>
            </a:pPr>
            <a:r>
              <a:rPr lang="en-US" sz="1500" b="1" dirty="0">
                <a:latin typeface="Times New Roman" panose="02020603050405020304" pitchFamily="18" charset="0"/>
                <a:cs typeface="Times New Roman" panose="02020603050405020304" pitchFamily="18" charset="0"/>
              </a:rPr>
              <a:t>Calculate Parking Fees:</a:t>
            </a:r>
            <a:r>
              <a:rPr lang="en-US" sz="1500" dirty="0">
                <a:latin typeface="Times New Roman" panose="02020603050405020304" pitchFamily="18" charset="0"/>
                <a:cs typeface="Times New Roman" panose="02020603050405020304" pitchFamily="18" charset="0"/>
              </a:rPr>
              <a:t> Automatically determine parking charges based on the duration of parking. </a:t>
            </a:r>
          </a:p>
          <a:p>
            <a:pPr lvl="0">
              <a:lnSpc>
                <a:spcPct val="150000"/>
              </a:lnSpc>
            </a:pPr>
            <a:r>
              <a:rPr lang="en-US" sz="1500" b="1" dirty="0">
                <a:latin typeface="Times New Roman" panose="02020603050405020304" pitchFamily="18" charset="0"/>
                <a:cs typeface="Times New Roman" panose="02020603050405020304" pitchFamily="18" charset="0"/>
              </a:rPr>
              <a:t>Generate Occupancy Reports:</a:t>
            </a:r>
            <a:r>
              <a:rPr lang="en-US" sz="1500" dirty="0">
                <a:latin typeface="Times New Roman" panose="02020603050405020304" pitchFamily="18" charset="0"/>
                <a:cs typeface="Times New Roman" panose="02020603050405020304" pitchFamily="18" charset="0"/>
              </a:rPr>
              <a:t> Produce reports showing parking space usage, availability, and occupancy statistics.</a:t>
            </a:r>
          </a:p>
        </p:txBody>
      </p:sp>
      <p:graphicFrame>
        <p:nvGraphicFramePr>
          <p:cNvPr id="11" name="Table 10">
            <a:extLst>
              <a:ext uri="{FF2B5EF4-FFF2-40B4-BE49-F238E27FC236}">
                <a16:creationId xmlns:a16="http://schemas.microsoft.com/office/drawing/2014/main" id="{91F15166-249E-A3D6-21E1-2D2C15E30161}"/>
              </a:ext>
            </a:extLst>
          </p:cNvPr>
          <p:cNvGraphicFramePr>
            <a:graphicFrameLocks noGrp="1"/>
          </p:cNvGraphicFramePr>
          <p:nvPr>
            <p:extLst>
              <p:ext uri="{D42A27DB-BD31-4B8C-83A1-F6EECF244321}">
                <p14:modId xmlns:p14="http://schemas.microsoft.com/office/powerpoint/2010/main" val="1969381228"/>
              </p:ext>
            </p:extLst>
          </p:nvPr>
        </p:nvGraphicFramePr>
        <p:xfrm>
          <a:off x="379446" y="2577762"/>
          <a:ext cx="11433107" cy="3733532"/>
        </p:xfrm>
        <a:graphic>
          <a:graphicData uri="http://schemas.openxmlformats.org/drawingml/2006/table">
            <a:tbl>
              <a:tblPr/>
              <a:tblGrid>
                <a:gridCol w="759795">
                  <a:extLst>
                    <a:ext uri="{9D8B030D-6E8A-4147-A177-3AD203B41FA5}">
                      <a16:colId xmlns:a16="http://schemas.microsoft.com/office/drawing/2014/main" val="3528160481"/>
                    </a:ext>
                  </a:extLst>
                </a:gridCol>
                <a:gridCol w="2654348">
                  <a:extLst>
                    <a:ext uri="{9D8B030D-6E8A-4147-A177-3AD203B41FA5}">
                      <a16:colId xmlns:a16="http://schemas.microsoft.com/office/drawing/2014/main" val="2531508875"/>
                    </a:ext>
                  </a:extLst>
                </a:gridCol>
                <a:gridCol w="8018964">
                  <a:extLst>
                    <a:ext uri="{9D8B030D-6E8A-4147-A177-3AD203B41FA5}">
                      <a16:colId xmlns:a16="http://schemas.microsoft.com/office/drawing/2014/main" val="2213341793"/>
                    </a:ext>
                  </a:extLst>
                </a:gridCol>
              </a:tblGrid>
              <a:tr h="288126">
                <a:tc>
                  <a:txBody>
                    <a:bodyPr/>
                    <a:lstStyle/>
                    <a:p>
                      <a:pPr algn="l">
                        <a:buNone/>
                      </a:pPr>
                      <a:r>
                        <a:rPr lang="en-US" sz="1600" b="1" i="0">
                          <a:solidFill>
                            <a:srgbClr val="FFFFFF"/>
                          </a:solidFill>
                          <a:effectLst/>
                          <a:latin typeface="Times New Roman" panose="02020603050405020304" pitchFamily="18" charset="0"/>
                          <a:cs typeface="Times New Roman" panose="02020603050405020304" pitchFamily="18" charset="0"/>
                        </a:rPr>
                        <a:t>ID</a:t>
                      </a:r>
                    </a:p>
                  </a:txBody>
                  <a:tcPr marL="42791" marR="42791" marT="26745" marB="26745" anchor="ctr">
                    <a:lnL>
                      <a:noFill/>
                    </a:lnL>
                    <a:lnR>
                      <a:noFill/>
                    </a:lnR>
                    <a:lnT>
                      <a:noFill/>
                    </a:lnT>
                    <a:lnB>
                      <a:noFill/>
                    </a:lnB>
                    <a:lnTlToBr w="12700" cmpd="sng">
                      <a:noFill/>
                      <a:prstDash val="solid"/>
                    </a:lnTlToBr>
                    <a:lnBlToTr w="12700" cmpd="sng">
                      <a:noFill/>
                      <a:prstDash val="solid"/>
                    </a:lnBlToTr>
                    <a:solidFill>
                      <a:srgbClr val="00B050"/>
                    </a:solidFill>
                  </a:tcPr>
                </a:tc>
                <a:tc>
                  <a:txBody>
                    <a:bodyPr/>
                    <a:lstStyle/>
                    <a:p>
                      <a:pPr algn="l">
                        <a:buNone/>
                      </a:pPr>
                      <a:r>
                        <a:rPr lang="en-US" sz="1600" b="1" i="0">
                          <a:solidFill>
                            <a:srgbClr val="FFFFFF"/>
                          </a:solidFill>
                          <a:effectLst/>
                          <a:latin typeface="Times New Roman" panose="02020603050405020304" pitchFamily="18" charset="0"/>
                          <a:cs typeface="Times New Roman" panose="02020603050405020304" pitchFamily="18" charset="0"/>
                        </a:rPr>
                        <a:t>Functional requirement</a:t>
                      </a:r>
                    </a:p>
                  </a:txBody>
                  <a:tcPr marL="42791" marR="42791" marT="26745" marB="26745" anchor="ctr">
                    <a:lnL>
                      <a:noFill/>
                    </a:lnL>
                    <a:lnR>
                      <a:noFill/>
                    </a:lnR>
                    <a:lnT>
                      <a:noFill/>
                    </a:lnT>
                    <a:lnB>
                      <a:noFill/>
                    </a:lnB>
                    <a:lnTlToBr w="12700" cmpd="sng">
                      <a:noFill/>
                      <a:prstDash val="solid"/>
                    </a:lnTlToBr>
                    <a:lnBlToTr w="12700" cmpd="sng">
                      <a:noFill/>
                      <a:prstDash val="solid"/>
                    </a:lnBlToTr>
                    <a:solidFill>
                      <a:srgbClr val="00B050"/>
                    </a:solidFill>
                  </a:tcPr>
                </a:tc>
                <a:tc>
                  <a:txBody>
                    <a:bodyPr/>
                    <a:lstStyle/>
                    <a:p>
                      <a:pPr algn="l">
                        <a:buNone/>
                      </a:pPr>
                      <a:r>
                        <a:rPr lang="en-US" sz="1600" b="1" i="0" dirty="0">
                          <a:solidFill>
                            <a:srgbClr val="FFFFFF"/>
                          </a:solidFill>
                          <a:effectLst/>
                          <a:latin typeface="Times New Roman" panose="02020603050405020304" pitchFamily="18" charset="0"/>
                          <a:cs typeface="Times New Roman" panose="02020603050405020304" pitchFamily="18" charset="0"/>
                        </a:rPr>
                        <a:t>Description</a:t>
                      </a:r>
                    </a:p>
                  </a:txBody>
                  <a:tcPr marL="42791" marR="42791" marT="26745" marB="26745" anchor="ctr">
                    <a:lnL>
                      <a:noFill/>
                    </a:lnL>
                    <a:lnR>
                      <a:noFill/>
                    </a:lnR>
                    <a:lnT>
                      <a:noFill/>
                    </a:lnT>
                    <a:lnB>
                      <a:noFill/>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3599493304"/>
                  </a:ext>
                </a:extLst>
              </a:tr>
              <a:tr h="312992">
                <a:tc>
                  <a:txBody>
                    <a:bodyPr/>
                    <a:lstStyle/>
                    <a:p>
                      <a:pPr algn="l" fontAlgn="t">
                        <a:buNone/>
                      </a:pPr>
                      <a:r>
                        <a:rPr lang="en-US" sz="1400" b="0" i="0">
                          <a:solidFill>
                            <a:srgbClr val="222222"/>
                          </a:solidFill>
                          <a:effectLst/>
                          <a:latin typeface="Times New Roman" panose="02020603050405020304" pitchFamily="18" charset="0"/>
                          <a:cs typeface="Times New Roman" panose="02020603050405020304" pitchFamily="18" charset="0"/>
                        </a:rPr>
                        <a:t>FR-01</a:t>
                      </a:r>
                    </a:p>
                  </a:txBody>
                  <a:tcPr marL="42791" marR="42791" marT="26745" marB="26745">
                    <a:lnL>
                      <a:noFill/>
                    </a:lnL>
                    <a:lnR>
                      <a:noFill/>
                    </a:lnR>
                    <a:lnT>
                      <a:noFill/>
                    </a:lnT>
                    <a:lnB w="762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buNone/>
                      </a:pPr>
                      <a:r>
                        <a:rPr lang="en-US" sz="1400" b="0" i="0" dirty="0">
                          <a:solidFill>
                            <a:srgbClr val="222222"/>
                          </a:solidFill>
                          <a:effectLst/>
                          <a:latin typeface="Times New Roman" panose="02020603050405020304" pitchFamily="18" charset="0"/>
                          <a:cs typeface="Times New Roman" panose="02020603050405020304" pitchFamily="18" charset="0"/>
                        </a:rPr>
                        <a:t>User Registration</a:t>
                      </a:r>
                    </a:p>
                  </a:txBody>
                  <a:tcPr marL="42791" marR="42791" marT="26745" marB="26745">
                    <a:lnL>
                      <a:noFill/>
                    </a:lnL>
                    <a:lnR>
                      <a:noFill/>
                    </a:lnR>
                    <a:lnT>
                      <a:noFill/>
                    </a:lnT>
                    <a:lnB w="762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buNone/>
                      </a:pPr>
                      <a:r>
                        <a:rPr lang="en-US" sz="1400" b="0" i="0" dirty="0">
                          <a:solidFill>
                            <a:srgbClr val="222222"/>
                          </a:solidFill>
                          <a:effectLst/>
                          <a:latin typeface="Times New Roman" panose="02020603050405020304" pitchFamily="18" charset="0"/>
                          <a:cs typeface="Times New Roman" panose="02020603050405020304" pitchFamily="18" charset="0"/>
                        </a:rPr>
                        <a:t>The system shall allow users and parking staff to register their accounts.</a:t>
                      </a:r>
                    </a:p>
                  </a:txBody>
                  <a:tcPr marL="42791" marR="42791" marT="26745" marB="26745">
                    <a:lnL>
                      <a:noFill/>
                    </a:lnL>
                    <a:lnR>
                      <a:noFill/>
                    </a:lnR>
                    <a:lnT>
                      <a:noFill/>
                    </a:lnT>
                    <a:lnB w="762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26203838"/>
                  </a:ext>
                </a:extLst>
              </a:tr>
              <a:tr h="312992">
                <a:tc>
                  <a:txBody>
                    <a:bodyPr/>
                    <a:lstStyle/>
                    <a:p>
                      <a:pPr algn="l" fontAlgn="t">
                        <a:buNone/>
                      </a:pPr>
                      <a:r>
                        <a:rPr lang="en-US" sz="1400" b="0" i="0">
                          <a:solidFill>
                            <a:srgbClr val="222222"/>
                          </a:solidFill>
                          <a:effectLst/>
                          <a:latin typeface="Times New Roman" panose="02020603050405020304" pitchFamily="18" charset="0"/>
                          <a:cs typeface="Times New Roman" panose="02020603050405020304" pitchFamily="18" charset="0"/>
                        </a:rPr>
                        <a:t>FR-02</a:t>
                      </a:r>
                    </a:p>
                  </a:txBody>
                  <a:tcPr marL="42791" marR="42791" marT="26745" marB="26745">
                    <a:lnL>
                      <a:noFill/>
                    </a:lnL>
                    <a:lnR>
                      <a:noFill/>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l" fontAlgn="t">
                        <a:buNone/>
                      </a:pPr>
                      <a:r>
                        <a:rPr lang="en-US" sz="1400" b="0" i="0">
                          <a:solidFill>
                            <a:srgbClr val="222222"/>
                          </a:solidFill>
                          <a:effectLst/>
                          <a:latin typeface="Times New Roman" panose="02020603050405020304" pitchFamily="18" charset="0"/>
                          <a:cs typeface="Times New Roman" panose="02020603050405020304" pitchFamily="18" charset="0"/>
                        </a:rPr>
                        <a:t>User Login</a:t>
                      </a:r>
                    </a:p>
                  </a:txBody>
                  <a:tcPr marL="42791" marR="42791" marT="26745" marB="26745">
                    <a:lnL>
                      <a:noFill/>
                    </a:lnL>
                    <a:lnR>
                      <a:noFill/>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l" fontAlgn="t">
                        <a:buNone/>
                      </a:pPr>
                      <a:r>
                        <a:rPr lang="en-US" sz="1400" b="0" i="0" dirty="0">
                          <a:solidFill>
                            <a:srgbClr val="222222"/>
                          </a:solidFill>
                          <a:effectLst/>
                          <a:latin typeface="Times New Roman" panose="02020603050405020304" pitchFamily="18" charset="0"/>
                          <a:cs typeface="Times New Roman" panose="02020603050405020304" pitchFamily="18" charset="0"/>
                        </a:rPr>
                        <a:t>The system shall allow authorized users to log in using valid credentials.</a:t>
                      </a:r>
                    </a:p>
                  </a:txBody>
                  <a:tcPr marL="42791" marR="42791" marT="26745" marB="26745">
                    <a:lnL>
                      <a:noFill/>
                    </a:lnL>
                    <a:lnR>
                      <a:noFill/>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695560668"/>
                  </a:ext>
                </a:extLst>
              </a:tr>
              <a:tr h="465345">
                <a:tc>
                  <a:txBody>
                    <a:bodyPr/>
                    <a:lstStyle/>
                    <a:p>
                      <a:pPr algn="l" fontAlgn="t">
                        <a:buNone/>
                      </a:pPr>
                      <a:r>
                        <a:rPr lang="en-US" sz="1400" b="0" i="0">
                          <a:solidFill>
                            <a:srgbClr val="222222"/>
                          </a:solidFill>
                          <a:effectLst/>
                          <a:latin typeface="Times New Roman" panose="02020603050405020304" pitchFamily="18" charset="0"/>
                          <a:cs typeface="Times New Roman" panose="02020603050405020304" pitchFamily="18" charset="0"/>
                        </a:rPr>
                        <a:t>FR-03</a:t>
                      </a:r>
                    </a:p>
                  </a:txBody>
                  <a:tcPr marL="42791" marR="42791" marT="26745" marB="26745">
                    <a:lnL>
                      <a:noFill/>
                    </a:lnL>
                    <a:lnR>
                      <a:noFill/>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buNone/>
                      </a:pPr>
                      <a:r>
                        <a:rPr lang="en-US" sz="1400" b="0" i="0" dirty="0">
                          <a:solidFill>
                            <a:srgbClr val="222222"/>
                          </a:solidFill>
                          <a:effectLst/>
                          <a:latin typeface="Times New Roman" panose="02020603050405020304" pitchFamily="18" charset="0"/>
                          <a:cs typeface="Times New Roman" panose="02020603050405020304" pitchFamily="18" charset="0"/>
                        </a:rPr>
                        <a:t>Vehicle Registration</a:t>
                      </a:r>
                    </a:p>
                  </a:txBody>
                  <a:tcPr marL="42791" marR="42791" marT="26745" marB="26745">
                    <a:lnL>
                      <a:noFill/>
                    </a:lnL>
                    <a:lnR>
                      <a:noFill/>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buNone/>
                      </a:pPr>
                      <a:r>
                        <a:rPr lang="en-US" sz="1400" b="0" i="0" dirty="0">
                          <a:solidFill>
                            <a:srgbClr val="222222"/>
                          </a:solidFill>
                          <a:effectLst/>
                          <a:latin typeface="Times New Roman" panose="02020603050405020304" pitchFamily="18" charset="0"/>
                          <a:cs typeface="Times New Roman" panose="02020603050405020304" pitchFamily="18" charset="0"/>
                        </a:rPr>
                        <a:t>The system shall allow parking staff to register vehicle details such as vehicle number, type, and owner information.</a:t>
                      </a:r>
                    </a:p>
                  </a:txBody>
                  <a:tcPr marL="42791" marR="42791" marT="26745" marB="26745">
                    <a:lnL>
                      <a:noFill/>
                    </a:lnL>
                    <a:lnR>
                      <a:noFill/>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73688909"/>
                  </a:ext>
                </a:extLst>
              </a:tr>
              <a:tr h="312992">
                <a:tc>
                  <a:txBody>
                    <a:bodyPr/>
                    <a:lstStyle/>
                    <a:p>
                      <a:pPr algn="l" fontAlgn="t">
                        <a:buNone/>
                      </a:pPr>
                      <a:r>
                        <a:rPr lang="en-US" sz="1400" b="0" i="0">
                          <a:solidFill>
                            <a:srgbClr val="222222"/>
                          </a:solidFill>
                          <a:effectLst/>
                          <a:latin typeface="Times New Roman" panose="02020603050405020304" pitchFamily="18" charset="0"/>
                          <a:cs typeface="Times New Roman" panose="02020603050405020304" pitchFamily="18" charset="0"/>
                        </a:rPr>
                        <a:t>FR-04</a:t>
                      </a:r>
                    </a:p>
                  </a:txBody>
                  <a:tcPr marL="42791" marR="42791" marT="26745" marB="26745">
                    <a:lnL>
                      <a:noFill/>
                    </a:lnL>
                    <a:lnR>
                      <a:noFill/>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l" fontAlgn="t">
                        <a:buNone/>
                      </a:pPr>
                      <a:r>
                        <a:rPr lang="en-US" sz="1400" b="0" i="0" dirty="0">
                          <a:solidFill>
                            <a:srgbClr val="222222"/>
                          </a:solidFill>
                          <a:effectLst/>
                          <a:latin typeface="Times New Roman" panose="02020603050405020304" pitchFamily="18" charset="0"/>
                          <a:cs typeface="Times New Roman" panose="02020603050405020304" pitchFamily="18" charset="0"/>
                        </a:rPr>
                        <a:t>Parking Slot Management</a:t>
                      </a:r>
                    </a:p>
                  </a:txBody>
                  <a:tcPr marL="42791" marR="42791" marT="26745" marB="26745">
                    <a:lnL>
                      <a:noFill/>
                    </a:lnL>
                    <a:lnR>
                      <a:noFill/>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l" fontAlgn="t">
                        <a:buNone/>
                      </a:pPr>
                      <a:r>
                        <a:rPr lang="en-US" sz="1400" b="0" i="0" dirty="0">
                          <a:solidFill>
                            <a:srgbClr val="222222"/>
                          </a:solidFill>
                          <a:effectLst/>
                          <a:latin typeface="Times New Roman" panose="02020603050405020304" pitchFamily="18" charset="0"/>
                          <a:cs typeface="Times New Roman" panose="02020603050405020304" pitchFamily="18" charset="0"/>
                        </a:rPr>
                        <a:t>The system shall allow administrators to add, update, and manage parking slots.</a:t>
                      </a:r>
                    </a:p>
                  </a:txBody>
                  <a:tcPr marL="42791" marR="42791" marT="26745" marB="26745">
                    <a:lnL>
                      <a:noFill/>
                    </a:lnL>
                    <a:lnR>
                      <a:noFill/>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4010132432"/>
                  </a:ext>
                </a:extLst>
              </a:tr>
              <a:tr h="312992">
                <a:tc>
                  <a:txBody>
                    <a:bodyPr/>
                    <a:lstStyle/>
                    <a:p>
                      <a:pPr algn="l" fontAlgn="t">
                        <a:buNone/>
                      </a:pPr>
                      <a:r>
                        <a:rPr lang="en-US" sz="1400" b="0" i="0">
                          <a:solidFill>
                            <a:srgbClr val="222222"/>
                          </a:solidFill>
                          <a:effectLst/>
                          <a:latin typeface="Times New Roman" panose="02020603050405020304" pitchFamily="18" charset="0"/>
                          <a:cs typeface="Times New Roman" panose="02020603050405020304" pitchFamily="18" charset="0"/>
                        </a:rPr>
                        <a:t>FR-05</a:t>
                      </a:r>
                    </a:p>
                  </a:txBody>
                  <a:tcPr marL="42791" marR="42791" marT="26745" marB="26745">
                    <a:lnL>
                      <a:noFill/>
                    </a:lnL>
                    <a:lnR>
                      <a:noFill/>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buNone/>
                      </a:pPr>
                      <a:r>
                        <a:rPr lang="en-US" sz="1400" b="0" i="0">
                          <a:solidFill>
                            <a:srgbClr val="222222"/>
                          </a:solidFill>
                          <a:effectLst/>
                          <a:latin typeface="Times New Roman" panose="02020603050405020304" pitchFamily="18" charset="0"/>
                          <a:cs typeface="Times New Roman" panose="02020603050405020304" pitchFamily="18" charset="0"/>
                        </a:rPr>
                        <a:t>Slot Availability</a:t>
                      </a:r>
                    </a:p>
                  </a:txBody>
                  <a:tcPr marL="42791" marR="42791" marT="26745" marB="26745">
                    <a:lnL>
                      <a:noFill/>
                    </a:lnL>
                    <a:lnR>
                      <a:noFill/>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buNone/>
                      </a:pPr>
                      <a:r>
                        <a:rPr lang="en-US" sz="1400" b="0" i="0" dirty="0">
                          <a:solidFill>
                            <a:srgbClr val="222222"/>
                          </a:solidFill>
                          <a:effectLst/>
                          <a:latin typeface="Times New Roman" panose="02020603050405020304" pitchFamily="18" charset="0"/>
                          <a:cs typeface="Times New Roman" panose="02020603050405020304" pitchFamily="18" charset="0"/>
                        </a:rPr>
                        <a:t>The system shall display the current availability status of parking slots.</a:t>
                      </a:r>
                    </a:p>
                  </a:txBody>
                  <a:tcPr marL="42791" marR="42791" marT="26745" marB="26745">
                    <a:lnL>
                      <a:noFill/>
                    </a:lnL>
                    <a:lnR>
                      <a:noFill/>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5041425"/>
                  </a:ext>
                </a:extLst>
              </a:tr>
              <a:tr h="312992">
                <a:tc>
                  <a:txBody>
                    <a:bodyPr/>
                    <a:lstStyle/>
                    <a:p>
                      <a:pPr algn="l" fontAlgn="t">
                        <a:buNone/>
                      </a:pPr>
                      <a:r>
                        <a:rPr lang="en-US" sz="1400" b="0" i="0">
                          <a:solidFill>
                            <a:srgbClr val="222222"/>
                          </a:solidFill>
                          <a:effectLst/>
                          <a:latin typeface="Times New Roman" panose="02020603050405020304" pitchFamily="18" charset="0"/>
                          <a:cs typeface="Times New Roman" panose="02020603050405020304" pitchFamily="18" charset="0"/>
                        </a:rPr>
                        <a:t>FR-06</a:t>
                      </a:r>
                    </a:p>
                  </a:txBody>
                  <a:tcPr marL="42791" marR="42791" marT="26745" marB="26745">
                    <a:lnL>
                      <a:noFill/>
                    </a:lnL>
                    <a:lnR>
                      <a:noFill/>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l" fontAlgn="t">
                        <a:buNone/>
                      </a:pPr>
                      <a:r>
                        <a:rPr lang="en-US" sz="1400" b="0" i="0">
                          <a:solidFill>
                            <a:srgbClr val="222222"/>
                          </a:solidFill>
                          <a:effectLst/>
                          <a:latin typeface="Times New Roman" panose="02020603050405020304" pitchFamily="18" charset="0"/>
                          <a:cs typeface="Times New Roman" panose="02020603050405020304" pitchFamily="18" charset="0"/>
                        </a:rPr>
                        <a:t>Parking Slot Allocation</a:t>
                      </a:r>
                    </a:p>
                  </a:txBody>
                  <a:tcPr marL="42791" marR="42791" marT="26745" marB="26745">
                    <a:lnL>
                      <a:noFill/>
                    </a:lnL>
                    <a:lnR>
                      <a:noFill/>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l" fontAlgn="t">
                        <a:buNone/>
                      </a:pPr>
                      <a:r>
                        <a:rPr lang="en-US" sz="1400" b="0" i="0" dirty="0">
                          <a:solidFill>
                            <a:srgbClr val="222222"/>
                          </a:solidFill>
                          <a:effectLst/>
                          <a:latin typeface="Times New Roman" panose="02020603050405020304" pitchFamily="18" charset="0"/>
                          <a:cs typeface="Times New Roman" panose="02020603050405020304" pitchFamily="18" charset="0"/>
                        </a:rPr>
                        <a:t>The system shall assign an available parking slot to a vehicle during entry.</a:t>
                      </a:r>
                    </a:p>
                  </a:txBody>
                  <a:tcPr marL="42791" marR="42791" marT="26745" marB="26745">
                    <a:lnL>
                      <a:noFill/>
                    </a:lnL>
                    <a:lnR>
                      <a:noFill/>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649616300"/>
                  </a:ext>
                </a:extLst>
              </a:tr>
              <a:tr h="312992">
                <a:tc>
                  <a:txBody>
                    <a:bodyPr/>
                    <a:lstStyle/>
                    <a:p>
                      <a:pPr algn="l" fontAlgn="t">
                        <a:buNone/>
                      </a:pPr>
                      <a:r>
                        <a:rPr lang="en-US" sz="1400" b="0" i="0">
                          <a:solidFill>
                            <a:srgbClr val="222222"/>
                          </a:solidFill>
                          <a:effectLst/>
                          <a:latin typeface="Times New Roman" panose="02020603050405020304" pitchFamily="18" charset="0"/>
                          <a:cs typeface="Times New Roman" panose="02020603050405020304" pitchFamily="18" charset="0"/>
                        </a:rPr>
                        <a:t>FR-07</a:t>
                      </a:r>
                    </a:p>
                  </a:txBody>
                  <a:tcPr marL="42791" marR="42791" marT="26745" marB="26745">
                    <a:lnL>
                      <a:noFill/>
                    </a:lnL>
                    <a:lnR>
                      <a:noFill/>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buNone/>
                      </a:pPr>
                      <a:r>
                        <a:rPr lang="en-US" sz="1400" b="0" i="0">
                          <a:solidFill>
                            <a:srgbClr val="222222"/>
                          </a:solidFill>
                          <a:effectLst/>
                          <a:latin typeface="Times New Roman" panose="02020603050405020304" pitchFamily="18" charset="0"/>
                          <a:cs typeface="Times New Roman" panose="02020603050405020304" pitchFamily="18" charset="0"/>
                        </a:rPr>
                        <a:t>Vehicle Entry and Exit</a:t>
                      </a:r>
                    </a:p>
                  </a:txBody>
                  <a:tcPr marL="42791" marR="42791" marT="26745" marB="26745">
                    <a:lnL>
                      <a:noFill/>
                    </a:lnL>
                    <a:lnR>
                      <a:noFill/>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buNone/>
                      </a:pPr>
                      <a:r>
                        <a:rPr lang="en-US" sz="1400" b="0" i="0" dirty="0">
                          <a:solidFill>
                            <a:srgbClr val="222222"/>
                          </a:solidFill>
                          <a:effectLst/>
                          <a:latin typeface="Times New Roman" panose="02020603050405020304" pitchFamily="18" charset="0"/>
                          <a:cs typeface="Times New Roman" panose="02020603050405020304" pitchFamily="18" charset="0"/>
                        </a:rPr>
                        <a:t>The system shall record vehicle entry and exit date and time.</a:t>
                      </a:r>
                    </a:p>
                  </a:txBody>
                  <a:tcPr marL="42791" marR="42791" marT="26745" marB="26745">
                    <a:lnL>
                      <a:noFill/>
                    </a:lnL>
                    <a:lnR>
                      <a:noFill/>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2534847"/>
                  </a:ext>
                </a:extLst>
              </a:tr>
              <a:tr h="312992">
                <a:tc>
                  <a:txBody>
                    <a:bodyPr/>
                    <a:lstStyle/>
                    <a:p>
                      <a:pPr algn="l" fontAlgn="t">
                        <a:buNone/>
                      </a:pPr>
                      <a:r>
                        <a:rPr lang="en-US" sz="1400" b="0" i="0">
                          <a:solidFill>
                            <a:srgbClr val="222222"/>
                          </a:solidFill>
                          <a:effectLst/>
                          <a:latin typeface="Times New Roman" panose="02020603050405020304" pitchFamily="18" charset="0"/>
                          <a:cs typeface="Times New Roman" panose="02020603050405020304" pitchFamily="18" charset="0"/>
                        </a:rPr>
                        <a:t>FR-08</a:t>
                      </a:r>
                    </a:p>
                  </a:txBody>
                  <a:tcPr marL="42791" marR="42791" marT="26745" marB="26745">
                    <a:lnL>
                      <a:noFill/>
                    </a:lnL>
                    <a:lnR>
                      <a:noFill/>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l" fontAlgn="t">
                        <a:buNone/>
                      </a:pPr>
                      <a:r>
                        <a:rPr lang="en-US" sz="1400" b="0" i="0">
                          <a:solidFill>
                            <a:srgbClr val="222222"/>
                          </a:solidFill>
                          <a:effectLst/>
                          <a:latin typeface="Times New Roman" panose="02020603050405020304" pitchFamily="18" charset="0"/>
                          <a:cs typeface="Times New Roman" panose="02020603050405020304" pitchFamily="18" charset="0"/>
                        </a:rPr>
                        <a:t>Parking Fee Calculation</a:t>
                      </a:r>
                    </a:p>
                  </a:txBody>
                  <a:tcPr marL="42791" marR="42791" marT="26745" marB="26745">
                    <a:lnL>
                      <a:noFill/>
                    </a:lnL>
                    <a:lnR>
                      <a:noFill/>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l" fontAlgn="t">
                        <a:buNone/>
                      </a:pPr>
                      <a:r>
                        <a:rPr lang="en-US" sz="1400" b="0" i="0" dirty="0">
                          <a:solidFill>
                            <a:srgbClr val="222222"/>
                          </a:solidFill>
                          <a:effectLst/>
                          <a:latin typeface="Times New Roman" panose="02020603050405020304" pitchFamily="18" charset="0"/>
                          <a:cs typeface="Times New Roman" panose="02020603050405020304" pitchFamily="18" charset="0"/>
                        </a:rPr>
                        <a:t>The system shall calculate parking fees based on the duration of parking.</a:t>
                      </a:r>
                    </a:p>
                  </a:txBody>
                  <a:tcPr marL="42791" marR="42791" marT="26745" marB="26745">
                    <a:lnL>
                      <a:noFill/>
                    </a:lnL>
                    <a:lnR>
                      <a:noFill/>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3193217231"/>
                  </a:ext>
                </a:extLst>
              </a:tr>
              <a:tr h="312992">
                <a:tc>
                  <a:txBody>
                    <a:bodyPr/>
                    <a:lstStyle/>
                    <a:p>
                      <a:pPr algn="l" fontAlgn="t">
                        <a:buNone/>
                      </a:pPr>
                      <a:r>
                        <a:rPr lang="en-US" sz="1400" b="0" i="0">
                          <a:solidFill>
                            <a:srgbClr val="222222"/>
                          </a:solidFill>
                          <a:effectLst/>
                          <a:latin typeface="Times New Roman" panose="02020603050405020304" pitchFamily="18" charset="0"/>
                          <a:cs typeface="Times New Roman" panose="02020603050405020304" pitchFamily="18" charset="0"/>
                        </a:rPr>
                        <a:t>FR-09</a:t>
                      </a:r>
                    </a:p>
                  </a:txBody>
                  <a:tcPr marL="42791" marR="42791" marT="26745" marB="26745">
                    <a:lnL>
                      <a:noFill/>
                    </a:lnL>
                    <a:lnR>
                      <a:noFill/>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buNone/>
                      </a:pPr>
                      <a:r>
                        <a:rPr lang="en-US" sz="1400" b="0" i="0">
                          <a:solidFill>
                            <a:srgbClr val="222222"/>
                          </a:solidFill>
                          <a:effectLst/>
                          <a:latin typeface="Times New Roman" panose="02020603050405020304" pitchFamily="18" charset="0"/>
                          <a:cs typeface="Times New Roman" panose="02020603050405020304" pitchFamily="18" charset="0"/>
                        </a:rPr>
                        <a:t>Payment Management</a:t>
                      </a:r>
                    </a:p>
                  </a:txBody>
                  <a:tcPr marL="42791" marR="42791" marT="26745" marB="26745">
                    <a:lnL>
                      <a:noFill/>
                    </a:lnL>
                    <a:lnR>
                      <a:noFill/>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buNone/>
                      </a:pPr>
                      <a:r>
                        <a:rPr lang="en-US" sz="1400" b="0" i="0" dirty="0">
                          <a:solidFill>
                            <a:srgbClr val="222222"/>
                          </a:solidFill>
                          <a:effectLst/>
                          <a:latin typeface="Times New Roman" panose="02020603050405020304" pitchFamily="18" charset="0"/>
                          <a:cs typeface="Times New Roman" panose="02020603050405020304" pitchFamily="18" charset="0"/>
                        </a:rPr>
                        <a:t>The system shall record parking payments and their payment status.</a:t>
                      </a:r>
                    </a:p>
                  </a:txBody>
                  <a:tcPr marL="42791" marR="42791" marT="26745" marB="26745">
                    <a:lnL>
                      <a:noFill/>
                    </a:lnL>
                    <a:lnR>
                      <a:noFill/>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5192338"/>
                  </a:ext>
                </a:extLst>
              </a:tr>
              <a:tr h="452056">
                <a:tc>
                  <a:txBody>
                    <a:bodyPr/>
                    <a:lstStyle/>
                    <a:p>
                      <a:pPr algn="l" fontAlgn="t">
                        <a:buNone/>
                      </a:pPr>
                      <a:r>
                        <a:rPr lang="en-US" sz="1400" b="0" i="0">
                          <a:solidFill>
                            <a:srgbClr val="222222"/>
                          </a:solidFill>
                          <a:effectLst/>
                          <a:latin typeface="Times New Roman" panose="02020603050405020304" pitchFamily="18" charset="0"/>
                          <a:cs typeface="Times New Roman" panose="02020603050405020304" pitchFamily="18" charset="0"/>
                        </a:rPr>
                        <a:t>FR-10</a:t>
                      </a:r>
                    </a:p>
                  </a:txBody>
                  <a:tcPr marL="42791" marR="42791" marT="26745" marB="26745">
                    <a:lnL>
                      <a:noFill/>
                    </a:lnL>
                    <a:lnR>
                      <a:noFill/>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l" fontAlgn="t">
                        <a:buNone/>
                      </a:pPr>
                      <a:r>
                        <a:rPr lang="en-US" sz="1400" b="0" i="0">
                          <a:solidFill>
                            <a:srgbClr val="222222"/>
                          </a:solidFill>
                          <a:effectLst/>
                          <a:latin typeface="Times New Roman" panose="02020603050405020304" pitchFamily="18" charset="0"/>
                          <a:cs typeface="Times New Roman" panose="02020603050405020304" pitchFamily="18" charset="0"/>
                        </a:rPr>
                        <a:t>Report Generation</a:t>
                      </a:r>
                    </a:p>
                  </a:txBody>
                  <a:tcPr marL="42791" marR="42791" marT="26745" marB="26745">
                    <a:lnL>
                      <a:noFill/>
                    </a:lnL>
                    <a:lnR>
                      <a:noFill/>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l" fontAlgn="t">
                        <a:buNone/>
                      </a:pPr>
                      <a:r>
                        <a:rPr lang="en-US" sz="1400" b="0" i="0" dirty="0">
                          <a:solidFill>
                            <a:srgbClr val="222222"/>
                          </a:solidFill>
                          <a:effectLst/>
                          <a:latin typeface="Times New Roman" panose="02020603050405020304" pitchFamily="18" charset="0"/>
                          <a:cs typeface="Times New Roman" panose="02020603050405020304" pitchFamily="18" charset="0"/>
                        </a:rPr>
                        <a:t>The system shall generate parking reports, including vehicle, parking, and payment records.</a:t>
                      </a:r>
                    </a:p>
                  </a:txBody>
                  <a:tcPr marL="42791" marR="42791" marT="26745" marB="26745">
                    <a:lnL>
                      <a:noFill/>
                    </a:lnL>
                    <a:lnR>
                      <a:noFill/>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046420029"/>
                  </a:ext>
                </a:extLst>
              </a:tr>
            </a:tbl>
          </a:graphicData>
        </a:graphic>
      </p:graphicFrame>
    </p:spTree>
    <p:extLst>
      <p:ext uri="{BB962C8B-B14F-4D97-AF65-F5344CB8AC3E}">
        <p14:creationId xmlns:p14="http://schemas.microsoft.com/office/powerpoint/2010/main" val="28101443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16A0397-8780-15A8-6994-C3BF649BA699}"/>
              </a:ext>
            </a:extLst>
          </p:cNvPr>
          <p:cNvSpPr txBox="1"/>
          <p:nvPr/>
        </p:nvSpPr>
        <p:spPr>
          <a:xfrm>
            <a:off x="314907" y="141486"/>
            <a:ext cx="7933353" cy="584775"/>
          </a:xfrm>
          <a:prstGeom prst="rect">
            <a:avLst/>
          </a:prstGeom>
          <a:noFill/>
        </p:spPr>
        <p:txBody>
          <a:bodyPr wrap="square">
            <a:spAutoFit/>
          </a:bodyPr>
          <a:lstStyle/>
          <a:p>
            <a:r>
              <a:rPr lang="en-US" sz="3000" b="1" dirty="0">
                <a:solidFill>
                  <a:srgbClr val="21295C"/>
                </a:solidFill>
                <a:latin typeface="Cambria" pitchFamily="34" charset="0"/>
                <a:ea typeface="Cambria" pitchFamily="34" charset="-122"/>
                <a:cs typeface="Cambria" pitchFamily="34" charset="-120"/>
              </a:rPr>
              <a:t>3.2 Non-</a:t>
            </a:r>
            <a:r>
              <a:rPr lang="en-US" sz="3200" b="1" dirty="0">
                <a:solidFill>
                  <a:srgbClr val="21295C"/>
                </a:solidFill>
                <a:latin typeface="Cambria" pitchFamily="34" charset="0"/>
                <a:ea typeface="Cambria" pitchFamily="34" charset="-122"/>
                <a:cs typeface="Cambria" pitchFamily="34" charset="-120"/>
              </a:rPr>
              <a:t>Functional Requirements</a:t>
            </a:r>
            <a:endParaRPr lang="en-US" sz="3200" dirty="0"/>
          </a:p>
        </p:txBody>
      </p:sp>
      <p:sp>
        <p:nvSpPr>
          <p:cNvPr id="5" name="Shape 3">
            <a:extLst>
              <a:ext uri="{FF2B5EF4-FFF2-40B4-BE49-F238E27FC236}">
                <a16:creationId xmlns:a16="http://schemas.microsoft.com/office/drawing/2014/main" id="{3F74ADDC-5FB9-01E1-871D-4829F86FB6DB}"/>
              </a:ext>
            </a:extLst>
          </p:cNvPr>
          <p:cNvSpPr/>
          <p:nvPr/>
        </p:nvSpPr>
        <p:spPr>
          <a:xfrm>
            <a:off x="457199" y="767315"/>
            <a:ext cx="11467323" cy="5807034"/>
          </a:xfrm>
          <a:prstGeom prst="roundRect">
            <a:avLst>
              <a:gd name="adj" fmla="val 2051"/>
            </a:avLst>
          </a:prstGeom>
          <a:solidFill>
            <a:srgbClr val="CFE8EF"/>
          </a:solidFill>
          <a:ln/>
        </p:spPr>
        <p:txBody>
          <a:bodyPr/>
          <a:lstStyle/>
          <a:p>
            <a:pPr>
              <a:lnSpc>
                <a:spcPct val="125000"/>
              </a:lnSpc>
            </a:pPr>
            <a:r>
              <a:rPr lang="en-US" sz="1600" i="1" dirty="0">
                <a:latin typeface="Times New Roman" panose="02020603050405020304" pitchFamily="18" charset="0"/>
                <a:ea typeface="Calibri" pitchFamily="34" charset="-122"/>
                <a:cs typeface="Times New Roman" panose="02020603050405020304" pitchFamily="18" charset="0"/>
              </a:rPr>
              <a:t>Define how well it performs:</a:t>
            </a:r>
            <a:endParaRPr lang="en-US" sz="1600" i="1" dirty="0">
              <a:solidFill>
                <a:srgbClr val="5B6B79"/>
              </a:solidFill>
              <a:latin typeface="Times New Roman" panose="02020603050405020304" pitchFamily="18" charset="0"/>
              <a:ea typeface="Calibri" pitchFamily="34" charset="-122"/>
              <a:cs typeface="Times New Roman" panose="02020603050405020304" pitchFamily="18" charset="0"/>
            </a:endParaRPr>
          </a:p>
          <a:p>
            <a:pPr lvl="0">
              <a:lnSpc>
                <a:spcPct val="150000"/>
              </a:lnSpc>
            </a:pPr>
            <a:r>
              <a:rPr lang="en-US" sz="1500" b="1" dirty="0">
                <a:latin typeface="Times New Roman" panose="02020603050405020304" pitchFamily="18" charset="0"/>
                <a:cs typeface="Times New Roman" panose="02020603050405020304" pitchFamily="18" charset="0"/>
              </a:rPr>
              <a:t>Performance:</a:t>
            </a:r>
            <a:r>
              <a:rPr lang="en-US" sz="1500" dirty="0">
                <a:latin typeface="Times New Roman" panose="02020603050405020304" pitchFamily="18" charset="0"/>
                <a:cs typeface="Times New Roman" panose="02020603050405020304" pitchFamily="18" charset="0"/>
              </a:rPr>
              <a:t> Response time should be within 2 seconds. </a:t>
            </a:r>
          </a:p>
          <a:p>
            <a:pPr lvl="0">
              <a:lnSpc>
                <a:spcPct val="150000"/>
              </a:lnSpc>
            </a:pPr>
            <a:r>
              <a:rPr lang="en-US" sz="1500" b="1" dirty="0">
                <a:latin typeface="Times New Roman" panose="02020603050405020304" pitchFamily="18" charset="0"/>
                <a:cs typeface="Times New Roman" panose="02020603050405020304" pitchFamily="18" charset="0"/>
              </a:rPr>
              <a:t>Availability:</a:t>
            </a:r>
            <a:r>
              <a:rPr lang="en-US" sz="1500" dirty="0">
                <a:latin typeface="Times New Roman" panose="02020603050405020304" pitchFamily="18" charset="0"/>
                <a:cs typeface="Times New Roman" panose="02020603050405020304" pitchFamily="18" charset="0"/>
              </a:rPr>
              <a:t> The system should provide 99% uptime. </a:t>
            </a:r>
          </a:p>
          <a:p>
            <a:pPr lvl="0">
              <a:lnSpc>
                <a:spcPct val="150000"/>
              </a:lnSpc>
            </a:pPr>
            <a:r>
              <a:rPr lang="en-US" sz="1500" b="1" dirty="0">
                <a:latin typeface="Times New Roman" panose="02020603050405020304" pitchFamily="18" charset="0"/>
                <a:cs typeface="Times New Roman" panose="02020603050405020304" pitchFamily="18" charset="0"/>
              </a:rPr>
              <a:t>Security:</a:t>
            </a:r>
            <a:r>
              <a:rPr lang="en-US" sz="1500" dirty="0">
                <a:latin typeface="Times New Roman" panose="02020603050405020304" pitchFamily="18" charset="0"/>
                <a:cs typeface="Times New Roman" panose="02020603050405020304" pitchFamily="18" charset="0"/>
              </a:rPr>
              <a:t> Access should be controlled based on user roles. </a:t>
            </a:r>
          </a:p>
          <a:p>
            <a:pPr lvl="0">
              <a:lnSpc>
                <a:spcPct val="150000"/>
              </a:lnSpc>
            </a:pPr>
            <a:r>
              <a:rPr lang="en-US" sz="1500" b="1" dirty="0">
                <a:latin typeface="Times New Roman" panose="02020603050405020304" pitchFamily="18" charset="0"/>
                <a:cs typeface="Times New Roman" panose="02020603050405020304" pitchFamily="18" charset="0"/>
              </a:rPr>
              <a:t>Usability:</a:t>
            </a:r>
            <a:r>
              <a:rPr lang="en-US" sz="1500" dirty="0">
                <a:latin typeface="Times New Roman" panose="02020603050405020304" pitchFamily="18" charset="0"/>
                <a:cs typeface="Times New Roman" panose="02020603050405020304" pitchFamily="18" charset="0"/>
              </a:rPr>
              <a:t> The system should work well on both mobile and desktop devices. </a:t>
            </a:r>
          </a:p>
        </p:txBody>
      </p:sp>
      <p:sp>
        <p:nvSpPr>
          <p:cNvPr id="7" name="Text 8">
            <a:extLst>
              <a:ext uri="{FF2B5EF4-FFF2-40B4-BE49-F238E27FC236}">
                <a16:creationId xmlns:a16="http://schemas.microsoft.com/office/drawing/2014/main" id="{9259A343-71AF-C856-3EDB-C28298E07F47}"/>
              </a:ext>
            </a:extLst>
          </p:cNvPr>
          <p:cNvSpPr/>
          <p:nvPr/>
        </p:nvSpPr>
        <p:spPr>
          <a:xfrm>
            <a:off x="11503152" y="6574349"/>
            <a:ext cx="457200" cy="274320"/>
          </a:xfrm>
          <a:prstGeom prst="rect">
            <a:avLst/>
          </a:prstGeom>
          <a:noFill/>
          <a:ln/>
        </p:spPr>
        <p:txBody>
          <a:bodyPr wrap="square"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5</a:t>
            </a:r>
            <a:endParaRPr lang="en-US" sz="1000" dirty="0"/>
          </a:p>
        </p:txBody>
      </p:sp>
      <p:graphicFrame>
        <p:nvGraphicFramePr>
          <p:cNvPr id="9" name="Table 8">
            <a:extLst>
              <a:ext uri="{FF2B5EF4-FFF2-40B4-BE49-F238E27FC236}">
                <a16:creationId xmlns:a16="http://schemas.microsoft.com/office/drawing/2014/main" id="{95B9BEA4-4564-F98A-D68B-4D8270AB3D34}"/>
              </a:ext>
            </a:extLst>
          </p:cNvPr>
          <p:cNvGraphicFramePr>
            <a:graphicFrameLocks noGrp="1"/>
          </p:cNvGraphicFramePr>
          <p:nvPr>
            <p:extLst>
              <p:ext uri="{D42A27DB-BD31-4B8C-83A1-F6EECF244321}">
                <p14:modId xmlns:p14="http://schemas.microsoft.com/office/powerpoint/2010/main" val="676172184"/>
              </p:ext>
            </p:extLst>
          </p:nvPr>
        </p:nvGraphicFramePr>
        <p:xfrm>
          <a:off x="457200" y="2565918"/>
          <a:ext cx="11467322" cy="3872209"/>
        </p:xfrm>
        <a:graphic>
          <a:graphicData uri="http://schemas.openxmlformats.org/drawingml/2006/table">
            <a:tbl>
              <a:tblPr/>
              <a:tblGrid>
                <a:gridCol w="1056748">
                  <a:extLst>
                    <a:ext uri="{9D8B030D-6E8A-4147-A177-3AD203B41FA5}">
                      <a16:colId xmlns:a16="http://schemas.microsoft.com/office/drawing/2014/main" val="3932128650"/>
                    </a:ext>
                  </a:extLst>
                </a:gridCol>
                <a:gridCol w="2728331">
                  <a:extLst>
                    <a:ext uri="{9D8B030D-6E8A-4147-A177-3AD203B41FA5}">
                      <a16:colId xmlns:a16="http://schemas.microsoft.com/office/drawing/2014/main" val="3346374581"/>
                    </a:ext>
                  </a:extLst>
                </a:gridCol>
                <a:gridCol w="7682243">
                  <a:extLst>
                    <a:ext uri="{9D8B030D-6E8A-4147-A177-3AD203B41FA5}">
                      <a16:colId xmlns:a16="http://schemas.microsoft.com/office/drawing/2014/main" val="861493209"/>
                    </a:ext>
                  </a:extLst>
                </a:gridCol>
              </a:tblGrid>
              <a:tr h="352019">
                <a:tc>
                  <a:txBody>
                    <a:bodyPr/>
                    <a:lstStyle/>
                    <a:p>
                      <a:pPr algn="l">
                        <a:buNone/>
                      </a:pPr>
                      <a:r>
                        <a:rPr lang="en-US" sz="1600" b="1" i="0">
                          <a:solidFill>
                            <a:srgbClr val="FFFFFF"/>
                          </a:solidFill>
                          <a:effectLst/>
                          <a:latin typeface="Times New Roman" panose="02020603050405020304" pitchFamily="18" charset="0"/>
                          <a:cs typeface="Times New Roman" panose="02020603050405020304" pitchFamily="18" charset="0"/>
                        </a:rPr>
                        <a:t>ID</a:t>
                      </a:r>
                    </a:p>
                  </a:txBody>
                  <a:tcPr marL="38338" marR="38338" marT="23961" marB="23961" anchor="ctr">
                    <a:lnL>
                      <a:noFill/>
                    </a:lnL>
                    <a:lnR>
                      <a:noFill/>
                    </a:lnR>
                    <a:lnT>
                      <a:noFill/>
                    </a:lnT>
                    <a:lnB>
                      <a:noFill/>
                    </a:lnB>
                    <a:solidFill>
                      <a:srgbClr val="00B050"/>
                    </a:solidFill>
                  </a:tcPr>
                </a:tc>
                <a:tc>
                  <a:txBody>
                    <a:bodyPr/>
                    <a:lstStyle/>
                    <a:p>
                      <a:pPr algn="l">
                        <a:buNone/>
                      </a:pPr>
                      <a:r>
                        <a:rPr lang="en-US" sz="1600" b="1" i="0">
                          <a:solidFill>
                            <a:srgbClr val="FFFFFF"/>
                          </a:solidFill>
                          <a:effectLst/>
                          <a:latin typeface="Times New Roman" panose="02020603050405020304" pitchFamily="18" charset="0"/>
                          <a:cs typeface="Times New Roman" panose="02020603050405020304" pitchFamily="18" charset="0"/>
                        </a:rPr>
                        <a:t>Non-functional requirement</a:t>
                      </a:r>
                    </a:p>
                  </a:txBody>
                  <a:tcPr marL="38338" marR="38338" marT="23961" marB="23961" anchor="ctr">
                    <a:lnL>
                      <a:noFill/>
                    </a:lnL>
                    <a:lnR>
                      <a:noFill/>
                    </a:lnR>
                    <a:lnT>
                      <a:noFill/>
                    </a:lnT>
                    <a:lnB>
                      <a:noFill/>
                    </a:lnB>
                    <a:solidFill>
                      <a:srgbClr val="00B050"/>
                    </a:solidFill>
                  </a:tcPr>
                </a:tc>
                <a:tc>
                  <a:txBody>
                    <a:bodyPr/>
                    <a:lstStyle/>
                    <a:p>
                      <a:pPr algn="l">
                        <a:buNone/>
                      </a:pPr>
                      <a:r>
                        <a:rPr lang="en-US" sz="1600" b="1" i="0" dirty="0">
                          <a:solidFill>
                            <a:srgbClr val="FFFFFF"/>
                          </a:solidFill>
                          <a:effectLst/>
                          <a:latin typeface="Times New Roman" panose="02020603050405020304" pitchFamily="18" charset="0"/>
                          <a:cs typeface="Times New Roman" panose="02020603050405020304" pitchFamily="18" charset="0"/>
                        </a:rPr>
                        <a:t>Description</a:t>
                      </a:r>
                    </a:p>
                  </a:txBody>
                  <a:tcPr marL="38338" marR="38338" marT="23961" marB="23961" anchor="ctr">
                    <a:lnL>
                      <a:noFill/>
                    </a:lnL>
                    <a:lnR>
                      <a:noFill/>
                    </a:lnR>
                    <a:lnT>
                      <a:noFill/>
                    </a:lnT>
                    <a:lnB>
                      <a:noFill/>
                    </a:lnB>
                    <a:solidFill>
                      <a:srgbClr val="00B050"/>
                    </a:solidFill>
                  </a:tcPr>
                </a:tc>
                <a:extLst>
                  <a:ext uri="{0D108BD9-81ED-4DB2-BD59-A6C34878D82A}">
                    <a16:rowId xmlns:a16="http://schemas.microsoft.com/office/drawing/2014/main" val="307092544"/>
                  </a:ext>
                </a:extLst>
              </a:tr>
              <a:tr h="352019">
                <a:tc>
                  <a:txBody>
                    <a:bodyPr/>
                    <a:lstStyle/>
                    <a:p>
                      <a:pPr algn="l" fontAlgn="t">
                        <a:buNone/>
                      </a:pPr>
                      <a:r>
                        <a:rPr lang="en-US" sz="1400" b="0" i="0">
                          <a:solidFill>
                            <a:srgbClr val="222222"/>
                          </a:solidFill>
                          <a:effectLst/>
                          <a:latin typeface="Times New Roman" panose="02020603050405020304" pitchFamily="18" charset="0"/>
                          <a:cs typeface="Times New Roman" panose="02020603050405020304" pitchFamily="18" charset="0"/>
                        </a:rPr>
                        <a:t>NFR-01</a:t>
                      </a:r>
                    </a:p>
                  </a:txBody>
                  <a:tcPr marL="38338" marR="38338" marT="23961" marB="23961">
                    <a:lnL>
                      <a:noFill/>
                    </a:lnL>
                    <a:lnR>
                      <a:noFill/>
                    </a:lnR>
                    <a:lnT>
                      <a:noFill/>
                    </a:lnT>
                    <a:lnB w="7620" cap="flat" cmpd="sng" algn="ctr">
                      <a:solidFill>
                        <a:srgbClr val="E4E4E4"/>
                      </a:solidFill>
                      <a:prstDash val="solid"/>
                      <a:round/>
                      <a:headEnd type="none" w="med" len="med"/>
                      <a:tailEnd type="none" w="med" len="med"/>
                    </a:lnB>
                    <a:noFill/>
                  </a:tcPr>
                </a:tc>
                <a:tc>
                  <a:txBody>
                    <a:bodyPr/>
                    <a:lstStyle/>
                    <a:p>
                      <a:pPr algn="l" fontAlgn="t">
                        <a:buNone/>
                      </a:pPr>
                      <a:r>
                        <a:rPr lang="en-US" sz="1400" b="0" i="0">
                          <a:solidFill>
                            <a:srgbClr val="222222"/>
                          </a:solidFill>
                          <a:effectLst/>
                          <a:latin typeface="Times New Roman" panose="02020603050405020304" pitchFamily="18" charset="0"/>
                          <a:cs typeface="Times New Roman" panose="02020603050405020304" pitchFamily="18" charset="0"/>
                        </a:rPr>
                        <a:t>Performance</a:t>
                      </a:r>
                    </a:p>
                  </a:txBody>
                  <a:tcPr marL="38338" marR="38338" marT="23961" marB="23961">
                    <a:lnL>
                      <a:noFill/>
                    </a:lnL>
                    <a:lnR>
                      <a:noFill/>
                    </a:lnR>
                    <a:lnT>
                      <a:noFill/>
                    </a:lnT>
                    <a:lnB w="7620" cap="flat" cmpd="sng" algn="ctr">
                      <a:solidFill>
                        <a:srgbClr val="E4E4E4"/>
                      </a:solidFill>
                      <a:prstDash val="solid"/>
                      <a:round/>
                      <a:headEnd type="none" w="med" len="med"/>
                      <a:tailEnd type="none" w="med" len="med"/>
                    </a:lnB>
                    <a:noFill/>
                  </a:tcPr>
                </a:tc>
                <a:tc>
                  <a:txBody>
                    <a:bodyPr/>
                    <a:lstStyle/>
                    <a:p>
                      <a:pPr algn="l" fontAlgn="t">
                        <a:buNone/>
                      </a:pPr>
                      <a:r>
                        <a:rPr lang="en-US" sz="1400" b="0" i="0" dirty="0">
                          <a:solidFill>
                            <a:srgbClr val="222222"/>
                          </a:solidFill>
                          <a:effectLst/>
                          <a:latin typeface="Times New Roman" panose="02020603050405020304" pitchFamily="18" charset="0"/>
                          <a:cs typeface="Times New Roman" panose="02020603050405020304" pitchFamily="18" charset="0"/>
                        </a:rPr>
                        <a:t>The system should respond to normal user requests within 2 seconds.</a:t>
                      </a:r>
                    </a:p>
                  </a:txBody>
                  <a:tcPr marL="38338" marR="38338" marT="23961" marB="23961">
                    <a:lnL>
                      <a:noFill/>
                    </a:lnL>
                    <a:lnR>
                      <a:noFill/>
                    </a:lnR>
                    <a:lnT>
                      <a:noFill/>
                    </a:lnT>
                    <a:lnB w="7620" cap="flat" cmpd="sng" algn="ctr">
                      <a:solidFill>
                        <a:srgbClr val="E4E4E4"/>
                      </a:solidFill>
                      <a:prstDash val="solid"/>
                      <a:round/>
                      <a:headEnd type="none" w="med" len="med"/>
                      <a:tailEnd type="none" w="med" len="med"/>
                    </a:lnB>
                    <a:noFill/>
                  </a:tcPr>
                </a:tc>
                <a:extLst>
                  <a:ext uri="{0D108BD9-81ED-4DB2-BD59-A6C34878D82A}">
                    <a16:rowId xmlns:a16="http://schemas.microsoft.com/office/drawing/2014/main" val="1730411488"/>
                  </a:ext>
                </a:extLst>
              </a:tr>
              <a:tr h="352019">
                <a:tc>
                  <a:txBody>
                    <a:bodyPr/>
                    <a:lstStyle/>
                    <a:p>
                      <a:pPr algn="l" fontAlgn="t">
                        <a:buNone/>
                      </a:pPr>
                      <a:r>
                        <a:rPr lang="en-US" sz="1400" b="0" i="0">
                          <a:solidFill>
                            <a:srgbClr val="222222"/>
                          </a:solidFill>
                          <a:effectLst/>
                          <a:latin typeface="Times New Roman" panose="02020603050405020304" pitchFamily="18" charset="0"/>
                          <a:cs typeface="Times New Roman" panose="02020603050405020304" pitchFamily="18" charset="0"/>
                        </a:rPr>
                        <a:t>NFR-02</a:t>
                      </a:r>
                    </a:p>
                  </a:txBody>
                  <a:tcPr marL="38338" marR="38338" marT="23961" marB="23961">
                    <a:lnL>
                      <a:noFill/>
                    </a:lnL>
                    <a:lnR>
                      <a:noFill/>
                    </a:lnR>
                    <a:lnT w="7620" cap="flat" cmpd="sng" algn="ctr">
                      <a:solidFill>
                        <a:srgbClr val="E4E4E4"/>
                      </a:solidFill>
                      <a:prstDash val="solid"/>
                      <a:round/>
                      <a:headEnd type="none" w="med" len="med"/>
                      <a:tailEnd type="none" w="med" len="med"/>
                    </a:lnT>
                    <a:lnB w="7620" cap="flat" cmpd="sng" algn="ctr">
                      <a:solidFill>
                        <a:srgbClr val="E4E4E4"/>
                      </a:solidFill>
                      <a:prstDash val="solid"/>
                      <a:round/>
                      <a:headEnd type="none" w="med" len="med"/>
                      <a:tailEnd type="none" w="med" len="med"/>
                    </a:lnB>
                    <a:solidFill>
                      <a:schemeClr val="accent6">
                        <a:lumMod val="20000"/>
                        <a:lumOff val="80000"/>
                      </a:schemeClr>
                    </a:solidFill>
                  </a:tcPr>
                </a:tc>
                <a:tc>
                  <a:txBody>
                    <a:bodyPr/>
                    <a:lstStyle/>
                    <a:p>
                      <a:pPr algn="l" fontAlgn="t">
                        <a:buNone/>
                      </a:pPr>
                      <a:r>
                        <a:rPr lang="en-US" sz="1400" b="0" i="0" dirty="0">
                          <a:solidFill>
                            <a:srgbClr val="222222"/>
                          </a:solidFill>
                          <a:effectLst/>
                          <a:latin typeface="Times New Roman" panose="02020603050405020304" pitchFamily="18" charset="0"/>
                          <a:cs typeface="Times New Roman" panose="02020603050405020304" pitchFamily="18" charset="0"/>
                        </a:rPr>
                        <a:t>Security</a:t>
                      </a:r>
                    </a:p>
                  </a:txBody>
                  <a:tcPr marL="38338" marR="38338" marT="23961" marB="23961">
                    <a:lnL>
                      <a:noFill/>
                    </a:lnL>
                    <a:lnR>
                      <a:noFill/>
                    </a:lnR>
                    <a:lnT w="7620" cap="flat" cmpd="sng" algn="ctr">
                      <a:solidFill>
                        <a:srgbClr val="E4E4E4"/>
                      </a:solidFill>
                      <a:prstDash val="solid"/>
                      <a:round/>
                      <a:headEnd type="none" w="med" len="med"/>
                      <a:tailEnd type="none" w="med" len="med"/>
                    </a:lnT>
                    <a:lnB w="7620" cap="flat" cmpd="sng" algn="ctr">
                      <a:solidFill>
                        <a:srgbClr val="E4E4E4"/>
                      </a:solidFill>
                      <a:prstDash val="solid"/>
                      <a:round/>
                      <a:headEnd type="none" w="med" len="med"/>
                      <a:tailEnd type="none" w="med" len="med"/>
                    </a:lnB>
                    <a:solidFill>
                      <a:schemeClr val="accent6">
                        <a:lumMod val="20000"/>
                        <a:lumOff val="80000"/>
                      </a:schemeClr>
                    </a:solidFill>
                  </a:tcPr>
                </a:tc>
                <a:tc>
                  <a:txBody>
                    <a:bodyPr/>
                    <a:lstStyle/>
                    <a:p>
                      <a:pPr algn="l" fontAlgn="t">
                        <a:buNone/>
                      </a:pPr>
                      <a:r>
                        <a:rPr lang="en-US" sz="1400" b="0" i="0" dirty="0">
                          <a:solidFill>
                            <a:srgbClr val="222222"/>
                          </a:solidFill>
                          <a:effectLst/>
                          <a:latin typeface="Times New Roman" panose="02020603050405020304" pitchFamily="18" charset="0"/>
                          <a:cs typeface="Times New Roman" panose="02020603050405020304" pitchFamily="18" charset="0"/>
                        </a:rPr>
                        <a:t>The system shall protect user and parking information from unauthorized access.</a:t>
                      </a:r>
                    </a:p>
                  </a:txBody>
                  <a:tcPr marL="38338" marR="38338" marT="23961" marB="23961">
                    <a:lnL>
                      <a:noFill/>
                    </a:lnL>
                    <a:lnR>
                      <a:noFill/>
                    </a:lnR>
                    <a:lnT w="7620" cap="flat" cmpd="sng" algn="ctr">
                      <a:solidFill>
                        <a:srgbClr val="E4E4E4"/>
                      </a:solidFill>
                      <a:prstDash val="solid"/>
                      <a:round/>
                      <a:headEnd type="none" w="med" len="med"/>
                      <a:tailEnd type="none" w="med" len="med"/>
                    </a:lnT>
                    <a:lnB w="7620" cap="flat" cmpd="sng" algn="ctr">
                      <a:solidFill>
                        <a:srgbClr val="E4E4E4"/>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845492305"/>
                  </a:ext>
                </a:extLst>
              </a:tr>
              <a:tr h="352019">
                <a:tc>
                  <a:txBody>
                    <a:bodyPr/>
                    <a:lstStyle/>
                    <a:p>
                      <a:pPr algn="l" fontAlgn="t">
                        <a:buNone/>
                      </a:pPr>
                      <a:r>
                        <a:rPr lang="en-US" sz="1400" b="0" i="0">
                          <a:solidFill>
                            <a:srgbClr val="222222"/>
                          </a:solidFill>
                          <a:effectLst/>
                          <a:latin typeface="Times New Roman" panose="02020603050405020304" pitchFamily="18" charset="0"/>
                          <a:cs typeface="Times New Roman" panose="02020603050405020304" pitchFamily="18" charset="0"/>
                        </a:rPr>
                        <a:t>NFR-03</a:t>
                      </a:r>
                    </a:p>
                  </a:txBody>
                  <a:tcPr marL="38338" marR="38338" marT="23961" marB="23961">
                    <a:lnL>
                      <a:noFill/>
                    </a:lnL>
                    <a:lnR>
                      <a:noFill/>
                    </a:lnR>
                    <a:lnT w="7620" cap="flat" cmpd="sng" algn="ctr">
                      <a:solidFill>
                        <a:srgbClr val="E4E4E4"/>
                      </a:solidFill>
                      <a:prstDash val="solid"/>
                      <a:round/>
                      <a:headEnd type="none" w="med" len="med"/>
                      <a:tailEnd type="none" w="med" len="med"/>
                    </a:lnT>
                    <a:lnB w="7620" cap="flat" cmpd="sng" algn="ctr">
                      <a:solidFill>
                        <a:srgbClr val="E4E4E4"/>
                      </a:solidFill>
                      <a:prstDash val="solid"/>
                      <a:round/>
                      <a:headEnd type="none" w="med" len="med"/>
                      <a:tailEnd type="none" w="med" len="med"/>
                    </a:lnB>
                    <a:noFill/>
                  </a:tcPr>
                </a:tc>
                <a:tc>
                  <a:txBody>
                    <a:bodyPr/>
                    <a:lstStyle/>
                    <a:p>
                      <a:pPr algn="l" fontAlgn="t">
                        <a:buNone/>
                      </a:pPr>
                      <a:r>
                        <a:rPr lang="en-US" sz="1400" b="0" i="0">
                          <a:solidFill>
                            <a:srgbClr val="222222"/>
                          </a:solidFill>
                          <a:effectLst/>
                          <a:latin typeface="Times New Roman" panose="02020603050405020304" pitchFamily="18" charset="0"/>
                          <a:cs typeface="Times New Roman" panose="02020603050405020304" pitchFamily="18" charset="0"/>
                        </a:rPr>
                        <a:t>Reliability</a:t>
                      </a:r>
                    </a:p>
                  </a:txBody>
                  <a:tcPr marL="38338" marR="38338" marT="23961" marB="23961">
                    <a:lnL>
                      <a:noFill/>
                    </a:lnL>
                    <a:lnR>
                      <a:noFill/>
                    </a:lnR>
                    <a:lnT w="7620" cap="flat" cmpd="sng" algn="ctr">
                      <a:solidFill>
                        <a:srgbClr val="E4E4E4"/>
                      </a:solidFill>
                      <a:prstDash val="solid"/>
                      <a:round/>
                      <a:headEnd type="none" w="med" len="med"/>
                      <a:tailEnd type="none" w="med" len="med"/>
                    </a:lnT>
                    <a:lnB w="7620" cap="flat" cmpd="sng" algn="ctr">
                      <a:solidFill>
                        <a:srgbClr val="E4E4E4"/>
                      </a:solidFill>
                      <a:prstDash val="solid"/>
                      <a:round/>
                      <a:headEnd type="none" w="med" len="med"/>
                      <a:tailEnd type="none" w="med" len="med"/>
                    </a:lnB>
                    <a:noFill/>
                  </a:tcPr>
                </a:tc>
                <a:tc>
                  <a:txBody>
                    <a:bodyPr/>
                    <a:lstStyle/>
                    <a:p>
                      <a:pPr algn="l" fontAlgn="t">
                        <a:buNone/>
                      </a:pPr>
                      <a:r>
                        <a:rPr lang="en-US" sz="1400" b="0" i="0">
                          <a:solidFill>
                            <a:srgbClr val="222222"/>
                          </a:solidFill>
                          <a:effectLst/>
                          <a:latin typeface="Times New Roman" panose="02020603050405020304" pitchFamily="18" charset="0"/>
                          <a:cs typeface="Times New Roman" panose="02020603050405020304" pitchFamily="18" charset="0"/>
                        </a:rPr>
                        <a:t>The system shall accurately store and maintain vehicle, parking, and payment records.</a:t>
                      </a:r>
                    </a:p>
                  </a:txBody>
                  <a:tcPr marL="38338" marR="38338" marT="23961" marB="23961">
                    <a:lnL>
                      <a:noFill/>
                    </a:lnL>
                    <a:lnR>
                      <a:noFill/>
                    </a:lnR>
                    <a:lnT w="7620" cap="flat" cmpd="sng" algn="ctr">
                      <a:solidFill>
                        <a:srgbClr val="E4E4E4"/>
                      </a:solidFill>
                      <a:prstDash val="solid"/>
                      <a:round/>
                      <a:headEnd type="none" w="med" len="med"/>
                      <a:tailEnd type="none" w="med" len="med"/>
                    </a:lnT>
                    <a:lnB w="7620" cap="flat" cmpd="sng" algn="ctr">
                      <a:solidFill>
                        <a:srgbClr val="E4E4E4"/>
                      </a:solidFill>
                      <a:prstDash val="solid"/>
                      <a:round/>
                      <a:headEnd type="none" w="med" len="med"/>
                      <a:tailEnd type="none" w="med" len="med"/>
                    </a:lnB>
                    <a:noFill/>
                  </a:tcPr>
                </a:tc>
                <a:extLst>
                  <a:ext uri="{0D108BD9-81ED-4DB2-BD59-A6C34878D82A}">
                    <a16:rowId xmlns:a16="http://schemas.microsoft.com/office/drawing/2014/main" val="2329008915"/>
                  </a:ext>
                </a:extLst>
              </a:tr>
              <a:tr h="352019">
                <a:tc>
                  <a:txBody>
                    <a:bodyPr/>
                    <a:lstStyle/>
                    <a:p>
                      <a:pPr algn="l" fontAlgn="t">
                        <a:buNone/>
                      </a:pPr>
                      <a:r>
                        <a:rPr lang="en-US" sz="1400" b="0" i="0">
                          <a:solidFill>
                            <a:srgbClr val="222222"/>
                          </a:solidFill>
                          <a:effectLst/>
                          <a:latin typeface="Times New Roman" panose="02020603050405020304" pitchFamily="18" charset="0"/>
                          <a:cs typeface="Times New Roman" panose="02020603050405020304" pitchFamily="18" charset="0"/>
                        </a:rPr>
                        <a:t>NFR-04</a:t>
                      </a:r>
                    </a:p>
                  </a:txBody>
                  <a:tcPr marL="38338" marR="38338" marT="23961" marB="23961">
                    <a:lnL>
                      <a:noFill/>
                    </a:lnL>
                    <a:lnR>
                      <a:noFill/>
                    </a:lnR>
                    <a:lnT w="7620" cap="flat" cmpd="sng" algn="ctr">
                      <a:solidFill>
                        <a:srgbClr val="E4E4E4"/>
                      </a:solidFill>
                      <a:prstDash val="solid"/>
                      <a:round/>
                      <a:headEnd type="none" w="med" len="med"/>
                      <a:tailEnd type="none" w="med" len="med"/>
                    </a:lnT>
                    <a:lnB w="7620" cap="flat" cmpd="sng" algn="ctr">
                      <a:solidFill>
                        <a:srgbClr val="E4E4E4"/>
                      </a:solidFill>
                      <a:prstDash val="solid"/>
                      <a:round/>
                      <a:headEnd type="none" w="med" len="med"/>
                      <a:tailEnd type="none" w="med" len="med"/>
                    </a:lnB>
                    <a:solidFill>
                      <a:schemeClr val="accent6">
                        <a:lumMod val="20000"/>
                        <a:lumOff val="80000"/>
                      </a:schemeClr>
                    </a:solidFill>
                  </a:tcPr>
                </a:tc>
                <a:tc>
                  <a:txBody>
                    <a:bodyPr/>
                    <a:lstStyle/>
                    <a:p>
                      <a:pPr algn="l" fontAlgn="t">
                        <a:buNone/>
                      </a:pPr>
                      <a:r>
                        <a:rPr lang="en-US" sz="1400" b="0" i="0">
                          <a:solidFill>
                            <a:srgbClr val="222222"/>
                          </a:solidFill>
                          <a:effectLst/>
                          <a:latin typeface="Times New Roman" panose="02020603050405020304" pitchFamily="18" charset="0"/>
                          <a:cs typeface="Times New Roman" panose="02020603050405020304" pitchFamily="18" charset="0"/>
                        </a:rPr>
                        <a:t>Availability</a:t>
                      </a:r>
                    </a:p>
                  </a:txBody>
                  <a:tcPr marL="38338" marR="38338" marT="23961" marB="23961">
                    <a:lnL>
                      <a:noFill/>
                    </a:lnL>
                    <a:lnR>
                      <a:noFill/>
                    </a:lnR>
                    <a:lnT w="7620" cap="flat" cmpd="sng" algn="ctr">
                      <a:solidFill>
                        <a:srgbClr val="E4E4E4"/>
                      </a:solidFill>
                      <a:prstDash val="solid"/>
                      <a:round/>
                      <a:headEnd type="none" w="med" len="med"/>
                      <a:tailEnd type="none" w="med" len="med"/>
                    </a:lnT>
                    <a:lnB w="7620" cap="flat" cmpd="sng" algn="ctr">
                      <a:solidFill>
                        <a:srgbClr val="E4E4E4"/>
                      </a:solidFill>
                      <a:prstDash val="solid"/>
                      <a:round/>
                      <a:headEnd type="none" w="med" len="med"/>
                      <a:tailEnd type="none" w="med" len="med"/>
                    </a:lnB>
                    <a:solidFill>
                      <a:schemeClr val="accent6">
                        <a:lumMod val="20000"/>
                        <a:lumOff val="80000"/>
                      </a:schemeClr>
                    </a:solidFill>
                  </a:tcPr>
                </a:tc>
                <a:tc>
                  <a:txBody>
                    <a:bodyPr/>
                    <a:lstStyle/>
                    <a:p>
                      <a:pPr algn="l" fontAlgn="t">
                        <a:buNone/>
                      </a:pPr>
                      <a:r>
                        <a:rPr lang="en-US" sz="1400" b="0" i="0" dirty="0">
                          <a:solidFill>
                            <a:srgbClr val="222222"/>
                          </a:solidFill>
                          <a:effectLst/>
                          <a:latin typeface="Times New Roman" panose="02020603050405020304" pitchFamily="18" charset="0"/>
                          <a:cs typeface="Times New Roman" panose="02020603050405020304" pitchFamily="18" charset="0"/>
                        </a:rPr>
                        <a:t>The system should be available whenever the parking facility is operating.</a:t>
                      </a:r>
                    </a:p>
                  </a:txBody>
                  <a:tcPr marL="38338" marR="38338" marT="23961" marB="23961">
                    <a:lnL>
                      <a:noFill/>
                    </a:lnL>
                    <a:lnR>
                      <a:noFill/>
                    </a:lnR>
                    <a:lnT w="7620" cap="flat" cmpd="sng" algn="ctr">
                      <a:solidFill>
                        <a:srgbClr val="E4E4E4"/>
                      </a:solidFill>
                      <a:prstDash val="solid"/>
                      <a:round/>
                      <a:headEnd type="none" w="med" len="med"/>
                      <a:tailEnd type="none" w="med" len="med"/>
                    </a:lnT>
                    <a:lnB w="7620" cap="flat" cmpd="sng" algn="ctr">
                      <a:solidFill>
                        <a:srgbClr val="E4E4E4"/>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011736450"/>
                  </a:ext>
                </a:extLst>
              </a:tr>
              <a:tr h="352019">
                <a:tc>
                  <a:txBody>
                    <a:bodyPr/>
                    <a:lstStyle/>
                    <a:p>
                      <a:pPr algn="l" fontAlgn="t">
                        <a:buNone/>
                      </a:pPr>
                      <a:r>
                        <a:rPr lang="en-US" sz="1400" b="0" i="0">
                          <a:solidFill>
                            <a:srgbClr val="222222"/>
                          </a:solidFill>
                          <a:effectLst/>
                          <a:latin typeface="Times New Roman" panose="02020603050405020304" pitchFamily="18" charset="0"/>
                          <a:cs typeface="Times New Roman" panose="02020603050405020304" pitchFamily="18" charset="0"/>
                        </a:rPr>
                        <a:t>NFR-05</a:t>
                      </a:r>
                    </a:p>
                  </a:txBody>
                  <a:tcPr marL="38338" marR="38338" marT="23961" marB="23961">
                    <a:lnL>
                      <a:noFill/>
                    </a:lnL>
                    <a:lnR>
                      <a:noFill/>
                    </a:lnR>
                    <a:lnT w="7620" cap="flat" cmpd="sng" algn="ctr">
                      <a:solidFill>
                        <a:srgbClr val="E4E4E4"/>
                      </a:solidFill>
                      <a:prstDash val="solid"/>
                      <a:round/>
                      <a:headEnd type="none" w="med" len="med"/>
                      <a:tailEnd type="none" w="med" len="med"/>
                    </a:lnT>
                    <a:lnB w="7620" cap="flat" cmpd="sng" algn="ctr">
                      <a:solidFill>
                        <a:srgbClr val="E4E4E4"/>
                      </a:solidFill>
                      <a:prstDash val="solid"/>
                      <a:round/>
                      <a:headEnd type="none" w="med" len="med"/>
                      <a:tailEnd type="none" w="med" len="med"/>
                    </a:lnB>
                    <a:noFill/>
                  </a:tcPr>
                </a:tc>
                <a:tc>
                  <a:txBody>
                    <a:bodyPr/>
                    <a:lstStyle/>
                    <a:p>
                      <a:pPr algn="l" fontAlgn="t">
                        <a:buNone/>
                      </a:pPr>
                      <a:r>
                        <a:rPr lang="en-US" sz="1400" b="0" i="0" dirty="0">
                          <a:solidFill>
                            <a:srgbClr val="222222"/>
                          </a:solidFill>
                          <a:effectLst/>
                          <a:latin typeface="Times New Roman" panose="02020603050405020304" pitchFamily="18" charset="0"/>
                          <a:cs typeface="Times New Roman" panose="02020603050405020304" pitchFamily="18" charset="0"/>
                        </a:rPr>
                        <a:t>Usability</a:t>
                      </a:r>
                    </a:p>
                  </a:txBody>
                  <a:tcPr marL="38338" marR="38338" marT="23961" marB="23961">
                    <a:lnL>
                      <a:noFill/>
                    </a:lnL>
                    <a:lnR>
                      <a:noFill/>
                    </a:lnR>
                    <a:lnT w="7620" cap="flat" cmpd="sng" algn="ctr">
                      <a:solidFill>
                        <a:srgbClr val="E4E4E4"/>
                      </a:solidFill>
                      <a:prstDash val="solid"/>
                      <a:round/>
                      <a:headEnd type="none" w="med" len="med"/>
                      <a:tailEnd type="none" w="med" len="med"/>
                    </a:lnT>
                    <a:lnB w="7620" cap="flat" cmpd="sng" algn="ctr">
                      <a:solidFill>
                        <a:srgbClr val="E4E4E4"/>
                      </a:solidFill>
                      <a:prstDash val="solid"/>
                      <a:round/>
                      <a:headEnd type="none" w="med" len="med"/>
                      <a:tailEnd type="none" w="med" len="med"/>
                    </a:lnB>
                    <a:noFill/>
                  </a:tcPr>
                </a:tc>
                <a:tc>
                  <a:txBody>
                    <a:bodyPr/>
                    <a:lstStyle/>
                    <a:p>
                      <a:pPr algn="l" fontAlgn="t">
                        <a:buNone/>
                      </a:pPr>
                      <a:r>
                        <a:rPr lang="en-US" sz="1400" b="0" i="0" dirty="0">
                          <a:solidFill>
                            <a:srgbClr val="222222"/>
                          </a:solidFill>
                          <a:effectLst/>
                          <a:latin typeface="Times New Roman" panose="02020603050405020304" pitchFamily="18" charset="0"/>
                          <a:cs typeface="Times New Roman" panose="02020603050405020304" pitchFamily="18" charset="0"/>
                        </a:rPr>
                        <a:t>The system interface should be simple, clear, and easy for parking staff to use.</a:t>
                      </a:r>
                    </a:p>
                  </a:txBody>
                  <a:tcPr marL="38338" marR="38338" marT="23961" marB="23961">
                    <a:lnL>
                      <a:noFill/>
                    </a:lnL>
                    <a:lnR>
                      <a:noFill/>
                    </a:lnR>
                    <a:lnT w="7620" cap="flat" cmpd="sng" algn="ctr">
                      <a:solidFill>
                        <a:srgbClr val="E4E4E4"/>
                      </a:solidFill>
                      <a:prstDash val="solid"/>
                      <a:round/>
                      <a:headEnd type="none" w="med" len="med"/>
                      <a:tailEnd type="none" w="med" len="med"/>
                    </a:lnT>
                    <a:lnB w="7620" cap="flat" cmpd="sng" algn="ctr">
                      <a:solidFill>
                        <a:srgbClr val="E4E4E4"/>
                      </a:solidFill>
                      <a:prstDash val="solid"/>
                      <a:round/>
                      <a:headEnd type="none" w="med" len="med"/>
                      <a:tailEnd type="none" w="med" len="med"/>
                    </a:lnB>
                    <a:noFill/>
                  </a:tcPr>
                </a:tc>
                <a:extLst>
                  <a:ext uri="{0D108BD9-81ED-4DB2-BD59-A6C34878D82A}">
                    <a16:rowId xmlns:a16="http://schemas.microsoft.com/office/drawing/2014/main" val="3993165046"/>
                  </a:ext>
                </a:extLst>
              </a:tr>
              <a:tr h="352019">
                <a:tc>
                  <a:txBody>
                    <a:bodyPr/>
                    <a:lstStyle/>
                    <a:p>
                      <a:pPr algn="l" fontAlgn="t">
                        <a:buNone/>
                      </a:pPr>
                      <a:r>
                        <a:rPr lang="en-US" sz="1400" b="0" i="0">
                          <a:solidFill>
                            <a:srgbClr val="222222"/>
                          </a:solidFill>
                          <a:effectLst/>
                          <a:latin typeface="Times New Roman" panose="02020603050405020304" pitchFamily="18" charset="0"/>
                          <a:cs typeface="Times New Roman" panose="02020603050405020304" pitchFamily="18" charset="0"/>
                        </a:rPr>
                        <a:t>NFR-06</a:t>
                      </a:r>
                    </a:p>
                  </a:txBody>
                  <a:tcPr marL="38338" marR="38338" marT="23961" marB="23961">
                    <a:lnL>
                      <a:noFill/>
                    </a:lnL>
                    <a:lnR>
                      <a:noFill/>
                    </a:lnR>
                    <a:lnT w="7620" cap="flat" cmpd="sng" algn="ctr">
                      <a:solidFill>
                        <a:srgbClr val="E4E4E4"/>
                      </a:solidFill>
                      <a:prstDash val="solid"/>
                      <a:round/>
                      <a:headEnd type="none" w="med" len="med"/>
                      <a:tailEnd type="none" w="med" len="med"/>
                    </a:lnT>
                    <a:lnB w="7620" cap="flat" cmpd="sng" algn="ctr">
                      <a:solidFill>
                        <a:srgbClr val="E4E4E4"/>
                      </a:solidFill>
                      <a:prstDash val="solid"/>
                      <a:round/>
                      <a:headEnd type="none" w="med" len="med"/>
                      <a:tailEnd type="none" w="med" len="med"/>
                    </a:lnB>
                    <a:solidFill>
                      <a:schemeClr val="accent6">
                        <a:lumMod val="20000"/>
                        <a:lumOff val="80000"/>
                      </a:schemeClr>
                    </a:solidFill>
                  </a:tcPr>
                </a:tc>
                <a:tc>
                  <a:txBody>
                    <a:bodyPr/>
                    <a:lstStyle/>
                    <a:p>
                      <a:pPr algn="l" fontAlgn="t">
                        <a:buNone/>
                      </a:pPr>
                      <a:r>
                        <a:rPr lang="en-US" sz="1400" b="0" i="0" dirty="0">
                          <a:solidFill>
                            <a:srgbClr val="222222"/>
                          </a:solidFill>
                          <a:effectLst/>
                          <a:latin typeface="Times New Roman" panose="02020603050405020304" pitchFamily="18" charset="0"/>
                          <a:cs typeface="Times New Roman" panose="02020603050405020304" pitchFamily="18" charset="0"/>
                        </a:rPr>
                        <a:t>Scalability</a:t>
                      </a:r>
                    </a:p>
                  </a:txBody>
                  <a:tcPr marL="38338" marR="38338" marT="23961" marB="23961">
                    <a:lnL>
                      <a:noFill/>
                    </a:lnL>
                    <a:lnR>
                      <a:noFill/>
                    </a:lnR>
                    <a:lnT w="7620" cap="flat" cmpd="sng" algn="ctr">
                      <a:solidFill>
                        <a:srgbClr val="E4E4E4"/>
                      </a:solidFill>
                      <a:prstDash val="solid"/>
                      <a:round/>
                      <a:headEnd type="none" w="med" len="med"/>
                      <a:tailEnd type="none" w="med" len="med"/>
                    </a:lnT>
                    <a:lnB w="7620" cap="flat" cmpd="sng" algn="ctr">
                      <a:solidFill>
                        <a:srgbClr val="E4E4E4"/>
                      </a:solidFill>
                      <a:prstDash val="solid"/>
                      <a:round/>
                      <a:headEnd type="none" w="med" len="med"/>
                      <a:tailEnd type="none" w="med" len="med"/>
                    </a:lnB>
                    <a:solidFill>
                      <a:schemeClr val="accent6">
                        <a:lumMod val="20000"/>
                        <a:lumOff val="80000"/>
                      </a:schemeClr>
                    </a:solidFill>
                  </a:tcPr>
                </a:tc>
                <a:tc>
                  <a:txBody>
                    <a:bodyPr/>
                    <a:lstStyle/>
                    <a:p>
                      <a:pPr algn="l" fontAlgn="t">
                        <a:buNone/>
                      </a:pPr>
                      <a:r>
                        <a:rPr lang="en-US" sz="1400" b="0" i="0" dirty="0">
                          <a:solidFill>
                            <a:srgbClr val="222222"/>
                          </a:solidFill>
                          <a:effectLst/>
                          <a:latin typeface="Times New Roman" panose="02020603050405020304" pitchFamily="18" charset="0"/>
                          <a:cs typeface="Times New Roman" panose="02020603050405020304" pitchFamily="18" charset="0"/>
                        </a:rPr>
                        <a:t>The system should support an increasing number of users, vehicles, and parking slots.</a:t>
                      </a:r>
                    </a:p>
                  </a:txBody>
                  <a:tcPr marL="38338" marR="38338" marT="23961" marB="23961">
                    <a:lnL>
                      <a:noFill/>
                    </a:lnL>
                    <a:lnR>
                      <a:noFill/>
                    </a:lnR>
                    <a:lnT w="7620" cap="flat" cmpd="sng" algn="ctr">
                      <a:solidFill>
                        <a:srgbClr val="E4E4E4"/>
                      </a:solidFill>
                      <a:prstDash val="solid"/>
                      <a:round/>
                      <a:headEnd type="none" w="med" len="med"/>
                      <a:tailEnd type="none" w="med" len="med"/>
                    </a:lnT>
                    <a:lnB w="7620" cap="flat" cmpd="sng" algn="ctr">
                      <a:solidFill>
                        <a:srgbClr val="E4E4E4"/>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92285554"/>
                  </a:ext>
                </a:extLst>
              </a:tr>
              <a:tr h="352019">
                <a:tc>
                  <a:txBody>
                    <a:bodyPr/>
                    <a:lstStyle/>
                    <a:p>
                      <a:pPr algn="l" fontAlgn="t">
                        <a:buNone/>
                      </a:pPr>
                      <a:r>
                        <a:rPr lang="en-US" sz="1400" b="0" i="0">
                          <a:solidFill>
                            <a:srgbClr val="222222"/>
                          </a:solidFill>
                          <a:effectLst/>
                          <a:latin typeface="Times New Roman" panose="02020603050405020304" pitchFamily="18" charset="0"/>
                          <a:cs typeface="Times New Roman" panose="02020603050405020304" pitchFamily="18" charset="0"/>
                        </a:rPr>
                        <a:t>NFR-07</a:t>
                      </a:r>
                    </a:p>
                  </a:txBody>
                  <a:tcPr marL="38338" marR="38338" marT="23961" marB="23961">
                    <a:lnL>
                      <a:noFill/>
                    </a:lnL>
                    <a:lnR>
                      <a:noFill/>
                    </a:lnR>
                    <a:lnT w="7620" cap="flat" cmpd="sng" algn="ctr">
                      <a:solidFill>
                        <a:srgbClr val="E4E4E4"/>
                      </a:solidFill>
                      <a:prstDash val="solid"/>
                      <a:round/>
                      <a:headEnd type="none" w="med" len="med"/>
                      <a:tailEnd type="none" w="med" len="med"/>
                    </a:lnT>
                    <a:lnB w="7620" cap="flat" cmpd="sng" algn="ctr">
                      <a:solidFill>
                        <a:srgbClr val="E4E4E4"/>
                      </a:solidFill>
                      <a:prstDash val="solid"/>
                      <a:round/>
                      <a:headEnd type="none" w="med" len="med"/>
                      <a:tailEnd type="none" w="med" len="med"/>
                    </a:lnB>
                    <a:noFill/>
                  </a:tcPr>
                </a:tc>
                <a:tc>
                  <a:txBody>
                    <a:bodyPr/>
                    <a:lstStyle/>
                    <a:p>
                      <a:pPr algn="l" fontAlgn="t">
                        <a:buNone/>
                      </a:pPr>
                      <a:r>
                        <a:rPr lang="en-US" sz="1400" b="0" i="0">
                          <a:solidFill>
                            <a:srgbClr val="222222"/>
                          </a:solidFill>
                          <a:effectLst/>
                          <a:latin typeface="Times New Roman" panose="02020603050405020304" pitchFamily="18" charset="0"/>
                          <a:cs typeface="Times New Roman" panose="02020603050405020304" pitchFamily="18" charset="0"/>
                        </a:rPr>
                        <a:t>Maintainability</a:t>
                      </a:r>
                    </a:p>
                  </a:txBody>
                  <a:tcPr marL="38338" marR="38338" marT="23961" marB="23961">
                    <a:lnL>
                      <a:noFill/>
                    </a:lnL>
                    <a:lnR>
                      <a:noFill/>
                    </a:lnR>
                    <a:lnT w="7620" cap="flat" cmpd="sng" algn="ctr">
                      <a:solidFill>
                        <a:srgbClr val="E4E4E4"/>
                      </a:solidFill>
                      <a:prstDash val="solid"/>
                      <a:round/>
                      <a:headEnd type="none" w="med" len="med"/>
                      <a:tailEnd type="none" w="med" len="med"/>
                    </a:lnT>
                    <a:lnB w="7620" cap="flat" cmpd="sng" algn="ctr">
                      <a:solidFill>
                        <a:srgbClr val="E4E4E4"/>
                      </a:solidFill>
                      <a:prstDash val="solid"/>
                      <a:round/>
                      <a:headEnd type="none" w="med" len="med"/>
                      <a:tailEnd type="none" w="med" len="med"/>
                    </a:lnB>
                    <a:noFill/>
                  </a:tcPr>
                </a:tc>
                <a:tc>
                  <a:txBody>
                    <a:bodyPr/>
                    <a:lstStyle/>
                    <a:p>
                      <a:pPr algn="l" fontAlgn="t">
                        <a:buNone/>
                      </a:pPr>
                      <a:r>
                        <a:rPr lang="en-US" sz="1400" b="0" i="0">
                          <a:solidFill>
                            <a:srgbClr val="222222"/>
                          </a:solidFill>
                          <a:effectLst/>
                          <a:latin typeface="Times New Roman" panose="02020603050405020304" pitchFamily="18" charset="0"/>
                          <a:cs typeface="Times New Roman" panose="02020603050405020304" pitchFamily="18" charset="0"/>
                        </a:rPr>
                        <a:t>The system should be easy to maintain, update, and modify when requirements change.</a:t>
                      </a:r>
                    </a:p>
                  </a:txBody>
                  <a:tcPr marL="38338" marR="38338" marT="23961" marB="23961">
                    <a:lnL>
                      <a:noFill/>
                    </a:lnL>
                    <a:lnR>
                      <a:noFill/>
                    </a:lnR>
                    <a:lnT w="7620" cap="flat" cmpd="sng" algn="ctr">
                      <a:solidFill>
                        <a:srgbClr val="E4E4E4"/>
                      </a:solidFill>
                      <a:prstDash val="solid"/>
                      <a:round/>
                      <a:headEnd type="none" w="med" len="med"/>
                      <a:tailEnd type="none" w="med" len="med"/>
                    </a:lnT>
                    <a:lnB w="7620" cap="flat" cmpd="sng" algn="ctr">
                      <a:solidFill>
                        <a:srgbClr val="E4E4E4"/>
                      </a:solidFill>
                      <a:prstDash val="solid"/>
                      <a:round/>
                      <a:headEnd type="none" w="med" len="med"/>
                      <a:tailEnd type="none" w="med" len="med"/>
                    </a:lnB>
                    <a:noFill/>
                  </a:tcPr>
                </a:tc>
                <a:extLst>
                  <a:ext uri="{0D108BD9-81ED-4DB2-BD59-A6C34878D82A}">
                    <a16:rowId xmlns:a16="http://schemas.microsoft.com/office/drawing/2014/main" val="2028200952"/>
                  </a:ext>
                </a:extLst>
              </a:tr>
              <a:tr h="352019">
                <a:tc>
                  <a:txBody>
                    <a:bodyPr/>
                    <a:lstStyle/>
                    <a:p>
                      <a:pPr algn="l" fontAlgn="t">
                        <a:buNone/>
                      </a:pPr>
                      <a:r>
                        <a:rPr lang="en-US" sz="1400" b="0" i="0">
                          <a:solidFill>
                            <a:srgbClr val="222222"/>
                          </a:solidFill>
                          <a:effectLst/>
                          <a:latin typeface="Times New Roman" panose="02020603050405020304" pitchFamily="18" charset="0"/>
                          <a:cs typeface="Times New Roman" panose="02020603050405020304" pitchFamily="18" charset="0"/>
                        </a:rPr>
                        <a:t>NFR-08</a:t>
                      </a:r>
                    </a:p>
                  </a:txBody>
                  <a:tcPr marL="38338" marR="38338" marT="23961" marB="23961">
                    <a:lnL>
                      <a:noFill/>
                    </a:lnL>
                    <a:lnR>
                      <a:noFill/>
                    </a:lnR>
                    <a:lnT w="7620" cap="flat" cmpd="sng" algn="ctr">
                      <a:solidFill>
                        <a:srgbClr val="E4E4E4"/>
                      </a:solidFill>
                      <a:prstDash val="solid"/>
                      <a:round/>
                      <a:headEnd type="none" w="med" len="med"/>
                      <a:tailEnd type="none" w="med" len="med"/>
                    </a:lnT>
                    <a:lnB w="7620" cap="flat" cmpd="sng" algn="ctr">
                      <a:solidFill>
                        <a:srgbClr val="E4E4E4"/>
                      </a:solidFill>
                      <a:prstDash val="solid"/>
                      <a:round/>
                      <a:headEnd type="none" w="med" len="med"/>
                      <a:tailEnd type="none" w="med" len="med"/>
                    </a:lnB>
                    <a:solidFill>
                      <a:schemeClr val="accent6">
                        <a:lumMod val="20000"/>
                        <a:lumOff val="80000"/>
                      </a:schemeClr>
                    </a:solidFill>
                  </a:tcPr>
                </a:tc>
                <a:tc>
                  <a:txBody>
                    <a:bodyPr/>
                    <a:lstStyle/>
                    <a:p>
                      <a:pPr algn="l" fontAlgn="t">
                        <a:buNone/>
                      </a:pPr>
                      <a:r>
                        <a:rPr lang="en-US" sz="1400" b="0" i="0">
                          <a:solidFill>
                            <a:srgbClr val="222222"/>
                          </a:solidFill>
                          <a:effectLst/>
                          <a:latin typeface="Times New Roman" panose="02020603050405020304" pitchFamily="18" charset="0"/>
                          <a:cs typeface="Times New Roman" panose="02020603050405020304" pitchFamily="18" charset="0"/>
                        </a:rPr>
                        <a:t>Data Integrity</a:t>
                      </a:r>
                    </a:p>
                  </a:txBody>
                  <a:tcPr marL="38338" marR="38338" marT="23961" marB="23961">
                    <a:lnL>
                      <a:noFill/>
                    </a:lnL>
                    <a:lnR>
                      <a:noFill/>
                    </a:lnR>
                    <a:lnT w="7620" cap="flat" cmpd="sng" algn="ctr">
                      <a:solidFill>
                        <a:srgbClr val="E4E4E4"/>
                      </a:solidFill>
                      <a:prstDash val="solid"/>
                      <a:round/>
                      <a:headEnd type="none" w="med" len="med"/>
                      <a:tailEnd type="none" w="med" len="med"/>
                    </a:lnT>
                    <a:lnB w="7620" cap="flat" cmpd="sng" algn="ctr">
                      <a:solidFill>
                        <a:srgbClr val="E4E4E4"/>
                      </a:solidFill>
                      <a:prstDash val="solid"/>
                      <a:round/>
                      <a:headEnd type="none" w="med" len="med"/>
                      <a:tailEnd type="none" w="med" len="med"/>
                    </a:lnB>
                    <a:solidFill>
                      <a:schemeClr val="accent6">
                        <a:lumMod val="20000"/>
                        <a:lumOff val="80000"/>
                      </a:schemeClr>
                    </a:solidFill>
                  </a:tcPr>
                </a:tc>
                <a:tc>
                  <a:txBody>
                    <a:bodyPr/>
                    <a:lstStyle/>
                    <a:p>
                      <a:pPr algn="l" fontAlgn="t">
                        <a:buNone/>
                      </a:pPr>
                      <a:r>
                        <a:rPr lang="en-US" sz="1400" b="0" i="0" dirty="0">
                          <a:solidFill>
                            <a:srgbClr val="222222"/>
                          </a:solidFill>
                          <a:effectLst/>
                          <a:latin typeface="Times New Roman" panose="02020603050405020304" pitchFamily="18" charset="0"/>
                          <a:cs typeface="Times New Roman" panose="02020603050405020304" pitchFamily="18" charset="0"/>
                        </a:rPr>
                        <a:t>The system shall maintain accurate and consistent parking and payment information.</a:t>
                      </a:r>
                    </a:p>
                  </a:txBody>
                  <a:tcPr marL="38338" marR="38338" marT="23961" marB="23961">
                    <a:lnL>
                      <a:noFill/>
                    </a:lnL>
                    <a:lnR>
                      <a:noFill/>
                    </a:lnR>
                    <a:lnT w="7620" cap="flat" cmpd="sng" algn="ctr">
                      <a:solidFill>
                        <a:srgbClr val="E4E4E4"/>
                      </a:solidFill>
                      <a:prstDash val="solid"/>
                      <a:round/>
                      <a:headEnd type="none" w="med" len="med"/>
                      <a:tailEnd type="none" w="med" len="med"/>
                    </a:lnT>
                    <a:lnB w="7620" cap="flat" cmpd="sng" algn="ctr">
                      <a:solidFill>
                        <a:srgbClr val="E4E4E4"/>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456624443"/>
                  </a:ext>
                </a:extLst>
              </a:tr>
              <a:tr h="352019">
                <a:tc>
                  <a:txBody>
                    <a:bodyPr/>
                    <a:lstStyle/>
                    <a:p>
                      <a:pPr algn="l" fontAlgn="t">
                        <a:buNone/>
                      </a:pPr>
                      <a:r>
                        <a:rPr lang="en-US" sz="1400" b="0" i="0">
                          <a:solidFill>
                            <a:srgbClr val="222222"/>
                          </a:solidFill>
                          <a:effectLst/>
                          <a:latin typeface="Times New Roman" panose="02020603050405020304" pitchFamily="18" charset="0"/>
                          <a:cs typeface="Times New Roman" panose="02020603050405020304" pitchFamily="18" charset="0"/>
                        </a:rPr>
                        <a:t>NFR-09</a:t>
                      </a:r>
                    </a:p>
                  </a:txBody>
                  <a:tcPr marL="38338" marR="38338" marT="23961" marB="23961">
                    <a:lnL>
                      <a:noFill/>
                    </a:lnL>
                    <a:lnR>
                      <a:noFill/>
                    </a:lnR>
                    <a:lnT w="7620" cap="flat" cmpd="sng" algn="ctr">
                      <a:solidFill>
                        <a:srgbClr val="E4E4E4"/>
                      </a:solidFill>
                      <a:prstDash val="solid"/>
                      <a:round/>
                      <a:headEnd type="none" w="med" len="med"/>
                      <a:tailEnd type="none" w="med" len="med"/>
                    </a:lnT>
                    <a:lnB w="7620" cap="flat" cmpd="sng" algn="ctr">
                      <a:solidFill>
                        <a:srgbClr val="E4E4E4"/>
                      </a:solidFill>
                      <a:prstDash val="solid"/>
                      <a:round/>
                      <a:headEnd type="none" w="med" len="med"/>
                      <a:tailEnd type="none" w="med" len="med"/>
                    </a:lnB>
                    <a:noFill/>
                  </a:tcPr>
                </a:tc>
                <a:tc>
                  <a:txBody>
                    <a:bodyPr/>
                    <a:lstStyle/>
                    <a:p>
                      <a:pPr algn="l" fontAlgn="t">
                        <a:buNone/>
                      </a:pPr>
                      <a:r>
                        <a:rPr lang="en-US" sz="1400" b="0" i="0">
                          <a:solidFill>
                            <a:srgbClr val="222222"/>
                          </a:solidFill>
                          <a:effectLst/>
                          <a:latin typeface="Times New Roman" panose="02020603050405020304" pitchFamily="18" charset="0"/>
                          <a:cs typeface="Times New Roman" panose="02020603050405020304" pitchFamily="18" charset="0"/>
                        </a:rPr>
                        <a:t>Backup and Recovery</a:t>
                      </a:r>
                    </a:p>
                  </a:txBody>
                  <a:tcPr marL="38338" marR="38338" marT="23961" marB="23961">
                    <a:lnL>
                      <a:noFill/>
                    </a:lnL>
                    <a:lnR>
                      <a:noFill/>
                    </a:lnR>
                    <a:lnT w="7620" cap="flat" cmpd="sng" algn="ctr">
                      <a:solidFill>
                        <a:srgbClr val="E4E4E4"/>
                      </a:solidFill>
                      <a:prstDash val="solid"/>
                      <a:round/>
                      <a:headEnd type="none" w="med" len="med"/>
                      <a:tailEnd type="none" w="med" len="med"/>
                    </a:lnT>
                    <a:lnB w="7620" cap="flat" cmpd="sng" algn="ctr">
                      <a:solidFill>
                        <a:srgbClr val="E4E4E4"/>
                      </a:solidFill>
                      <a:prstDash val="solid"/>
                      <a:round/>
                      <a:headEnd type="none" w="med" len="med"/>
                      <a:tailEnd type="none" w="med" len="med"/>
                    </a:lnB>
                    <a:noFill/>
                  </a:tcPr>
                </a:tc>
                <a:tc>
                  <a:txBody>
                    <a:bodyPr/>
                    <a:lstStyle/>
                    <a:p>
                      <a:pPr algn="l" fontAlgn="t">
                        <a:buNone/>
                      </a:pPr>
                      <a:r>
                        <a:rPr lang="en-US" sz="1400" b="0" i="0">
                          <a:solidFill>
                            <a:srgbClr val="222222"/>
                          </a:solidFill>
                          <a:effectLst/>
                          <a:latin typeface="Times New Roman" panose="02020603050405020304" pitchFamily="18" charset="0"/>
                          <a:cs typeface="Times New Roman" panose="02020603050405020304" pitchFamily="18" charset="0"/>
                        </a:rPr>
                        <a:t>The system should regularly back up important data and allow recovery after system failure.</a:t>
                      </a:r>
                    </a:p>
                  </a:txBody>
                  <a:tcPr marL="38338" marR="38338" marT="23961" marB="23961">
                    <a:lnL>
                      <a:noFill/>
                    </a:lnL>
                    <a:lnR>
                      <a:noFill/>
                    </a:lnR>
                    <a:lnT w="7620" cap="flat" cmpd="sng" algn="ctr">
                      <a:solidFill>
                        <a:srgbClr val="E4E4E4"/>
                      </a:solidFill>
                      <a:prstDash val="solid"/>
                      <a:round/>
                      <a:headEnd type="none" w="med" len="med"/>
                      <a:tailEnd type="none" w="med" len="med"/>
                    </a:lnT>
                    <a:lnB w="7620" cap="flat" cmpd="sng" algn="ctr">
                      <a:solidFill>
                        <a:srgbClr val="E4E4E4"/>
                      </a:solidFill>
                      <a:prstDash val="solid"/>
                      <a:round/>
                      <a:headEnd type="none" w="med" len="med"/>
                      <a:tailEnd type="none" w="med" len="med"/>
                    </a:lnB>
                    <a:noFill/>
                  </a:tcPr>
                </a:tc>
                <a:extLst>
                  <a:ext uri="{0D108BD9-81ED-4DB2-BD59-A6C34878D82A}">
                    <a16:rowId xmlns:a16="http://schemas.microsoft.com/office/drawing/2014/main" val="3018817303"/>
                  </a:ext>
                </a:extLst>
              </a:tr>
              <a:tr h="352019">
                <a:tc>
                  <a:txBody>
                    <a:bodyPr/>
                    <a:lstStyle/>
                    <a:p>
                      <a:pPr algn="l" fontAlgn="t">
                        <a:buNone/>
                      </a:pPr>
                      <a:r>
                        <a:rPr lang="en-US" sz="1400" b="0" i="0">
                          <a:solidFill>
                            <a:srgbClr val="222222"/>
                          </a:solidFill>
                          <a:effectLst/>
                          <a:latin typeface="Times New Roman" panose="02020603050405020304" pitchFamily="18" charset="0"/>
                          <a:cs typeface="Times New Roman" panose="02020603050405020304" pitchFamily="18" charset="0"/>
                        </a:rPr>
                        <a:t>NFR-10</a:t>
                      </a:r>
                    </a:p>
                  </a:txBody>
                  <a:tcPr marL="38338" marR="38338" marT="23961" marB="23961">
                    <a:lnL>
                      <a:noFill/>
                    </a:lnL>
                    <a:lnR>
                      <a:noFill/>
                    </a:lnR>
                    <a:lnT w="7620" cap="flat" cmpd="sng" algn="ctr">
                      <a:solidFill>
                        <a:srgbClr val="E4E4E4"/>
                      </a:solidFill>
                      <a:prstDash val="solid"/>
                      <a:round/>
                      <a:headEnd type="none" w="med" len="med"/>
                      <a:tailEnd type="none" w="med" len="med"/>
                    </a:lnT>
                    <a:lnB w="7620" cap="flat" cmpd="sng" algn="ctr">
                      <a:solidFill>
                        <a:srgbClr val="E4E4E4"/>
                      </a:solidFill>
                      <a:prstDash val="solid"/>
                      <a:round/>
                      <a:headEnd type="none" w="med" len="med"/>
                      <a:tailEnd type="none" w="med" len="med"/>
                    </a:lnB>
                    <a:solidFill>
                      <a:schemeClr val="accent6">
                        <a:lumMod val="20000"/>
                        <a:lumOff val="80000"/>
                      </a:schemeClr>
                    </a:solidFill>
                  </a:tcPr>
                </a:tc>
                <a:tc>
                  <a:txBody>
                    <a:bodyPr/>
                    <a:lstStyle/>
                    <a:p>
                      <a:pPr algn="l" fontAlgn="t">
                        <a:buNone/>
                      </a:pPr>
                      <a:r>
                        <a:rPr lang="en-US" sz="1400" b="0" i="0">
                          <a:solidFill>
                            <a:srgbClr val="222222"/>
                          </a:solidFill>
                          <a:effectLst/>
                          <a:latin typeface="Times New Roman" panose="02020603050405020304" pitchFamily="18" charset="0"/>
                          <a:cs typeface="Times New Roman" panose="02020603050405020304" pitchFamily="18" charset="0"/>
                        </a:rPr>
                        <a:t>Compatibility</a:t>
                      </a:r>
                    </a:p>
                  </a:txBody>
                  <a:tcPr marL="38338" marR="38338" marT="23961" marB="23961">
                    <a:lnL>
                      <a:noFill/>
                    </a:lnL>
                    <a:lnR>
                      <a:noFill/>
                    </a:lnR>
                    <a:lnT w="7620" cap="flat" cmpd="sng" algn="ctr">
                      <a:solidFill>
                        <a:srgbClr val="E4E4E4"/>
                      </a:solidFill>
                      <a:prstDash val="solid"/>
                      <a:round/>
                      <a:headEnd type="none" w="med" len="med"/>
                      <a:tailEnd type="none" w="med" len="med"/>
                    </a:lnT>
                    <a:lnB w="7620" cap="flat" cmpd="sng" algn="ctr">
                      <a:solidFill>
                        <a:srgbClr val="E4E4E4"/>
                      </a:solidFill>
                      <a:prstDash val="solid"/>
                      <a:round/>
                      <a:headEnd type="none" w="med" len="med"/>
                      <a:tailEnd type="none" w="med" len="med"/>
                    </a:lnB>
                    <a:solidFill>
                      <a:schemeClr val="accent6">
                        <a:lumMod val="20000"/>
                        <a:lumOff val="80000"/>
                      </a:schemeClr>
                    </a:solidFill>
                  </a:tcPr>
                </a:tc>
                <a:tc>
                  <a:txBody>
                    <a:bodyPr/>
                    <a:lstStyle/>
                    <a:p>
                      <a:pPr algn="l" fontAlgn="t">
                        <a:buNone/>
                      </a:pPr>
                      <a:r>
                        <a:rPr lang="en-US" sz="1400" b="0" i="0" dirty="0">
                          <a:solidFill>
                            <a:srgbClr val="222222"/>
                          </a:solidFill>
                          <a:effectLst/>
                          <a:latin typeface="Times New Roman" panose="02020603050405020304" pitchFamily="18" charset="0"/>
                          <a:cs typeface="Times New Roman" panose="02020603050405020304" pitchFamily="18" charset="0"/>
                        </a:rPr>
                        <a:t>The system should work correctly on commonly used modern web browsers and supported devices.</a:t>
                      </a:r>
                    </a:p>
                  </a:txBody>
                  <a:tcPr marL="38338" marR="38338" marT="23961" marB="23961">
                    <a:lnL>
                      <a:noFill/>
                    </a:lnL>
                    <a:lnR>
                      <a:noFill/>
                    </a:lnR>
                    <a:lnT w="7620" cap="flat" cmpd="sng" algn="ctr">
                      <a:solidFill>
                        <a:srgbClr val="E4E4E4"/>
                      </a:solidFill>
                      <a:prstDash val="solid"/>
                      <a:round/>
                      <a:headEnd type="none" w="med" len="med"/>
                      <a:tailEnd type="none" w="med" len="med"/>
                    </a:lnT>
                    <a:lnB w="7620" cap="flat" cmpd="sng" algn="ctr">
                      <a:solidFill>
                        <a:srgbClr val="E4E4E4"/>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403979824"/>
                  </a:ext>
                </a:extLst>
              </a:tr>
            </a:tbl>
          </a:graphicData>
        </a:graphic>
      </p:graphicFrame>
    </p:spTree>
    <p:extLst>
      <p:ext uri="{BB962C8B-B14F-4D97-AF65-F5344CB8AC3E}">
        <p14:creationId xmlns:p14="http://schemas.microsoft.com/office/powerpoint/2010/main" val="8633167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04  DOCUMENTATION &amp; DESIGN</a:t>
            </a:r>
            <a:endParaRPr lang="en-US" sz="13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Modelling the System: UML Diagrams</a:t>
            </a:r>
            <a:endParaRPr lang="en-US" sz="3000" dirty="0"/>
          </a:p>
        </p:txBody>
      </p:sp>
      <p:sp>
        <p:nvSpPr>
          <p:cNvPr id="4" name="Text 2"/>
          <p:cNvSpPr/>
          <p:nvPr/>
        </p:nvSpPr>
        <p:spPr>
          <a:xfrm>
            <a:off x="563880" y="1266444"/>
            <a:ext cx="11064240" cy="685800"/>
          </a:xfrm>
          <a:prstGeom prst="rect">
            <a:avLst/>
          </a:prstGeom>
          <a:noFill/>
          <a:ln/>
        </p:spPr>
        <p:txBody>
          <a:bodyPr wrap="square" lIns="0" tIns="0" rIns="0" bIns="0" rtlCol="0" anchor="ctr"/>
          <a:lstStyle/>
          <a:p>
            <a:pPr>
              <a:lnSpc>
                <a:spcPct val="150000"/>
              </a:lnSpc>
            </a:pPr>
            <a:r>
              <a:rPr lang="en-US" sz="1400" dirty="0">
                <a:latin typeface="Times New Roman" panose="02020603050405020304" pitchFamily="18" charset="0"/>
                <a:cs typeface="Times New Roman" panose="02020603050405020304" pitchFamily="18" charset="0"/>
              </a:rPr>
              <a:t>UML (Unified Modeling Language) is a standard way to use diagrams to show how a system works. Different UML diagrams help us understand different parts of a system, such as its requirements, structure, activities, and behavior.</a:t>
            </a:r>
          </a:p>
        </p:txBody>
      </p:sp>
      <p:sp>
        <p:nvSpPr>
          <p:cNvPr id="5" name="Shape 3"/>
          <p:cNvSpPr/>
          <p:nvPr/>
        </p:nvSpPr>
        <p:spPr>
          <a:xfrm>
            <a:off x="548640" y="2331720"/>
            <a:ext cx="2697480" cy="3703320"/>
          </a:xfrm>
          <a:prstGeom prst="roundRect">
            <a:avLst>
              <a:gd name="adj" fmla="val 2712"/>
            </a:avLst>
          </a:prstGeom>
          <a:solidFill>
            <a:srgbClr val="FFFFFF"/>
          </a:solidFill>
          <a:ln w="12700">
            <a:solidFill>
              <a:srgbClr val="DCE6EA"/>
            </a:solidFill>
            <a:prstDash val="solid"/>
          </a:ln>
        </p:spPr>
      </p:sp>
      <p:sp>
        <p:nvSpPr>
          <p:cNvPr id="6" name="Shape 4"/>
          <p:cNvSpPr/>
          <p:nvPr/>
        </p:nvSpPr>
        <p:spPr>
          <a:xfrm>
            <a:off x="1554480" y="2537460"/>
            <a:ext cx="685800" cy="685800"/>
          </a:xfrm>
          <a:prstGeom prst="ellipse">
            <a:avLst/>
          </a:prstGeom>
          <a:solidFill>
            <a:srgbClr val="065A82"/>
          </a:solidFill>
          <a:ln/>
        </p:spPr>
      </p:sp>
      <p:sp>
        <p:nvSpPr>
          <p:cNvPr id="7" name="Text 5"/>
          <p:cNvSpPr/>
          <p:nvPr/>
        </p:nvSpPr>
        <p:spPr>
          <a:xfrm>
            <a:off x="1554480" y="2537460"/>
            <a:ext cx="685800" cy="6858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UC</a:t>
            </a:r>
            <a:endParaRPr lang="en-US" sz="1500" dirty="0"/>
          </a:p>
        </p:txBody>
      </p:sp>
      <p:sp>
        <p:nvSpPr>
          <p:cNvPr id="8" name="Text 6"/>
          <p:cNvSpPr/>
          <p:nvPr/>
        </p:nvSpPr>
        <p:spPr>
          <a:xfrm>
            <a:off x="731520" y="3429000"/>
            <a:ext cx="2331720" cy="502920"/>
          </a:xfrm>
          <a:prstGeom prst="rect">
            <a:avLst/>
          </a:prstGeom>
          <a:noFill/>
          <a:ln/>
        </p:spPr>
        <p:txBody>
          <a:bodyPr wrap="square" lIns="0" tIns="0" rIns="0" bIns="0" rtlCol="0" anchor="ctr"/>
          <a:lstStyle/>
          <a:p>
            <a:pPr marL="0" indent="0" algn="ctr">
              <a:buNone/>
            </a:pPr>
            <a:r>
              <a:rPr lang="en-US" sz="1350" b="1" dirty="0">
                <a:solidFill>
                  <a:srgbClr val="21295C"/>
                </a:solidFill>
                <a:latin typeface="Cambria" pitchFamily="34" charset="0"/>
                <a:ea typeface="Cambria" pitchFamily="34" charset="-122"/>
                <a:cs typeface="Cambria" pitchFamily="34" charset="-120"/>
              </a:rPr>
              <a:t>Use Case Diagram</a:t>
            </a:r>
            <a:endParaRPr lang="en-US" sz="1350" dirty="0"/>
          </a:p>
        </p:txBody>
      </p:sp>
      <p:sp>
        <p:nvSpPr>
          <p:cNvPr id="9" name="Text 7"/>
          <p:cNvSpPr/>
          <p:nvPr/>
        </p:nvSpPr>
        <p:spPr>
          <a:xfrm>
            <a:off x="777240" y="3977640"/>
            <a:ext cx="2240280" cy="1126205"/>
          </a:xfrm>
          <a:prstGeom prst="rect">
            <a:avLst/>
          </a:prstGeom>
          <a:noFill/>
          <a:ln/>
        </p:spPr>
        <p:txBody>
          <a:bodyPr wrap="square" lIns="0" tIns="0" rIns="0" bIns="0" rtlCol="0" anchor="t"/>
          <a:lstStyle/>
          <a:p>
            <a:pPr algn="ctr">
              <a:lnSpc>
                <a:spcPct val="115000"/>
              </a:lnSpc>
            </a:pPr>
            <a:r>
              <a:rPr lang="en-US" sz="1400" dirty="0">
                <a:latin typeface="Times New Roman" panose="02020603050405020304" pitchFamily="18" charset="0"/>
                <a:cs typeface="Times New Roman" panose="02020603050405020304" pitchFamily="18" charset="0"/>
              </a:rPr>
              <a:t>Shows the different users, such as driver, staff, and admin, and the functions they can perform in the system.</a:t>
            </a:r>
          </a:p>
        </p:txBody>
      </p:sp>
      <p:sp>
        <p:nvSpPr>
          <p:cNvPr id="10" name="Shape 8"/>
          <p:cNvSpPr/>
          <p:nvPr/>
        </p:nvSpPr>
        <p:spPr>
          <a:xfrm>
            <a:off x="3410712" y="2331720"/>
            <a:ext cx="2697480" cy="3703320"/>
          </a:xfrm>
          <a:prstGeom prst="roundRect">
            <a:avLst>
              <a:gd name="adj" fmla="val 2712"/>
            </a:avLst>
          </a:prstGeom>
          <a:solidFill>
            <a:srgbClr val="FFFFFF"/>
          </a:solidFill>
          <a:ln w="12700">
            <a:solidFill>
              <a:srgbClr val="DCE6EA"/>
            </a:solidFill>
            <a:prstDash val="solid"/>
          </a:ln>
        </p:spPr>
      </p:sp>
      <p:sp>
        <p:nvSpPr>
          <p:cNvPr id="11" name="Shape 9"/>
          <p:cNvSpPr/>
          <p:nvPr/>
        </p:nvSpPr>
        <p:spPr>
          <a:xfrm>
            <a:off x="4416552" y="2537460"/>
            <a:ext cx="685800" cy="685800"/>
          </a:xfrm>
          <a:prstGeom prst="ellipse">
            <a:avLst/>
          </a:prstGeom>
          <a:solidFill>
            <a:srgbClr val="065A82"/>
          </a:solidFill>
          <a:ln/>
        </p:spPr>
      </p:sp>
      <p:sp>
        <p:nvSpPr>
          <p:cNvPr id="12" name="Text 10"/>
          <p:cNvSpPr/>
          <p:nvPr/>
        </p:nvSpPr>
        <p:spPr>
          <a:xfrm>
            <a:off x="4416552" y="2537460"/>
            <a:ext cx="685800" cy="6858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CL</a:t>
            </a:r>
            <a:endParaRPr lang="en-US" sz="1500" dirty="0"/>
          </a:p>
        </p:txBody>
      </p:sp>
      <p:sp>
        <p:nvSpPr>
          <p:cNvPr id="13" name="Text 11"/>
          <p:cNvSpPr/>
          <p:nvPr/>
        </p:nvSpPr>
        <p:spPr>
          <a:xfrm>
            <a:off x="3593592" y="3429000"/>
            <a:ext cx="2331720" cy="502920"/>
          </a:xfrm>
          <a:prstGeom prst="rect">
            <a:avLst/>
          </a:prstGeom>
          <a:noFill/>
          <a:ln/>
        </p:spPr>
        <p:txBody>
          <a:bodyPr wrap="square" lIns="0" tIns="0" rIns="0" bIns="0" rtlCol="0" anchor="ctr"/>
          <a:lstStyle/>
          <a:p>
            <a:pPr marL="0" indent="0" algn="ctr">
              <a:buNone/>
            </a:pPr>
            <a:r>
              <a:rPr lang="en-US" sz="1350" b="1" dirty="0">
                <a:solidFill>
                  <a:srgbClr val="21295C"/>
                </a:solidFill>
                <a:latin typeface="Cambria" pitchFamily="34" charset="0"/>
                <a:ea typeface="Cambria" pitchFamily="34" charset="-122"/>
                <a:cs typeface="Cambria" pitchFamily="34" charset="-120"/>
              </a:rPr>
              <a:t>Class Diagram</a:t>
            </a:r>
            <a:endParaRPr lang="en-US" sz="1350" dirty="0"/>
          </a:p>
        </p:txBody>
      </p:sp>
      <p:sp>
        <p:nvSpPr>
          <p:cNvPr id="14" name="Text 12"/>
          <p:cNvSpPr/>
          <p:nvPr/>
        </p:nvSpPr>
        <p:spPr>
          <a:xfrm>
            <a:off x="3639312" y="3977640"/>
            <a:ext cx="2240280" cy="1613916"/>
          </a:xfrm>
          <a:prstGeom prst="rect">
            <a:avLst/>
          </a:prstGeom>
          <a:noFill/>
          <a:ln/>
        </p:spPr>
        <p:txBody>
          <a:bodyPr wrap="square" lIns="0" tIns="0" rIns="0" bIns="0" rtlCol="0" anchor="t"/>
          <a:lstStyle/>
          <a:p>
            <a:pPr algn="ctr"/>
            <a:r>
              <a:rPr lang="en-US" sz="1400" dirty="0">
                <a:latin typeface="Times New Roman" panose="02020603050405020304" pitchFamily="18" charset="0"/>
                <a:cs typeface="Times New Roman" panose="02020603050405020304" pitchFamily="18" charset="0"/>
              </a:rPr>
              <a:t>Shows the main parts of the system, their information and functions, and how they are connected. For example, Vehicle, Slot, and Ticket are classes in a Parking Management System.</a:t>
            </a:r>
          </a:p>
        </p:txBody>
      </p:sp>
      <p:sp>
        <p:nvSpPr>
          <p:cNvPr id="15" name="Shape 13"/>
          <p:cNvSpPr/>
          <p:nvPr/>
        </p:nvSpPr>
        <p:spPr>
          <a:xfrm>
            <a:off x="6272784" y="2331720"/>
            <a:ext cx="2697480" cy="3703320"/>
          </a:xfrm>
          <a:prstGeom prst="roundRect">
            <a:avLst>
              <a:gd name="adj" fmla="val 2712"/>
            </a:avLst>
          </a:prstGeom>
          <a:solidFill>
            <a:srgbClr val="FFFFFF"/>
          </a:solidFill>
          <a:ln w="12700">
            <a:solidFill>
              <a:srgbClr val="DCE6EA"/>
            </a:solidFill>
            <a:prstDash val="solid"/>
          </a:ln>
        </p:spPr>
      </p:sp>
      <p:sp>
        <p:nvSpPr>
          <p:cNvPr id="16" name="Shape 14"/>
          <p:cNvSpPr/>
          <p:nvPr/>
        </p:nvSpPr>
        <p:spPr>
          <a:xfrm>
            <a:off x="7278624" y="2537460"/>
            <a:ext cx="685800" cy="685800"/>
          </a:xfrm>
          <a:prstGeom prst="ellipse">
            <a:avLst/>
          </a:prstGeom>
          <a:solidFill>
            <a:srgbClr val="065A82"/>
          </a:solidFill>
          <a:ln/>
        </p:spPr>
      </p:sp>
      <p:sp>
        <p:nvSpPr>
          <p:cNvPr id="17" name="Text 15"/>
          <p:cNvSpPr/>
          <p:nvPr/>
        </p:nvSpPr>
        <p:spPr>
          <a:xfrm>
            <a:off x="7278624" y="2537460"/>
            <a:ext cx="685800" cy="6858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SQ</a:t>
            </a:r>
            <a:endParaRPr lang="en-US" sz="1500" dirty="0"/>
          </a:p>
        </p:txBody>
      </p:sp>
      <p:sp>
        <p:nvSpPr>
          <p:cNvPr id="18" name="Text 16"/>
          <p:cNvSpPr/>
          <p:nvPr/>
        </p:nvSpPr>
        <p:spPr>
          <a:xfrm>
            <a:off x="6455664" y="3429000"/>
            <a:ext cx="2331720" cy="502920"/>
          </a:xfrm>
          <a:prstGeom prst="rect">
            <a:avLst/>
          </a:prstGeom>
          <a:noFill/>
          <a:ln/>
        </p:spPr>
        <p:txBody>
          <a:bodyPr wrap="square" lIns="0" tIns="0" rIns="0" bIns="0" rtlCol="0" anchor="ctr"/>
          <a:lstStyle/>
          <a:p>
            <a:pPr marL="0" indent="0" algn="ctr">
              <a:buNone/>
            </a:pPr>
            <a:r>
              <a:rPr lang="en-US" sz="1350" b="1" dirty="0">
                <a:solidFill>
                  <a:srgbClr val="21295C"/>
                </a:solidFill>
                <a:latin typeface="Cambria" pitchFamily="34" charset="0"/>
                <a:ea typeface="Cambria" pitchFamily="34" charset="-122"/>
                <a:cs typeface="Cambria" pitchFamily="34" charset="-120"/>
              </a:rPr>
              <a:t>Sequence Diagram</a:t>
            </a:r>
            <a:endParaRPr lang="en-US" sz="1350" dirty="0"/>
          </a:p>
        </p:txBody>
      </p:sp>
      <p:sp>
        <p:nvSpPr>
          <p:cNvPr id="19" name="Text 17"/>
          <p:cNvSpPr/>
          <p:nvPr/>
        </p:nvSpPr>
        <p:spPr>
          <a:xfrm>
            <a:off x="6501384" y="3977640"/>
            <a:ext cx="2240280" cy="1452776"/>
          </a:xfrm>
          <a:prstGeom prst="rect">
            <a:avLst/>
          </a:prstGeom>
          <a:noFill/>
          <a:ln/>
        </p:spPr>
        <p:txBody>
          <a:bodyPr wrap="square" lIns="0" tIns="0" rIns="0" bIns="0" rtlCol="0" anchor="t"/>
          <a:lstStyle/>
          <a:p>
            <a:pPr algn="ctr">
              <a:lnSpc>
                <a:spcPct val="115000"/>
              </a:lnSpc>
            </a:pPr>
            <a:r>
              <a:rPr lang="en-US" sz="1400" dirty="0">
                <a:latin typeface="Times New Roman" panose="02020603050405020304" pitchFamily="18" charset="0"/>
                <a:cs typeface="Times New Roman" panose="02020603050405020304" pitchFamily="18" charset="0"/>
              </a:rPr>
              <a:t>Shows the step-by-step flow of messages between different parts of the system for a specific process, such as vehicle entry and fee payment.</a:t>
            </a:r>
          </a:p>
        </p:txBody>
      </p:sp>
      <p:sp>
        <p:nvSpPr>
          <p:cNvPr id="20" name="Shape 18"/>
          <p:cNvSpPr/>
          <p:nvPr/>
        </p:nvSpPr>
        <p:spPr>
          <a:xfrm>
            <a:off x="9134856" y="2331720"/>
            <a:ext cx="2697480" cy="3703320"/>
          </a:xfrm>
          <a:prstGeom prst="roundRect">
            <a:avLst>
              <a:gd name="adj" fmla="val 2712"/>
            </a:avLst>
          </a:prstGeom>
          <a:solidFill>
            <a:srgbClr val="FFFFFF"/>
          </a:solidFill>
          <a:ln w="12700">
            <a:solidFill>
              <a:srgbClr val="DCE6EA"/>
            </a:solidFill>
            <a:prstDash val="solid"/>
          </a:ln>
        </p:spPr>
      </p:sp>
      <p:sp>
        <p:nvSpPr>
          <p:cNvPr id="21" name="Shape 19"/>
          <p:cNvSpPr/>
          <p:nvPr/>
        </p:nvSpPr>
        <p:spPr>
          <a:xfrm>
            <a:off x="10140696" y="2537460"/>
            <a:ext cx="685800" cy="685800"/>
          </a:xfrm>
          <a:prstGeom prst="ellipse">
            <a:avLst/>
          </a:prstGeom>
          <a:solidFill>
            <a:srgbClr val="065A82"/>
          </a:solidFill>
          <a:ln/>
        </p:spPr>
      </p:sp>
      <p:sp>
        <p:nvSpPr>
          <p:cNvPr id="22" name="Text 20"/>
          <p:cNvSpPr/>
          <p:nvPr/>
        </p:nvSpPr>
        <p:spPr>
          <a:xfrm>
            <a:off x="10140696" y="2537460"/>
            <a:ext cx="685800" cy="6858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AC</a:t>
            </a:r>
            <a:endParaRPr lang="en-US" sz="1500" dirty="0"/>
          </a:p>
        </p:txBody>
      </p:sp>
      <p:sp>
        <p:nvSpPr>
          <p:cNvPr id="23" name="Text 21"/>
          <p:cNvSpPr/>
          <p:nvPr/>
        </p:nvSpPr>
        <p:spPr>
          <a:xfrm>
            <a:off x="9317736" y="3429000"/>
            <a:ext cx="2331720" cy="502920"/>
          </a:xfrm>
          <a:prstGeom prst="rect">
            <a:avLst/>
          </a:prstGeom>
          <a:noFill/>
          <a:ln/>
        </p:spPr>
        <p:txBody>
          <a:bodyPr wrap="square" lIns="0" tIns="0" rIns="0" bIns="0" rtlCol="0" anchor="ctr"/>
          <a:lstStyle/>
          <a:p>
            <a:pPr marL="0" indent="0" algn="ctr">
              <a:buNone/>
            </a:pPr>
            <a:r>
              <a:rPr lang="en-US" sz="1350" b="1" dirty="0">
                <a:solidFill>
                  <a:srgbClr val="21295C"/>
                </a:solidFill>
                <a:latin typeface="Cambria" pitchFamily="34" charset="0"/>
                <a:ea typeface="Cambria" pitchFamily="34" charset="-122"/>
                <a:cs typeface="Cambria" pitchFamily="34" charset="-120"/>
              </a:rPr>
              <a:t>Activity Diagram</a:t>
            </a:r>
            <a:endParaRPr lang="en-US" sz="1350" dirty="0"/>
          </a:p>
        </p:txBody>
      </p:sp>
      <p:sp>
        <p:nvSpPr>
          <p:cNvPr id="24" name="Text 22"/>
          <p:cNvSpPr/>
          <p:nvPr/>
        </p:nvSpPr>
        <p:spPr>
          <a:xfrm>
            <a:off x="9363456" y="3977640"/>
            <a:ext cx="2240280" cy="1613916"/>
          </a:xfrm>
          <a:prstGeom prst="rect">
            <a:avLst/>
          </a:prstGeom>
          <a:noFill/>
          <a:ln/>
        </p:spPr>
        <p:txBody>
          <a:bodyPr wrap="square" lIns="0" tIns="0" rIns="0" bIns="0" rtlCol="0" anchor="t"/>
          <a:lstStyle/>
          <a:p>
            <a:pPr algn="ctr">
              <a:lnSpc>
                <a:spcPct val="115000"/>
              </a:lnSpc>
            </a:pPr>
            <a:r>
              <a:rPr lang="en-US" sz="1400" dirty="0">
                <a:latin typeface="Times New Roman" panose="02020603050405020304" pitchFamily="18" charset="0"/>
                <a:cs typeface="Times New Roman" panose="02020603050405020304" pitchFamily="18" charset="0"/>
              </a:rPr>
              <a:t>Shows the step-by-step workflow of a process, including decisions and actions, such as assigning a parking slot and clearing a vehicle at exit.</a:t>
            </a:r>
          </a:p>
        </p:txBody>
      </p:sp>
      <p:sp>
        <p:nvSpPr>
          <p:cNvPr id="27" name="Text 25"/>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6</a:t>
            </a:r>
            <a:endParaRPr lang="en-US" sz="1000" dirty="0"/>
          </a:p>
        </p:txBody>
      </p:sp>
      <p:sp>
        <p:nvSpPr>
          <p:cNvPr id="29" name="TextBox 28">
            <a:extLst>
              <a:ext uri="{FF2B5EF4-FFF2-40B4-BE49-F238E27FC236}">
                <a16:creationId xmlns:a16="http://schemas.microsoft.com/office/drawing/2014/main" id="{DB6335DE-29DF-6CF7-A6AC-C977361CFD9D}"/>
              </a:ext>
            </a:extLst>
          </p:cNvPr>
          <p:cNvSpPr txBox="1"/>
          <p:nvPr/>
        </p:nvSpPr>
        <p:spPr>
          <a:xfrm>
            <a:off x="403830" y="6362138"/>
            <a:ext cx="6097554" cy="276999"/>
          </a:xfrm>
          <a:prstGeom prst="rect">
            <a:avLst/>
          </a:prstGeom>
          <a:noFill/>
        </p:spPr>
        <p:txBody>
          <a:bodyPr wrap="square">
            <a:spAutoFit/>
          </a:bodyPr>
          <a:lstStyle/>
          <a:p>
            <a:pPr marL="0" indent="0" algn="l">
              <a:buNone/>
            </a:pPr>
            <a:r>
              <a:rPr lang="en-US" sz="1200" dirty="0">
                <a:latin typeface="Times New Roman" panose="02020603050405020304" pitchFamily="18" charset="0"/>
                <a:ea typeface="Calibri" pitchFamily="34" charset="-122"/>
                <a:cs typeface="Times New Roman" panose="02020603050405020304" pitchFamily="18" charset="0"/>
              </a:rPr>
              <a:t>Parking Management System: Agile Project Simulation</a:t>
            </a:r>
            <a:endParaRPr lang="en-US"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8">
            <a:extLst>
              <a:ext uri="{FF2B5EF4-FFF2-40B4-BE49-F238E27FC236}">
                <a16:creationId xmlns:a16="http://schemas.microsoft.com/office/drawing/2014/main" id="{14C31063-BBD6-CCC0-F08E-5F0A88BA0AB9}"/>
              </a:ext>
            </a:extLst>
          </p:cNvPr>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7</a:t>
            </a:r>
            <a:endParaRPr lang="en-US" sz="1000" dirty="0"/>
          </a:p>
        </p:txBody>
      </p:sp>
      <p:sp>
        <p:nvSpPr>
          <p:cNvPr id="4" name="TextBox 3">
            <a:extLst>
              <a:ext uri="{FF2B5EF4-FFF2-40B4-BE49-F238E27FC236}">
                <a16:creationId xmlns:a16="http://schemas.microsoft.com/office/drawing/2014/main" id="{4BFE5CE7-45CA-C694-CDA3-E0FF18891FA0}"/>
              </a:ext>
            </a:extLst>
          </p:cNvPr>
          <p:cNvSpPr txBox="1"/>
          <p:nvPr/>
        </p:nvSpPr>
        <p:spPr>
          <a:xfrm>
            <a:off x="286917" y="131316"/>
            <a:ext cx="7802724" cy="492443"/>
          </a:xfrm>
          <a:prstGeom prst="rect">
            <a:avLst/>
          </a:prstGeom>
          <a:noFill/>
        </p:spPr>
        <p:txBody>
          <a:bodyPr wrap="square">
            <a:spAutoFit/>
          </a:bodyPr>
          <a:lstStyle/>
          <a:p>
            <a:r>
              <a:rPr lang="en-US" sz="2600" b="1" dirty="0">
                <a:solidFill>
                  <a:srgbClr val="21295C"/>
                </a:solidFill>
                <a:latin typeface="Cambria" pitchFamily="34" charset="0"/>
                <a:ea typeface="Cambria" pitchFamily="34" charset="-122"/>
                <a:cs typeface="Cambria" pitchFamily="34" charset="-120"/>
              </a:rPr>
              <a:t>4.1 Uses Cases and Class Diagram</a:t>
            </a:r>
            <a:endParaRPr lang="en-US" sz="2600" dirty="0"/>
          </a:p>
        </p:txBody>
      </p:sp>
      <p:sp>
        <p:nvSpPr>
          <p:cNvPr id="6" name="Shape 3">
            <a:extLst>
              <a:ext uri="{FF2B5EF4-FFF2-40B4-BE49-F238E27FC236}">
                <a16:creationId xmlns:a16="http://schemas.microsoft.com/office/drawing/2014/main" id="{7ECA7966-907A-22E7-53A3-BD5B12848A84}"/>
              </a:ext>
            </a:extLst>
          </p:cNvPr>
          <p:cNvSpPr/>
          <p:nvPr/>
        </p:nvSpPr>
        <p:spPr>
          <a:xfrm>
            <a:off x="354562" y="634478"/>
            <a:ext cx="5645021" cy="5859624"/>
          </a:xfrm>
          <a:prstGeom prst="roundRect">
            <a:avLst>
              <a:gd name="adj" fmla="val 2712"/>
            </a:avLst>
          </a:prstGeom>
          <a:solidFill>
            <a:srgbClr val="FFFFFF"/>
          </a:solidFill>
          <a:ln w="12700">
            <a:solidFill>
              <a:srgbClr val="00B050"/>
            </a:solidFill>
            <a:prstDash val="solid"/>
          </a:ln>
        </p:spPr>
      </p:sp>
      <p:sp>
        <p:nvSpPr>
          <p:cNvPr id="8" name="Shape 3">
            <a:extLst>
              <a:ext uri="{FF2B5EF4-FFF2-40B4-BE49-F238E27FC236}">
                <a16:creationId xmlns:a16="http://schemas.microsoft.com/office/drawing/2014/main" id="{5E8EA363-4424-B643-9999-F0B1C427DEFC}"/>
              </a:ext>
            </a:extLst>
          </p:cNvPr>
          <p:cNvSpPr/>
          <p:nvPr/>
        </p:nvSpPr>
        <p:spPr>
          <a:xfrm>
            <a:off x="6241395" y="634478"/>
            <a:ext cx="5645021" cy="5859624"/>
          </a:xfrm>
          <a:prstGeom prst="roundRect">
            <a:avLst>
              <a:gd name="adj" fmla="val 2712"/>
            </a:avLst>
          </a:prstGeom>
          <a:solidFill>
            <a:srgbClr val="FFFFFF"/>
          </a:solidFill>
          <a:ln w="12700">
            <a:solidFill>
              <a:srgbClr val="00B050"/>
            </a:solidFill>
            <a:prstDash val="solid"/>
          </a:ln>
        </p:spPr>
      </p:sp>
      <p:sp>
        <p:nvSpPr>
          <p:cNvPr id="10" name="Text 21">
            <a:extLst>
              <a:ext uri="{FF2B5EF4-FFF2-40B4-BE49-F238E27FC236}">
                <a16:creationId xmlns:a16="http://schemas.microsoft.com/office/drawing/2014/main" id="{26C9A4DC-C520-46B4-8725-730805200AC0}"/>
              </a:ext>
            </a:extLst>
          </p:cNvPr>
          <p:cNvSpPr/>
          <p:nvPr/>
        </p:nvSpPr>
        <p:spPr>
          <a:xfrm>
            <a:off x="7824838" y="671256"/>
            <a:ext cx="2331720" cy="502920"/>
          </a:xfrm>
          <a:prstGeom prst="rect">
            <a:avLst/>
          </a:prstGeom>
          <a:noFill/>
          <a:ln/>
        </p:spPr>
        <p:txBody>
          <a:bodyPr wrap="square" lIns="0" tIns="0" rIns="0" bIns="0" rtlCol="0" anchor="ctr"/>
          <a:lstStyle/>
          <a:p>
            <a:pPr marL="0" indent="0" algn="ctr">
              <a:buNone/>
            </a:pPr>
            <a:r>
              <a:rPr lang="en-US" b="1" dirty="0">
                <a:solidFill>
                  <a:srgbClr val="21295C"/>
                </a:solidFill>
                <a:latin typeface="Times New Roman" panose="02020603050405020304" pitchFamily="18" charset="0"/>
                <a:ea typeface="Cambria" pitchFamily="34" charset="-122"/>
                <a:cs typeface="Times New Roman" panose="02020603050405020304" pitchFamily="18" charset="0"/>
              </a:rPr>
              <a:t>Class Diagram</a:t>
            </a:r>
            <a:endParaRPr lang="en-US" dirty="0">
              <a:latin typeface="Times New Roman" panose="02020603050405020304" pitchFamily="18" charset="0"/>
              <a:cs typeface="Times New Roman" panose="02020603050405020304" pitchFamily="18" charset="0"/>
            </a:endParaRPr>
          </a:p>
        </p:txBody>
      </p:sp>
      <p:sp>
        <p:nvSpPr>
          <p:cNvPr id="12" name="Text 21">
            <a:extLst>
              <a:ext uri="{FF2B5EF4-FFF2-40B4-BE49-F238E27FC236}">
                <a16:creationId xmlns:a16="http://schemas.microsoft.com/office/drawing/2014/main" id="{07AA8849-A266-42CF-6FB7-21175EA21002}"/>
              </a:ext>
            </a:extLst>
          </p:cNvPr>
          <p:cNvSpPr/>
          <p:nvPr/>
        </p:nvSpPr>
        <p:spPr>
          <a:xfrm>
            <a:off x="1744389" y="672885"/>
            <a:ext cx="2331720" cy="502920"/>
          </a:xfrm>
          <a:prstGeom prst="rect">
            <a:avLst/>
          </a:prstGeom>
          <a:noFill/>
          <a:ln/>
        </p:spPr>
        <p:txBody>
          <a:bodyPr wrap="square" lIns="0" tIns="0" rIns="0" bIns="0" rtlCol="0" anchor="ctr"/>
          <a:lstStyle/>
          <a:p>
            <a:pPr marL="0" indent="0" algn="ctr">
              <a:buNone/>
            </a:pPr>
            <a:r>
              <a:rPr lang="en-US" b="1" dirty="0">
                <a:solidFill>
                  <a:srgbClr val="21295C"/>
                </a:solidFill>
                <a:latin typeface="Times New Roman" panose="02020603050405020304" pitchFamily="18" charset="0"/>
                <a:ea typeface="Cambria" pitchFamily="34" charset="-122"/>
                <a:cs typeface="Times New Roman" panose="02020603050405020304" pitchFamily="18" charset="0"/>
              </a:rPr>
              <a:t>Uses Cases Diagram</a:t>
            </a:r>
            <a:endParaRPr lang="en-US" dirty="0">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952C7DA6-E527-0BB9-B1F6-2029F16CB845}"/>
              </a:ext>
            </a:extLst>
          </p:cNvPr>
          <p:cNvPicPr>
            <a:picLocks noChangeAspect="1"/>
          </p:cNvPicPr>
          <p:nvPr/>
        </p:nvPicPr>
        <p:blipFill>
          <a:blip r:embed="rId2"/>
          <a:stretch>
            <a:fillRect/>
          </a:stretch>
        </p:blipFill>
        <p:spPr>
          <a:xfrm>
            <a:off x="6260055" y="1423204"/>
            <a:ext cx="5577383" cy="2944266"/>
          </a:xfrm>
          <a:prstGeom prst="rect">
            <a:avLst/>
          </a:prstGeom>
        </p:spPr>
      </p:pic>
      <p:pic>
        <p:nvPicPr>
          <p:cNvPr id="16" name="Picture 15">
            <a:extLst>
              <a:ext uri="{FF2B5EF4-FFF2-40B4-BE49-F238E27FC236}">
                <a16:creationId xmlns:a16="http://schemas.microsoft.com/office/drawing/2014/main" id="{FAF309E4-948E-5303-8B29-90A601E5EA04}"/>
              </a:ext>
            </a:extLst>
          </p:cNvPr>
          <p:cNvPicPr>
            <a:picLocks noChangeAspect="1"/>
          </p:cNvPicPr>
          <p:nvPr/>
        </p:nvPicPr>
        <p:blipFill>
          <a:blip r:embed="rId3"/>
          <a:stretch>
            <a:fillRect/>
          </a:stretch>
        </p:blipFill>
        <p:spPr>
          <a:xfrm>
            <a:off x="461489" y="1499926"/>
            <a:ext cx="5431165" cy="4128727"/>
          </a:xfrm>
          <a:prstGeom prst="rect">
            <a:avLst/>
          </a:prstGeom>
        </p:spPr>
      </p:pic>
    </p:spTree>
    <p:extLst>
      <p:ext uri="{BB962C8B-B14F-4D97-AF65-F5344CB8AC3E}">
        <p14:creationId xmlns:p14="http://schemas.microsoft.com/office/powerpoint/2010/main" val="9009537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F30D13C-0FF3-6B1F-7B10-5CC325452E0E}"/>
              </a:ext>
            </a:extLst>
          </p:cNvPr>
          <p:cNvSpPr txBox="1"/>
          <p:nvPr/>
        </p:nvSpPr>
        <p:spPr>
          <a:xfrm>
            <a:off x="230933" y="113007"/>
            <a:ext cx="6097554" cy="492443"/>
          </a:xfrm>
          <a:prstGeom prst="rect">
            <a:avLst/>
          </a:prstGeom>
          <a:noFill/>
        </p:spPr>
        <p:txBody>
          <a:bodyPr wrap="square">
            <a:spAutoFit/>
          </a:bodyPr>
          <a:lstStyle/>
          <a:p>
            <a:r>
              <a:rPr lang="en-US" sz="2600" b="1" dirty="0">
                <a:solidFill>
                  <a:srgbClr val="21295C"/>
                </a:solidFill>
                <a:latin typeface="Cambria" pitchFamily="34" charset="0"/>
                <a:ea typeface="Cambria" pitchFamily="34" charset="-122"/>
                <a:cs typeface="Cambria" pitchFamily="34" charset="-120"/>
              </a:rPr>
              <a:t>4.2 Sequence and Activity Diagram</a:t>
            </a:r>
            <a:endParaRPr lang="en-US" sz="2600" dirty="0"/>
          </a:p>
        </p:txBody>
      </p:sp>
      <p:sp>
        <p:nvSpPr>
          <p:cNvPr id="5" name="Shape 3">
            <a:extLst>
              <a:ext uri="{FF2B5EF4-FFF2-40B4-BE49-F238E27FC236}">
                <a16:creationId xmlns:a16="http://schemas.microsoft.com/office/drawing/2014/main" id="{15799693-1013-3E99-D915-A2215D7ED87A}"/>
              </a:ext>
            </a:extLst>
          </p:cNvPr>
          <p:cNvSpPr/>
          <p:nvPr/>
        </p:nvSpPr>
        <p:spPr>
          <a:xfrm>
            <a:off x="354562" y="634478"/>
            <a:ext cx="5645021" cy="5859624"/>
          </a:xfrm>
          <a:prstGeom prst="roundRect">
            <a:avLst>
              <a:gd name="adj" fmla="val 2712"/>
            </a:avLst>
          </a:prstGeom>
          <a:solidFill>
            <a:srgbClr val="FFFFFF"/>
          </a:solidFill>
          <a:ln w="12700">
            <a:solidFill>
              <a:srgbClr val="00B050"/>
            </a:solidFill>
            <a:prstDash val="solid"/>
          </a:ln>
        </p:spPr>
      </p:sp>
      <p:sp>
        <p:nvSpPr>
          <p:cNvPr id="7" name="Shape 3">
            <a:extLst>
              <a:ext uri="{FF2B5EF4-FFF2-40B4-BE49-F238E27FC236}">
                <a16:creationId xmlns:a16="http://schemas.microsoft.com/office/drawing/2014/main" id="{0E4288B3-3DCE-6E94-3B33-A36C42664336}"/>
              </a:ext>
            </a:extLst>
          </p:cNvPr>
          <p:cNvSpPr/>
          <p:nvPr/>
        </p:nvSpPr>
        <p:spPr>
          <a:xfrm>
            <a:off x="6241395" y="634478"/>
            <a:ext cx="5645021" cy="5859624"/>
          </a:xfrm>
          <a:prstGeom prst="roundRect">
            <a:avLst>
              <a:gd name="adj" fmla="val 2712"/>
            </a:avLst>
          </a:prstGeom>
          <a:solidFill>
            <a:srgbClr val="FFFFFF"/>
          </a:solidFill>
          <a:ln w="12700">
            <a:solidFill>
              <a:srgbClr val="00B050"/>
            </a:solidFill>
            <a:prstDash val="solid"/>
          </a:ln>
        </p:spPr>
      </p:sp>
      <p:pic>
        <p:nvPicPr>
          <p:cNvPr id="9" name="Picture 8">
            <a:extLst>
              <a:ext uri="{FF2B5EF4-FFF2-40B4-BE49-F238E27FC236}">
                <a16:creationId xmlns:a16="http://schemas.microsoft.com/office/drawing/2014/main" id="{85FAF486-B8A5-9879-9558-F442152CE38F}"/>
              </a:ext>
            </a:extLst>
          </p:cNvPr>
          <p:cNvPicPr>
            <a:picLocks noChangeAspect="1"/>
          </p:cNvPicPr>
          <p:nvPr/>
        </p:nvPicPr>
        <p:blipFill>
          <a:blip r:embed="rId2"/>
          <a:stretch>
            <a:fillRect/>
          </a:stretch>
        </p:blipFill>
        <p:spPr>
          <a:xfrm>
            <a:off x="7081934" y="1174176"/>
            <a:ext cx="4187243" cy="4911958"/>
          </a:xfrm>
          <a:prstGeom prst="rect">
            <a:avLst/>
          </a:prstGeom>
        </p:spPr>
      </p:pic>
      <p:sp>
        <p:nvSpPr>
          <p:cNvPr id="11" name="Text 21">
            <a:extLst>
              <a:ext uri="{FF2B5EF4-FFF2-40B4-BE49-F238E27FC236}">
                <a16:creationId xmlns:a16="http://schemas.microsoft.com/office/drawing/2014/main" id="{2A2F5C97-862C-8DF4-F52F-00FDAE726C0D}"/>
              </a:ext>
            </a:extLst>
          </p:cNvPr>
          <p:cNvSpPr/>
          <p:nvPr/>
        </p:nvSpPr>
        <p:spPr>
          <a:xfrm>
            <a:off x="7824838" y="671256"/>
            <a:ext cx="2331720" cy="502920"/>
          </a:xfrm>
          <a:prstGeom prst="rect">
            <a:avLst/>
          </a:prstGeom>
          <a:noFill/>
          <a:ln/>
        </p:spPr>
        <p:txBody>
          <a:bodyPr wrap="square" lIns="0" tIns="0" rIns="0" bIns="0" rtlCol="0" anchor="ctr"/>
          <a:lstStyle/>
          <a:p>
            <a:pPr marL="0" indent="0" algn="ctr">
              <a:buNone/>
            </a:pPr>
            <a:r>
              <a:rPr lang="en-US" b="1" dirty="0">
                <a:solidFill>
                  <a:srgbClr val="21295C"/>
                </a:solidFill>
                <a:latin typeface="Times New Roman" panose="02020603050405020304" pitchFamily="18" charset="0"/>
                <a:ea typeface="Cambria" pitchFamily="34" charset="-122"/>
                <a:cs typeface="Times New Roman" panose="02020603050405020304" pitchFamily="18" charset="0"/>
              </a:rPr>
              <a:t>Activity Diagram</a:t>
            </a:r>
            <a:endParaRPr lang="en-US" dirty="0">
              <a:latin typeface="Times New Roman" panose="02020603050405020304" pitchFamily="18" charset="0"/>
              <a:cs typeface="Times New Roman" panose="02020603050405020304" pitchFamily="18" charset="0"/>
            </a:endParaRPr>
          </a:p>
        </p:txBody>
      </p:sp>
      <p:sp>
        <p:nvSpPr>
          <p:cNvPr id="13" name="Text 21">
            <a:extLst>
              <a:ext uri="{FF2B5EF4-FFF2-40B4-BE49-F238E27FC236}">
                <a16:creationId xmlns:a16="http://schemas.microsoft.com/office/drawing/2014/main" id="{5AF526CD-E79E-54B6-028F-C7439B261247}"/>
              </a:ext>
            </a:extLst>
          </p:cNvPr>
          <p:cNvSpPr/>
          <p:nvPr/>
        </p:nvSpPr>
        <p:spPr>
          <a:xfrm>
            <a:off x="1847026" y="671256"/>
            <a:ext cx="2331720" cy="502920"/>
          </a:xfrm>
          <a:prstGeom prst="rect">
            <a:avLst/>
          </a:prstGeom>
          <a:noFill/>
          <a:ln/>
        </p:spPr>
        <p:txBody>
          <a:bodyPr wrap="square" lIns="0" tIns="0" rIns="0" bIns="0" rtlCol="0" anchor="ctr"/>
          <a:lstStyle/>
          <a:p>
            <a:pPr marL="0" indent="0" algn="ctr">
              <a:buNone/>
            </a:pPr>
            <a:r>
              <a:rPr lang="en-US" b="1" dirty="0">
                <a:solidFill>
                  <a:srgbClr val="21295C"/>
                </a:solidFill>
                <a:latin typeface="Times New Roman" panose="02020603050405020304" pitchFamily="18" charset="0"/>
                <a:ea typeface="Cambria" pitchFamily="34" charset="-122"/>
                <a:cs typeface="Times New Roman" panose="02020603050405020304" pitchFamily="18" charset="0"/>
              </a:rPr>
              <a:t>Sequence Diagram</a:t>
            </a:r>
            <a:endParaRPr lang="en-US" dirty="0">
              <a:latin typeface="Times New Roman" panose="02020603050405020304" pitchFamily="18" charset="0"/>
              <a:cs typeface="Times New Roman" panose="02020603050405020304" pitchFamily="18" charset="0"/>
            </a:endParaRPr>
          </a:p>
        </p:txBody>
      </p:sp>
      <p:sp>
        <p:nvSpPr>
          <p:cNvPr id="15" name="Text 8">
            <a:extLst>
              <a:ext uri="{FF2B5EF4-FFF2-40B4-BE49-F238E27FC236}">
                <a16:creationId xmlns:a16="http://schemas.microsoft.com/office/drawing/2014/main" id="{19EE1A73-0AD1-8308-DA5C-B0CFBEDE7A84}"/>
              </a:ext>
            </a:extLst>
          </p:cNvPr>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8</a:t>
            </a:r>
            <a:endParaRPr lang="en-US" sz="1000" dirty="0"/>
          </a:p>
        </p:txBody>
      </p:sp>
      <p:pic>
        <p:nvPicPr>
          <p:cNvPr id="17" name="Picture 16">
            <a:extLst>
              <a:ext uri="{FF2B5EF4-FFF2-40B4-BE49-F238E27FC236}">
                <a16:creationId xmlns:a16="http://schemas.microsoft.com/office/drawing/2014/main" id="{48377A1F-CF7A-4353-5F0E-A4AC8E7466CC}"/>
              </a:ext>
            </a:extLst>
          </p:cNvPr>
          <p:cNvPicPr>
            <a:picLocks noChangeAspect="1"/>
          </p:cNvPicPr>
          <p:nvPr/>
        </p:nvPicPr>
        <p:blipFill>
          <a:blip r:embed="rId3"/>
          <a:stretch>
            <a:fillRect/>
          </a:stretch>
        </p:blipFill>
        <p:spPr>
          <a:xfrm>
            <a:off x="475861" y="1483712"/>
            <a:ext cx="5345265" cy="3727140"/>
          </a:xfrm>
          <a:prstGeom prst="rect">
            <a:avLst/>
          </a:prstGeom>
        </p:spPr>
      </p:pic>
    </p:spTree>
    <p:extLst>
      <p:ext uri="{BB962C8B-B14F-4D97-AF65-F5344CB8AC3E}">
        <p14:creationId xmlns:p14="http://schemas.microsoft.com/office/powerpoint/2010/main" val="20731556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05  PROJECT MANAGEMENT</a:t>
            </a:r>
            <a:endParaRPr lang="en-US" sz="13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Product Backlog and Sprint Planning with Trello</a:t>
            </a:r>
            <a:endParaRPr lang="en-US" sz="3000" dirty="0"/>
          </a:p>
        </p:txBody>
      </p:sp>
      <p:sp>
        <p:nvSpPr>
          <p:cNvPr id="4" name="Text 2"/>
          <p:cNvSpPr/>
          <p:nvPr/>
        </p:nvSpPr>
        <p:spPr>
          <a:xfrm>
            <a:off x="579120" y="1273488"/>
            <a:ext cx="11064240" cy="689999"/>
          </a:xfrm>
          <a:prstGeom prst="rect">
            <a:avLst/>
          </a:prstGeom>
          <a:noFill/>
          <a:ln/>
        </p:spPr>
        <p:txBody>
          <a:bodyPr wrap="square" lIns="0" tIns="0" rIns="0" bIns="0" rtlCol="0" anchor="ctr"/>
          <a:lstStyle/>
          <a:p>
            <a:pPr>
              <a:lnSpc>
                <a:spcPct val="150000"/>
              </a:lnSpc>
            </a:pPr>
            <a:r>
              <a:rPr lang="en-US" sz="1400" dirty="0">
                <a:latin typeface="Times New Roman" panose="02020603050405020304" pitchFamily="18" charset="0"/>
                <a:cs typeface="Times New Roman" panose="02020603050405020304" pitchFamily="18" charset="0"/>
              </a:rPr>
              <a:t>The Product Backlog contains all user stories, written in the standard format “As a [role], I want [goal], so that [benefit].” We estimate each story using story points and prioritize them before selecting stories for a Sprint.</a:t>
            </a:r>
          </a:p>
        </p:txBody>
      </p:sp>
      <p:sp>
        <p:nvSpPr>
          <p:cNvPr id="14" name="Text 11"/>
          <p:cNvSpPr/>
          <p:nvPr/>
        </p:nvSpPr>
        <p:spPr>
          <a:xfrm>
            <a:off x="11283883" y="6473952"/>
            <a:ext cx="457200" cy="274320"/>
          </a:xfrm>
          <a:prstGeom prst="rect">
            <a:avLst/>
          </a:prstGeom>
          <a:noFill/>
          <a:ln/>
        </p:spPr>
        <p:txBody>
          <a:bodyPr wrap="square"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9</a:t>
            </a:r>
            <a:endParaRPr lang="en-US" sz="1000" dirty="0"/>
          </a:p>
        </p:txBody>
      </p:sp>
      <p:sp>
        <p:nvSpPr>
          <p:cNvPr id="16" name="TextBox 15">
            <a:extLst>
              <a:ext uri="{FF2B5EF4-FFF2-40B4-BE49-F238E27FC236}">
                <a16:creationId xmlns:a16="http://schemas.microsoft.com/office/drawing/2014/main" id="{F1CF1FFE-DF57-3FE8-D7CE-94F4E82EC23E}"/>
              </a:ext>
            </a:extLst>
          </p:cNvPr>
          <p:cNvSpPr txBox="1"/>
          <p:nvPr/>
        </p:nvSpPr>
        <p:spPr>
          <a:xfrm>
            <a:off x="460248" y="6471273"/>
            <a:ext cx="6097554" cy="276999"/>
          </a:xfrm>
          <a:prstGeom prst="rect">
            <a:avLst/>
          </a:prstGeom>
          <a:noFill/>
        </p:spPr>
        <p:txBody>
          <a:bodyPr wrap="square">
            <a:spAutoFit/>
          </a:bodyPr>
          <a:lstStyle/>
          <a:p>
            <a:pPr marL="0" indent="0" algn="l">
              <a:buNone/>
            </a:pPr>
            <a:r>
              <a:rPr lang="en-US" sz="1200" dirty="0">
                <a:latin typeface="Times New Roman" panose="02020603050405020304" pitchFamily="18" charset="0"/>
                <a:ea typeface="Calibri" pitchFamily="34" charset="-122"/>
                <a:cs typeface="Times New Roman" panose="02020603050405020304" pitchFamily="18" charset="0"/>
              </a:rPr>
              <a:t>Parking Management System: Agile Project Simulation</a:t>
            </a:r>
            <a:endParaRPr lang="en-US" sz="1200" dirty="0">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9D035D40-FC93-FBFC-0D51-B40FE7047536}"/>
              </a:ext>
            </a:extLst>
          </p:cNvPr>
          <p:cNvSpPr txBox="1"/>
          <p:nvPr/>
        </p:nvSpPr>
        <p:spPr>
          <a:xfrm>
            <a:off x="548640" y="2084794"/>
            <a:ext cx="6708710" cy="492443"/>
          </a:xfrm>
          <a:prstGeom prst="rect">
            <a:avLst/>
          </a:prstGeom>
          <a:noFill/>
        </p:spPr>
        <p:txBody>
          <a:bodyPr wrap="square">
            <a:spAutoFit/>
          </a:bodyPr>
          <a:lstStyle/>
          <a:p>
            <a:pPr marL="0" indent="0">
              <a:buNone/>
            </a:pPr>
            <a:r>
              <a:rPr lang="en-US" sz="2600" b="1" dirty="0">
                <a:solidFill>
                  <a:srgbClr val="21295C"/>
                </a:solidFill>
                <a:latin typeface="Cambria" pitchFamily="34" charset="0"/>
                <a:ea typeface="Cambria" pitchFamily="34" charset="-122"/>
                <a:cs typeface="Cambria" pitchFamily="34" charset="-120"/>
              </a:rPr>
              <a:t>5.1 Product Backlog: Diagram</a:t>
            </a:r>
            <a:endParaRPr lang="en-US" sz="2600" dirty="0"/>
          </a:p>
        </p:txBody>
      </p:sp>
      <p:graphicFrame>
        <p:nvGraphicFramePr>
          <p:cNvPr id="21" name="Table 0">
            <a:extLst>
              <a:ext uri="{FF2B5EF4-FFF2-40B4-BE49-F238E27FC236}">
                <a16:creationId xmlns:a16="http://schemas.microsoft.com/office/drawing/2014/main" id="{1668C1E3-EC93-B30C-107D-F94828A3534E}"/>
              </a:ext>
            </a:extLst>
          </p:cNvPr>
          <p:cNvGraphicFramePr>
            <a:graphicFrameLocks noGrp="1"/>
          </p:cNvGraphicFramePr>
          <p:nvPr>
            <p:extLst>
              <p:ext uri="{D42A27DB-BD31-4B8C-83A1-F6EECF244321}">
                <p14:modId xmlns:p14="http://schemas.microsoft.com/office/powerpoint/2010/main" val="4195681583"/>
              </p:ext>
            </p:extLst>
          </p:nvPr>
        </p:nvGraphicFramePr>
        <p:xfrm>
          <a:off x="579119" y="2698544"/>
          <a:ext cx="10869542" cy="3501085"/>
        </p:xfrm>
        <a:graphic>
          <a:graphicData uri="http://schemas.openxmlformats.org/drawingml/2006/table">
            <a:tbl>
              <a:tblPr/>
              <a:tblGrid>
                <a:gridCol w="1148191">
                  <a:extLst>
                    <a:ext uri="{9D8B030D-6E8A-4147-A177-3AD203B41FA5}">
                      <a16:colId xmlns:a16="http://schemas.microsoft.com/office/drawing/2014/main" val="20000"/>
                    </a:ext>
                  </a:extLst>
                </a:gridCol>
                <a:gridCol w="6965692">
                  <a:extLst>
                    <a:ext uri="{9D8B030D-6E8A-4147-A177-3AD203B41FA5}">
                      <a16:colId xmlns:a16="http://schemas.microsoft.com/office/drawing/2014/main" val="20001"/>
                    </a:ext>
                  </a:extLst>
                </a:gridCol>
                <a:gridCol w="918553">
                  <a:extLst>
                    <a:ext uri="{9D8B030D-6E8A-4147-A177-3AD203B41FA5}">
                      <a16:colId xmlns:a16="http://schemas.microsoft.com/office/drawing/2014/main" val="20002"/>
                    </a:ext>
                  </a:extLst>
                </a:gridCol>
                <a:gridCol w="1837106">
                  <a:extLst>
                    <a:ext uri="{9D8B030D-6E8A-4147-A177-3AD203B41FA5}">
                      <a16:colId xmlns:a16="http://schemas.microsoft.com/office/drawing/2014/main" val="20003"/>
                    </a:ext>
                  </a:extLst>
                </a:gridCol>
              </a:tblGrid>
              <a:tr h="500155">
                <a:tc>
                  <a:txBody>
                    <a:bodyPr/>
                    <a:lstStyle/>
                    <a:p>
                      <a:pPr marL="0" indent="0">
                        <a:buNone/>
                      </a:pPr>
                      <a:r>
                        <a:rPr lang="en-US" sz="1600" b="1" dirty="0">
                          <a:solidFill>
                            <a:srgbClr val="FFFFFF"/>
                          </a:solidFill>
                          <a:latin typeface="Times New Roman" panose="02020603050405020304" pitchFamily="18" charset="0"/>
                          <a:ea typeface="Calibri" pitchFamily="34" charset="-122"/>
                          <a:cs typeface="Times New Roman" panose="02020603050405020304" pitchFamily="18" charset="0"/>
                        </a:rPr>
                        <a:t>ID</a:t>
                      </a:r>
                      <a:endParaRPr lang="en-US" sz="16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00B050"/>
                    </a:solidFill>
                  </a:tcPr>
                </a:tc>
                <a:tc>
                  <a:txBody>
                    <a:bodyPr/>
                    <a:lstStyle/>
                    <a:p>
                      <a:pPr marL="0" indent="0">
                        <a:buNone/>
                      </a:pPr>
                      <a:r>
                        <a:rPr lang="en-US" sz="1600" b="1" dirty="0">
                          <a:solidFill>
                            <a:srgbClr val="FFFFFF"/>
                          </a:solidFill>
                          <a:latin typeface="Times New Roman" panose="02020603050405020304" pitchFamily="18" charset="0"/>
                          <a:ea typeface="Calibri" pitchFamily="34" charset="-122"/>
                          <a:cs typeface="Times New Roman" panose="02020603050405020304" pitchFamily="18" charset="0"/>
                        </a:rPr>
                        <a:t>User Story</a:t>
                      </a:r>
                      <a:endParaRPr lang="en-US" sz="16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00B050"/>
                    </a:solidFill>
                  </a:tcPr>
                </a:tc>
                <a:tc>
                  <a:txBody>
                    <a:bodyPr/>
                    <a:lstStyle/>
                    <a:p>
                      <a:pPr marL="0" indent="0">
                        <a:buNone/>
                      </a:pPr>
                      <a:r>
                        <a:rPr lang="en-US" sz="1600" b="1" dirty="0">
                          <a:solidFill>
                            <a:srgbClr val="FFFFFF"/>
                          </a:solidFill>
                          <a:latin typeface="Times New Roman" panose="02020603050405020304" pitchFamily="18" charset="0"/>
                          <a:ea typeface="Calibri" pitchFamily="34" charset="-122"/>
                          <a:cs typeface="Times New Roman" panose="02020603050405020304" pitchFamily="18" charset="0"/>
                        </a:rPr>
                        <a:t>Pts</a:t>
                      </a:r>
                      <a:endParaRPr lang="en-US" sz="16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00B050"/>
                    </a:solidFill>
                  </a:tcPr>
                </a:tc>
                <a:tc>
                  <a:txBody>
                    <a:bodyPr/>
                    <a:lstStyle/>
                    <a:p>
                      <a:pPr marL="0" indent="0">
                        <a:buNone/>
                      </a:pPr>
                      <a:r>
                        <a:rPr lang="en-US" sz="1600" b="1" dirty="0">
                          <a:solidFill>
                            <a:srgbClr val="FFFFFF"/>
                          </a:solidFill>
                          <a:latin typeface="Times New Roman" panose="02020603050405020304" pitchFamily="18" charset="0"/>
                          <a:ea typeface="Calibri" pitchFamily="34" charset="-122"/>
                          <a:cs typeface="Times New Roman" panose="02020603050405020304" pitchFamily="18" charset="0"/>
                        </a:rPr>
                        <a:t>Priority</a:t>
                      </a:r>
                      <a:endParaRPr lang="en-US" sz="16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00B050"/>
                    </a:solidFill>
                  </a:tcPr>
                </a:tc>
                <a:extLst>
                  <a:ext uri="{0D108BD9-81ED-4DB2-BD59-A6C34878D82A}">
                    <a16:rowId xmlns:a16="http://schemas.microsoft.com/office/drawing/2014/main" val="10000"/>
                  </a:ext>
                </a:extLst>
              </a:tr>
              <a:tr h="500155">
                <a:tc>
                  <a:txBody>
                    <a:bodyPr/>
                    <a:lstStyle/>
                    <a:p>
                      <a:pPr marL="0" indent="0">
                        <a:buNone/>
                      </a:pPr>
                      <a:r>
                        <a:rPr lang="en-US" sz="1400" dirty="0">
                          <a:solidFill>
                            <a:srgbClr val="233044"/>
                          </a:solidFill>
                          <a:latin typeface="Times New Roman" panose="02020603050405020304" pitchFamily="18" charset="0"/>
                          <a:ea typeface="Calibri" pitchFamily="34" charset="-122"/>
                          <a:cs typeface="Times New Roman" panose="02020603050405020304" pitchFamily="18" charset="0"/>
                        </a:rPr>
                        <a:t>US-01</a:t>
                      </a:r>
                      <a:endParaRPr lang="en-US" sz="14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tc>
                  <a:txBody>
                    <a:bodyPr/>
                    <a:lstStyle/>
                    <a:p>
                      <a:pPr marL="0" indent="0">
                        <a:buNone/>
                      </a:pPr>
                      <a:r>
                        <a:rPr lang="en-US" sz="1400" dirty="0">
                          <a:solidFill>
                            <a:srgbClr val="233044"/>
                          </a:solidFill>
                          <a:latin typeface="Times New Roman" panose="02020603050405020304" pitchFamily="18" charset="0"/>
                          <a:ea typeface="Calibri" pitchFamily="34" charset="-122"/>
                          <a:cs typeface="Times New Roman" panose="02020603050405020304" pitchFamily="18" charset="0"/>
                        </a:rPr>
                        <a:t>As a driver, I want to search available slots so that I can park quickly</a:t>
                      </a:r>
                      <a:endParaRPr lang="en-US" sz="14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tc>
                  <a:txBody>
                    <a:bodyPr/>
                    <a:lstStyle/>
                    <a:p>
                      <a:pPr marL="0" indent="0">
                        <a:buNone/>
                      </a:pPr>
                      <a:r>
                        <a:rPr lang="en-US" sz="1400" dirty="0">
                          <a:solidFill>
                            <a:srgbClr val="233044"/>
                          </a:solidFill>
                          <a:latin typeface="Times New Roman" panose="02020603050405020304" pitchFamily="18" charset="0"/>
                          <a:ea typeface="Calibri" pitchFamily="34" charset="-122"/>
                          <a:cs typeface="Times New Roman" panose="02020603050405020304" pitchFamily="18" charset="0"/>
                        </a:rPr>
                        <a:t>5</a:t>
                      </a:r>
                      <a:endParaRPr lang="en-US" sz="14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tc>
                  <a:txBody>
                    <a:bodyPr/>
                    <a:lstStyle/>
                    <a:p>
                      <a:pPr marL="0" indent="0">
                        <a:buNone/>
                      </a:pPr>
                      <a:r>
                        <a:rPr lang="en-US" sz="1400" dirty="0">
                          <a:solidFill>
                            <a:srgbClr val="233044"/>
                          </a:solidFill>
                          <a:latin typeface="Times New Roman" panose="02020603050405020304" pitchFamily="18" charset="0"/>
                          <a:ea typeface="Calibri" pitchFamily="34" charset="-122"/>
                          <a:cs typeface="Times New Roman" panose="02020603050405020304" pitchFamily="18" charset="0"/>
                        </a:rPr>
                        <a:t>High</a:t>
                      </a:r>
                      <a:endParaRPr lang="en-US" sz="14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0155">
                <a:tc>
                  <a:txBody>
                    <a:bodyPr/>
                    <a:lstStyle/>
                    <a:p>
                      <a:pPr marL="0" indent="0">
                        <a:buNone/>
                      </a:pPr>
                      <a:r>
                        <a:rPr lang="en-US" sz="1400" dirty="0">
                          <a:solidFill>
                            <a:srgbClr val="233044"/>
                          </a:solidFill>
                          <a:latin typeface="Times New Roman" panose="02020603050405020304" pitchFamily="18" charset="0"/>
                          <a:ea typeface="Calibri" pitchFamily="34" charset="-122"/>
                          <a:cs typeface="Times New Roman" panose="02020603050405020304" pitchFamily="18" charset="0"/>
                        </a:rPr>
                        <a:t>US-02</a:t>
                      </a:r>
                      <a:endParaRPr lang="en-US" sz="14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chemeClr val="accent6">
                        <a:lumMod val="20000"/>
                        <a:lumOff val="80000"/>
                      </a:schemeClr>
                    </a:solidFill>
                  </a:tcPr>
                </a:tc>
                <a:tc>
                  <a:txBody>
                    <a:bodyPr/>
                    <a:lstStyle/>
                    <a:p>
                      <a:pPr marL="0" indent="0">
                        <a:buNone/>
                      </a:pPr>
                      <a:r>
                        <a:rPr lang="en-US" sz="1400" dirty="0">
                          <a:solidFill>
                            <a:srgbClr val="233044"/>
                          </a:solidFill>
                          <a:latin typeface="Times New Roman" panose="02020603050405020304" pitchFamily="18" charset="0"/>
                          <a:ea typeface="Calibri" pitchFamily="34" charset="-122"/>
                          <a:cs typeface="Times New Roman" panose="02020603050405020304" pitchFamily="18" charset="0"/>
                        </a:rPr>
                        <a:t>As a driver, I want to reserve a slot online so that space is guaranteed</a:t>
                      </a:r>
                      <a:endParaRPr lang="en-US" sz="14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chemeClr val="accent6">
                        <a:lumMod val="20000"/>
                        <a:lumOff val="80000"/>
                      </a:schemeClr>
                    </a:solidFill>
                  </a:tcPr>
                </a:tc>
                <a:tc>
                  <a:txBody>
                    <a:bodyPr/>
                    <a:lstStyle/>
                    <a:p>
                      <a:pPr marL="0" indent="0">
                        <a:buNone/>
                      </a:pPr>
                      <a:r>
                        <a:rPr lang="en-US" sz="1400" dirty="0">
                          <a:solidFill>
                            <a:srgbClr val="233044"/>
                          </a:solidFill>
                          <a:latin typeface="Times New Roman" panose="02020603050405020304" pitchFamily="18" charset="0"/>
                          <a:ea typeface="Calibri" pitchFamily="34" charset="-122"/>
                          <a:cs typeface="Times New Roman" panose="02020603050405020304" pitchFamily="18" charset="0"/>
                        </a:rPr>
                        <a:t>8</a:t>
                      </a:r>
                      <a:endParaRPr lang="en-US" sz="14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chemeClr val="accent6">
                        <a:lumMod val="20000"/>
                        <a:lumOff val="80000"/>
                      </a:schemeClr>
                    </a:solidFill>
                  </a:tcPr>
                </a:tc>
                <a:tc>
                  <a:txBody>
                    <a:bodyPr/>
                    <a:lstStyle/>
                    <a:p>
                      <a:pPr marL="0" indent="0">
                        <a:buNone/>
                      </a:pPr>
                      <a:r>
                        <a:rPr lang="en-US" sz="1400" dirty="0">
                          <a:solidFill>
                            <a:srgbClr val="233044"/>
                          </a:solidFill>
                          <a:latin typeface="Times New Roman" panose="02020603050405020304" pitchFamily="18" charset="0"/>
                          <a:ea typeface="Calibri" pitchFamily="34" charset="-122"/>
                          <a:cs typeface="Times New Roman" panose="02020603050405020304" pitchFamily="18" charset="0"/>
                        </a:rPr>
                        <a:t>High</a:t>
                      </a:r>
                      <a:endParaRPr lang="en-US" sz="14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2"/>
                  </a:ext>
                </a:extLst>
              </a:tr>
              <a:tr h="500155">
                <a:tc>
                  <a:txBody>
                    <a:bodyPr/>
                    <a:lstStyle/>
                    <a:p>
                      <a:pPr marL="0" indent="0">
                        <a:buNone/>
                      </a:pPr>
                      <a:r>
                        <a:rPr lang="en-US" sz="1400" dirty="0">
                          <a:solidFill>
                            <a:srgbClr val="233044"/>
                          </a:solidFill>
                          <a:latin typeface="Times New Roman" panose="02020603050405020304" pitchFamily="18" charset="0"/>
                          <a:ea typeface="Calibri" pitchFamily="34" charset="-122"/>
                          <a:cs typeface="Times New Roman" panose="02020603050405020304" pitchFamily="18" charset="0"/>
                        </a:rPr>
                        <a:t>US-03</a:t>
                      </a:r>
                      <a:endParaRPr lang="en-US" sz="14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tc>
                  <a:txBody>
                    <a:bodyPr/>
                    <a:lstStyle/>
                    <a:p>
                      <a:pPr marL="0" indent="0">
                        <a:buNone/>
                      </a:pPr>
                      <a:r>
                        <a:rPr lang="en-US" sz="1400" dirty="0">
                          <a:solidFill>
                            <a:srgbClr val="233044"/>
                          </a:solidFill>
                          <a:latin typeface="Times New Roman" panose="02020603050405020304" pitchFamily="18" charset="0"/>
                          <a:ea typeface="Calibri" pitchFamily="34" charset="-122"/>
                          <a:cs typeface="Times New Roman" panose="02020603050405020304" pitchFamily="18" charset="0"/>
                        </a:rPr>
                        <a:t>As an attendant, I want to log vehicle entry/exit so that duration is tracked</a:t>
                      </a:r>
                      <a:endParaRPr lang="en-US" sz="14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tc>
                  <a:txBody>
                    <a:bodyPr/>
                    <a:lstStyle/>
                    <a:p>
                      <a:pPr marL="0" indent="0">
                        <a:buNone/>
                      </a:pPr>
                      <a:r>
                        <a:rPr lang="en-US" sz="1400" dirty="0">
                          <a:solidFill>
                            <a:srgbClr val="233044"/>
                          </a:solidFill>
                          <a:latin typeface="Times New Roman" panose="02020603050405020304" pitchFamily="18" charset="0"/>
                          <a:ea typeface="Calibri" pitchFamily="34" charset="-122"/>
                          <a:cs typeface="Times New Roman" panose="02020603050405020304" pitchFamily="18" charset="0"/>
                        </a:rPr>
                        <a:t>5</a:t>
                      </a:r>
                      <a:endParaRPr lang="en-US" sz="14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tc>
                  <a:txBody>
                    <a:bodyPr/>
                    <a:lstStyle/>
                    <a:p>
                      <a:pPr marL="0" indent="0">
                        <a:buNone/>
                      </a:pPr>
                      <a:r>
                        <a:rPr lang="en-US" sz="1400" dirty="0">
                          <a:solidFill>
                            <a:srgbClr val="233044"/>
                          </a:solidFill>
                          <a:latin typeface="Times New Roman" panose="02020603050405020304" pitchFamily="18" charset="0"/>
                          <a:ea typeface="Calibri" pitchFamily="34" charset="-122"/>
                          <a:cs typeface="Times New Roman" panose="02020603050405020304" pitchFamily="18" charset="0"/>
                        </a:rPr>
                        <a:t>High</a:t>
                      </a:r>
                      <a:endParaRPr lang="en-US" sz="14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0155">
                <a:tc>
                  <a:txBody>
                    <a:bodyPr/>
                    <a:lstStyle/>
                    <a:p>
                      <a:pPr marL="0" indent="0">
                        <a:buNone/>
                      </a:pPr>
                      <a:r>
                        <a:rPr lang="en-US" sz="1400" dirty="0">
                          <a:solidFill>
                            <a:srgbClr val="233044"/>
                          </a:solidFill>
                          <a:latin typeface="Times New Roman" panose="02020603050405020304" pitchFamily="18" charset="0"/>
                          <a:ea typeface="Calibri" pitchFamily="34" charset="-122"/>
                          <a:cs typeface="Times New Roman" panose="02020603050405020304" pitchFamily="18" charset="0"/>
                        </a:rPr>
                        <a:t>US-04</a:t>
                      </a:r>
                      <a:endParaRPr lang="en-US" sz="14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chemeClr val="accent6">
                        <a:lumMod val="20000"/>
                        <a:lumOff val="80000"/>
                      </a:schemeClr>
                    </a:solidFill>
                  </a:tcPr>
                </a:tc>
                <a:tc>
                  <a:txBody>
                    <a:bodyPr/>
                    <a:lstStyle/>
                    <a:p>
                      <a:pPr marL="0" indent="0">
                        <a:buNone/>
                      </a:pPr>
                      <a:r>
                        <a:rPr lang="en-US" sz="1400" dirty="0">
                          <a:solidFill>
                            <a:srgbClr val="233044"/>
                          </a:solidFill>
                          <a:latin typeface="Times New Roman" panose="02020603050405020304" pitchFamily="18" charset="0"/>
                          <a:ea typeface="Calibri" pitchFamily="34" charset="-122"/>
                          <a:cs typeface="Times New Roman" panose="02020603050405020304" pitchFamily="18" charset="0"/>
                        </a:rPr>
                        <a:t>As a system, I want to calculate fees automatically so that billing is accurate</a:t>
                      </a:r>
                      <a:endParaRPr lang="en-US" sz="14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chemeClr val="accent6">
                        <a:lumMod val="20000"/>
                        <a:lumOff val="80000"/>
                      </a:schemeClr>
                    </a:solidFill>
                  </a:tcPr>
                </a:tc>
                <a:tc>
                  <a:txBody>
                    <a:bodyPr/>
                    <a:lstStyle/>
                    <a:p>
                      <a:pPr marL="0" indent="0">
                        <a:buNone/>
                      </a:pPr>
                      <a:r>
                        <a:rPr lang="en-US" sz="1400" dirty="0">
                          <a:solidFill>
                            <a:srgbClr val="233044"/>
                          </a:solidFill>
                          <a:latin typeface="Times New Roman" panose="02020603050405020304" pitchFamily="18" charset="0"/>
                          <a:ea typeface="Calibri" pitchFamily="34" charset="-122"/>
                          <a:cs typeface="Times New Roman" panose="02020603050405020304" pitchFamily="18" charset="0"/>
                        </a:rPr>
                        <a:t>8</a:t>
                      </a:r>
                      <a:endParaRPr lang="en-US" sz="14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chemeClr val="accent6">
                        <a:lumMod val="20000"/>
                        <a:lumOff val="80000"/>
                      </a:schemeClr>
                    </a:solidFill>
                  </a:tcPr>
                </a:tc>
                <a:tc>
                  <a:txBody>
                    <a:bodyPr/>
                    <a:lstStyle/>
                    <a:p>
                      <a:pPr marL="0" indent="0">
                        <a:buNone/>
                      </a:pPr>
                      <a:r>
                        <a:rPr lang="en-US" sz="1400" dirty="0">
                          <a:solidFill>
                            <a:srgbClr val="233044"/>
                          </a:solidFill>
                          <a:latin typeface="Times New Roman" panose="02020603050405020304" pitchFamily="18" charset="0"/>
                          <a:ea typeface="Calibri" pitchFamily="34" charset="-122"/>
                          <a:cs typeface="Times New Roman" panose="02020603050405020304" pitchFamily="18" charset="0"/>
                        </a:rPr>
                        <a:t>High</a:t>
                      </a:r>
                      <a:endParaRPr lang="en-US" sz="14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4"/>
                  </a:ext>
                </a:extLst>
              </a:tr>
              <a:tr h="500155">
                <a:tc>
                  <a:txBody>
                    <a:bodyPr/>
                    <a:lstStyle/>
                    <a:p>
                      <a:pPr marL="0" indent="0">
                        <a:buNone/>
                      </a:pPr>
                      <a:r>
                        <a:rPr lang="en-US" sz="1400" dirty="0">
                          <a:solidFill>
                            <a:srgbClr val="233044"/>
                          </a:solidFill>
                          <a:latin typeface="Times New Roman" panose="02020603050405020304" pitchFamily="18" charset="0"/>
                          <a:ea typeface="Calibri" pitchFamily="34" charset="-122"/>
                          <a:cs typeface="Times New Roman" panose="02020603050405020304" pitchFamily="18" charset="0"/>
                        </a:rPr>
                        <a:t>US-05</a:t>
                      </a:r>
                      <a:endParaRPr lang="en-US" sz="14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tc>
                  <a:txBody>
                    <a:bodyPr/>
                    <a:lstStyle/>
                    <a:p>
                      <a:pPr marL="0" indent="0">
                        <a:buNone/>
                      </a:pPr>
                      <a:r>
                        <a:rPr lang="en-US" sz="1400" dirty="0">
                          <a:solidFill>
                            <a:srgbClr val="233044"/>
                          </a:solidFill>
                          <a:latin typeface="Times New Roman" panose="02020603050405020304" pitchFamily="18" charset="0"/>
                          <a:ea typeface="Calibri" pitchFamily="34" charset="-122"/>
                          <a:cs typeface="Times New Roman" panose="02020603050405020304" pitchFamily="18" charset="0"/>
                        </a:rPr>
                        <a:t>As an admin, I want a live occupancy dashboard so that I can monitor usage</a:t>
                      </a:r>
                      <a:endParaRPr lang="en-US" sz="14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tc>
                  <a:txBody>
                    <a:bodyPr/>
                    <a:lstStyle/>
                    <a:p>
                      <a:pPr marL="0" indent="0">
                        <a:buNone/>
                      </a:pPr>
                      <a:r>
                        <a:rPr lang="en-US" sz="1400" dirty="0">
                          <a:solidFill>
                            <a:srgbClr val="233044"/>
                          </a:solidFill>
                          <a:latin typeface="Times New Roman" panose="02020603050405020304" pitchFamily="18" charset="0"/>
                          <a:ea typeface="Calibri" pitchFamily="34" charset="-122"/>
                          <a:cs typeface="Times New Roman" panose="02020603050405020304" pitchFamily="18" charset="0"/>
                        </a:rPr>
                        <a:t>5</a:t>
                      </a:r>
                      <a:endParaRPr lang="en-US" sz="14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tc>
                  <a:txBody>
                    <a:bodyPr/>
                    <a:lstStyle/>
                    <a:p>
                      <a:pPr marL="0" indent="0">
                        <a:buNone/>
                      </a:pPr>
                      <a:r>
                        <a:rPr lang="en-US" sz="1400" dirty="0">
                          <a:solidFill>
                            <a:srgbClr val="233044"/>
                          </a:solidFill>
                          <a:latin typeface="Times New Roman" panose="02020603050405020304" pitchFamily="18" charset="0"/>
                          <a:ea typeface="Calibri" pitchFamily="34" charset="-122"/>
                          <a:cs typeface="Times New Roman" panose="02020603050405020304" pitchFamily="18" charset="0"/>
                        </a:rPr>
                        <a:t>Medium</a:t>
                      </a:r>
                      <a:endParaRPr lang="en-US" sz="14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0155">
                <a:tc>
                  <a:txBody>
                    <a:bodyPr/>
                    <a:lstStyle/>
                    <a:p>
                      <a:pPr marL="0" indent="0">
                        <a:buNone/>
                      </a:pPr>
                      <a:r>
                        <a:rPr lang="en-US" sz="1400" dirty="0">
                          <a:solidFill>
                            <a:srgbClr val="233044"/>
                          </a:solidFill>
                          <a:latin typeface="Times New Roman" panose="02020603050405020304" pitchFamily="18" charset="0"/>
                          <a:ea typeface="Calibri" pitchFamily="34" charset="-122"/>
                          <a:cs typeface="Times New Roman" panose="02020603050405020304" pitchFamily="18" charset="0"/>
                        </a:rPr>
                        <a:t>US-06</a:t>
                      </a:r>
                      <a:endParaRPr lang="en-US" sz="14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chemeClr val="accent6">
                        <a:lumMod val="20000"/>
                        <a:lumOff val="80000"/>
                      </a:schemeClr>
                    </a:solidFill>
                  </a:tcPr>
                </a:tc>
                <a:tc>
                  <a:txBody>
                    <a:bodyPr/>
                    <a:lstStyle/>
                    <a:p>
                      <a:pPr marL="0" indent="0">
                        <a:buNone/>
                      </a:pPr>
                      <a:r>
                        <a:rPr lang="en-US" sz="1400" dirty="0">
                          <a:solidFill>
                            <a:srgbClr val="233044"/>
                          </a:solidFill>
                          <a:latin typeface="Times New Roman" panose="02020603050405020304" pitchFamily="18" charset="0"/>
                          <a:ea typeface="Calibri" pitchFamily="34" charset="-122"/>
                          <a:cs typeface="Times New Roman" panose="02020603050405020304" pitchFamily="18" charset="0"/>
                        </a:rPr>
                        <a:t>As a driver, I want to pay via mobile wallet so that checkout is fast</a:t>
                      </a:r>
                      <a:endParaRPr lang="en-US" sz="14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chemeClr val="accent6">
                        <a:lumMod val="20000"/>
                        <a:lumOff val="80000"/>
                      </a:schemeClr>
                    </a:solidFill>
                  </a:tcPr>
                </a:tc>
                <a:tc>
                  <a:txBody>
                    <a:bodyPr/>
                    <a:lstStyle/>
                    <a:p>
                      <a:pPr marL="0" indent="0">
                        <a:buNone/>
                      </a:pPr>
                      <a:r>
                        <a:rPr lang="en-US" sz="1400" dirty="0">
                          <a:solidFill>
                            <a:srgbClr val="233044"/>
                          </a:solidFill>
                          <a:latin typeface="Times New Roman" panose="02020603050405020304" pitchFamily="18" charset="0"/>
                          <a:ea typeface="Calibri" pitchFamily="34" charset="-122"/>
                          <a:cs typeface="Times New Roman" panose="02020603050405020304" pitchFamily="18" charset="0"/>
                        </a:rPr>
                        <a:t>8</a:t>
                      </a:r>
                      <a:endParaRPr lang="en-US" sz="14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chemeClr val="accent6">
                        <a:lumMod val="20000"/>
                        <a:lumOff val="80000"/>
                      </a:schemeClr>
                    </a:solidFill>
                  </a:tcPr>
                </a:tc>
                <a:tc>
                  <a:txBody>
                    <a:bodyPr/>
                    <a:lstStyle/>
                    <a:p>
                      <a:pPr marL="0" indent="0">
                        <a:buNone/>
                      </a:pPr>
                      <a:r>
                        <a:rPr lang="en-US" sz="1400" dirty="0">
                          <a:solidFill>
                            <a:srgbClr val="233044"/>
                          </a:solidFill>
                          <a:latin typeface="Times New Roman" panose="02020603050405020304" pitchFamily="18" charset="0"/>
                          <a:ea typeface="Calibri" pitchFamily="34" charset="-122"/>
                          <a:cs typeface="Times New Roman" panose="02020603050405020304" pitchFamily="18" charset="0"/>
                        </a:rPr>
                        <a:t>Medium</a:t>
                      </a:r>
                      <a:endParaRPr lang="en-US" sz="14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8EE4147-A706-0513-9629-1C521677C0F2}"/>
              </a:ext>
            </a:extLst>
          </p:cNvPr>
          <p:cNvSpPr txBox="1"/>
          <p:nvPr/>
        </p:nvSpPr>
        <p:spPr>
          <a:xfrm>
            <a:off x="277586" y="175535"/>
            <a:ext cx="7457492" cy="492443"/>
          </a:xfrm>
          <a:prstGeom prst="rect">
            <a:avLst/>
          </a:prstGeom>
          <a:noFill/>
        </p:spPr>
        <p:txBody>
          <a:bodyPr wrap="square">
            <a:spAutoFit/>
          </a:bodyPr>
          <a:lstStyle/>
          <a:p>
            <a:pPr marL="0" indent="0">
              <a:buNone/>
            </a:pPr>
            <a:r>
              <a:rPr lang="en-US" sz="2600" b="1" dirty="0">
                <a:solidFill>
                  <a:srgbClr val="21295C"/>
                </a:solidFill>
                <a:latin typeface="Cambria" pitchFamily="34" charset="0"/>
                <a:ea typeface="Cambria" pitchFamily="34" charset="-122"/>
                <a:cs typeface="Cambria" pitchFamily="34" charset="-120"/>
              </a:rPr>
              <a:t>5.2 Sprint 1 : Diagram</a:t>
            </a:r>
            <a:endParaRPr lang="en-US" sz="2600" dirty="0"/>
          </a:p>
        </p:txBody>
      </p:sp>
      <p:graphicFrame>
        <p:nvGraphicFramePr>
          <p:cNvPr id="5" name="Table 0">
            <a:extLst>
              <a:ext uri="{FF2B5EF4-FFF2-40B4-BE49-F238E27FC236}">
                <a16:creationId xmlns:a16="http://schemas.microsoft.com/office/drawing/2014/main" id="{92F2D059-695C-EF19-4F44-A30B12D9B393}"/>
              </a:ext>
            </a:extLst>
          </p:cNvPr>
          <p:cNvGraphicFramePr>
            <a:graphicFrameLocks noGrp="1"/>
          </p:cNvGraphicFramePr>
          <p:nvPr>
            <p:extLst>
              <p:ext uri="{D42A27DB-BD31-4B8C-83A1-F6EECF244321}">
                <p14:modId xmlns:p14="http://schemas.microsoft.com/office/powerpoint/2010/main" val="3876482021"/>
              </p:ext>
            </p:extLst>
          </p:nvPr>
        </p:nvGraphicFramePr>
        <p:xfrm>
          <a:off x="371358" y="692354"/>
          <a:ext cx="11478519" cy="3777010"/>
        </p:xfrm>
        <a:graphic>
          <a:graphicData uri="http://schemas.openxmlformats.org/drawingml/2006/table">
            <a:tbl>
              <a:tblPr/>
              <a:tblGrid>
                <a:gridCol w="2035940">
                  <a:extLst>
                    <a:ext uri="{9D8B030D-6E8A-4147-A177-3AD203B41FA5}">
                      <a16:colId xmlns:a16="http://schemas.microsoft.com/office/drawing/2014/main" val="20000"/>
                    </a:ext>
                  </a:extLst>
                </a:gridCol>
                <a:gridCol w="4044232">
                  <a:extLst>
                    <a:ext uri="{9D8B030D-6E8A-4147-A177-3AD203B41FA5}">
                      <a16:colId xmlns:a16="http://schemas.microsoft.com/office/drawing/2014/main" val="4080358910"/>
                    </a:ext>
                  </a:extLst>
                </a:gridCol>
                <a:gridCol w="1569798">
                  <a:extLst>
                    <a:ext uri="{9D8B030D-6E8A-4147-A177-3AD203B41FA5}">
                      <a16:colId xmlns:a16="http://schemas.microsoft.com/office/drawing/2014/main" val="20001"/>
                    </a:ext>
                  </a:extLst>
                </a:gridCol>
                <a:gridCol w="546935">
                  <a:extLst>
                    <a:ext uri="{9D8B030D-6E8A-4147-A177-3AD203B41FA5}">
                      <a16:colId xmlns:a16="http://schemas.microsoft.com/office/drawing/2014/main" val="20002"/>
                    </a:ext>
                  </a:extLst>
                </a:gridCol>
                <a:gridCol w="1015738">
                  <a:extLst>
                    <a:ext uri="{9D8B030D-6E8A-4147-A177-3AD203B41FA5}">
                      <a16:colId xmlns:a16="http://schemas.microsoft.com/office/drawing/2014/main" val="20003"/>
                    </a:ext>
                  </a:extLst>
                </a:gridCol>
                <a:gridCol w="1484539">
                  <a:extLst>
                    <a:ext uri="{9D8B030D-6E8A-4147-A177-3AD203B41FA5}">
                      <a16:colId xmlns:a16="http://schemas.microsoft.com/office/drawing/2014/main" val="20004"/>
                    </a:ext>
                  </a:extLst>
                </a:gridCol>
                <a:gridCol w="781337">
                  <a:extLst>
                    <a:ext uri="{9D8B030D-6E8A-4147-A177-3AD203B41FA5}">
                      <a16:colId xmlns:a16="http://schemas.microsoft.com/office/drawing/2014/main" val="20005"/>
                    </a:ext>
                  </a:extLst>
                </a:gridCol>
              </a:tblGrid>
              <a:tr h="616081">
                <a:tc>
                  <a:txBody>
                    <a:bodyPr/>
                    <a:lstStyle/>
                    <a:p>
                      <a:pPr marL="0" indent="0">
                        <a:buNone/>
                      </a:pPr>
                      <a:r>
                        <a:rPr lang="en-US" sz="1600" b="1" dirty="0">
                          <a:solidFill>
                            <a:schemeClr val="bg1"/>
                          </a:solidFill>
                          <a:latin typeface="Times New Roman" panose="02020603050405020304" pitchFamily="18" charset="0"/>
                          <a:ea typeface="Calibri" charset="0"/>
                          <a:cs typeface="Times New Roman" panose="02020603050405020304" pitchFamily="18" charset="0"/>
                        </a:rPr>
                        <a:t>ID</a:t>
                      </a: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00B050"/>
                    </a:solidFill>
                  </a:tcPr>
                </a:tc>
                <a:tc>
                  <a:txBody>
                    <a:bodyPr/>
                    <a:lstStyle/>
                    <a:p>
                      <a:pPr marL="0" indent="0">
                        <a:buNone/>
                      </a:pPr>
                      <a:r>
                        <a:rPr lang="en-US" sz="1600" b="1" i="0" kern="1200" dirty="0">
                          <a:solidFill>
                            <a:schemeClr val="bg1"/>
                          </a:solidFill>
                          <a:effectLst/>
                          <a:latin typeface="Times New Roman" panose="02020603050405020304" pitchFamily="18" charset="0"/>
                          <a:ea typeface="+mn-ea"/>
                          <a:cs typeface="Times New Roman" panose="02020603050405020304" pitchFamily="18" charset="0"/>
                        </a:rPr>
                        <a:t>User Story</a:t>
                      </a:r>
                      <a:endParaRPr lang="en-US" sz="1600" b="1" dirty="0">
                        <a:solidFill>
                          <a:schemeClr val="bg1"/>
                        </a:solidFill>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00B050"/>
                    </a:solidFill>
                  </a:tcPr>
                </a:tc>
                <a:tc>
                  <a:txBody>
                    <a:bodyPr/>
                    <a:lstStyle/>
                    <a:p>
                      <a:pPr marL="0" indent="0">
                        <a:buNone/>
                      </a:pPr>
                      <a:r>
                        <a:rPr lang="en-US" sz="1600" b="1" dirty="0">
                          <a:solidFill>
                            <a:schemeClr val="bg1"/>
                          </a:solidFill>
                          <a:latin typeface="Times New Roman" panose="02020603050405020304" pitchFamily="18" charset="0"/>
                          <a:ea typeface="Calibri" pitchFamily="34" charset="-122"/>
                          <a:cs typeface="Times New Roman" panose="02020603050405020304" pitchFamily="18" charset="0"/>
                        </a:rPr>
                        <a:t>Owner</a:t>
                      </a:r>
                      <a:endParaRPr lang="en-US" sz="1600" b="1" dirty="0">
                        <a:solidFill>
                          <a:schemeClr val="bg1"/>
                        </a:solidFill>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00B050"/>
                    </a:solidFill>
                  </a:tcPr>
                </a:tc>
                <a:tc>
                  <a:txBody>
                    <a:bodyPr/>
                    <a:lstStyle/>
                    <a:p>
                      <a:pPr marL="0" indent="0">
                        <a:buNone/>
                      </a:pPr>
                      <a:r>
                        <a:rPr lang="en-US" sz="1600" b="1" dirty="0">
                          <a:solidFill>
                            <a:schemeClr val="bg1"/>
                          </a:solidFill>
                          <a:latin typeface="Times New Roman" panose="02020603050405020304" pitchFamily="18" charset="0"/>
                          <a:ea typeface="Calibri" pitchFamily="34" charset="-122"/>
                          <a:cs typeface="Times New Roman" panose="02020603050405020304" pitchFamily="18" charset="0"/>
                        </a:rPr>
                        <a:t>Pts</a:t>
                      </a:r>
                      <a:endParaRPr lang="en-US" sz="1600" b="1" dirty="0">
                        <a:solidFill>
                          <a:schemeClr val="bg1"/>
                        </a:solidFill>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00B050"/>
                    </a:solidFill>
                  </a:tcPr>
                </a:tc>
                <a:tc>
                  <a:txBody>
                    <a:bodyPr/>
                    <a:lstStyle/>
                    <a:p>
                      <a:pPr marL="0" indent="0">
                        <a:buNone/>
                      </a:pPr>
                      <a:r>
                        <a:rPr lang="en-US" sz="1600" b="1" dirty="0">
                          <a:solidFill>
                            <a:schemeClr val="bg1"/>
                          </a:solidFill>
                          <a:latin typeface="Times New Roman" panose="02020603050405020304" pitchFamily="18" charset="0"/>
                          <a:ea typeface="Calibri" pitchFamily="34" charset="-122"/>
                          <a:cs typeface="Times New Roman" panose="02020603050405020304" pitchFamily="18" charset="0"/>
                        </a:rPr>
                        <a:t>Priority</a:t>
                      </a:r>
                      <a:endParaRPr lang="en-US" sz="1600" b="1" dirty="0">
                        <a:solidFill>
                          <a:schemeClr val="bg1"/>
                        </a:solidFill>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00B050"/>
                    </a:solidFill>
                  </a:tcPr>
                </a:tc>
                <a:tc>
                  <a:txBody>
                    <a:bodyPr/>
                    <a:lstStyle/>
                    <a:p>
                      <a:pPr marL="0" indent="0">
                        <a:buNone/>
                      </a:pPr>
                      <a:r>
                        <a:rPr lang="en-US" sz="1600" b="1" dirty="0">
                          <a:solidFill>
                            <a:schemeClr val="bg1"/>
                          </a:solidFill>
                          <a:latin typeface="Times New Roman" panose="02020603050405020304" pitchFamily="18" charset="0"/>
                          <a:ea typeface="Calibri" pitchFamily="34" charset="-122"/>
                          <a:cs typeface="Times New Roman" panose="02020603050405020304" pitchFamily="18" charset="0"/>
                        </a:rPr>
                        <a:t>Status</a:t>
                      </a:r>
                      <a:endParaRPr lang="en-US" sz="1600" b="1" dirty="0">
                        <a:solidFill>
                          <a:schemeClr val="bg1"/>
                        </a:solidFill>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00B050"/>
                    </a:solidFill>
                  </a:tcPr>
                </a:tc>
                <a:tc>
                  <a:txBody>
                    <a:bodyPr/>
                    <a:lstStyle/>
                    <a:p>
                      <a:pPr marL="0" indent="0">
                        <a:buNone/>
                      </a:pPr>
                      <a:r>
                        <a:rPr lang="en-US" sz="1600" b="1" dirty="0">
                          <a:solidFill>
                            <a:schemeClr val="bg1"/>
                          </a:solidFill>
                          <a:latin typeface="Times New Roman" panose="02020603050405020304" pitchFamily="18" charset="0"/>
                          <a:ea typeface="Calibri" pitchFamily="34" charset="-122"/>
                          <a:cs typeface="Times New Roman" panose="02020603050405020304" pitchFamily="18" charset="0"/>
                        </a:rPr>
                        <a:t>Due</a:t>
                      </a:r>
                      <a:endParaRPr lang="en-US" sz="1600" b="1" dirty="0">
                        <a:solidFill>
                          <a:schemeClr val="bg1"/>
                        </a:solidFill>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00B050"/>
                    </a:solidFill>
                  </a:tcPr>
                </a:tc>
                <a:extLst>
                  <a:ext uri="{0D108BD9-81ED-4DB2-BD59-A6C34878D82A}">
                    <a16:rowId xmlns:a16="http://schemas.microsoft.com/office/drawing/2014/main" val="10000"/>
                  </a:ext>
                </a:extLst>
              </a:tr>
              <a:tr h="696605">
                <a:tc>
                  <a:txBody>
                    <a:bodyPr/>
                    <a:lstStyle/>
                    <a:p>
                      <a:pPr marL="0" indent="0">
                        <a:buNone/>
                      </a:pP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US01</a:t>
                      </a:r>
                      <a:endParaRPr lang="en-US" sz="1400" b="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Admin Login</a:t>
                      </a:r>
                      <a:endParaRPr lang="en-US" sz="1400" b="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tc>
                  <a:txBody>
                    <a:bodyPr/>
                    <a:lstStyle/>
                    <a:p>
                      <a:pPr marL="0" indent="0">
                        <a:buNone/>
                      </a:pPr>
                      <a:r>
                        <a:rPr lang="en-US" sz="1400" b="0" dirty="0">
                          <a:solidFill>
                            <a:srgbClr val="233044"/>
                          </a:solidFill>
                          <a:latin typeface="Times New Roman" panose="02020603050405020304" pitchFamily="18" charset="0"/>
                          <a:ea typeface="Calibri" pitchFamily="34" charset="-122"/>
                          <a:cs typeface="Times New Roman" panose="02020603050405020304" pitchFamily="18" charset="0"/>
                        </a:rPr>
                        <a:t>Samjhana</a:t>
                      </a:r>
                      <a:endParaRPr lang="en-US" sz="1400" b="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tc>
                  <a:txBody>
                    <a:bodyPr/>
                    <a:lstStyle/>
                    <a:p>
                      <a:pPr marL="0" indent="0">
                        <a:buNone/>
                      </a:pPr>
                      <a:r>
                        <a:rPr lang="en-US" sz="1400" b="0" dirty="0">
                          <a:solidFill>
                            <a:srgbClr val="233044"/>
                          </a:solidFill>
                          <a:latin typeface="Times New Roman" panose="02020603050405020304" pitchFamily="18" charset="0"/>
                          <a:ea typeface="Calibri" pitchFamily="34" charset="-122"/>
                          <a:cs typeface="Times New Roman" panose="02020603050405020304" pitchFamily="18" charset="0"/>
                        </a:rPr>
                        <a:t>3</a:t>
                      </a:r>
                      <a:endParaRPr lang="en-US" sz="1400" b="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tc>
                  <a:txBody>
                    <a:bodyPr/>
                    <a:lstStyle/>
                    <a:p>
                      <a:pPr marL="0" indent="0">
                        <a:buNone/>
                      </a:pPr>
                      <a:r>
                        <a:rPr lang="en-US" sz="1400" b="0" dirty="0">
                          <a:solidFill>
                            <a:srgbClr val="233044"/>
                          </a:solidFill>
                          <a:latin typeface="Times New Roman" panose="02020603050405020304" pitchFamily="18" charset="0"/>
                          <a:ea typeface="Calibri" pitchFamily="34" charset="-122"/>
                          <a:cs typeface="Times New Roman" panose="02020603050405020304" pitchFamily="18" charset="0"/>
                        </a:rPr>
                        <a:t>High</a:t>
                      </a:r>
                      <a:endParaRPr lang="en-US" sz="1400" b="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tc>
                  <a:txBody>
                    <a:bodyPr/>
                    <a:lstStyle/>
                    <a:p>
                      <a:pPr marL="0" indent="0">
                        <a:buNone/>
                      </a:pPr>
                      <a:r>
                        <a:rPr lang="en-US" sz="1400" b="0" dirty="0">
                          <a:solidFill>
                            <a:srgbClr val="00B050"/>
                          </a:solidFill>
                          <a:latin typeface="Times New Roman" panose="02020603050405020304" pitchFamily="18" charset="0"/>
                          <a:ea typeface="Calibri" pitchFamily="34" charset="-122"/>
                          <a:cs typeface="Times New Roman" panose="02020603050405020304" pitchFamily="18" charset="0"/>
                        </a:rPr>
                        <a:t>Done</a:t>
                      </a:r>
                      <a:endParaRPr lang="en-US" sz="1400" b="0" dirty="0">
                        <a:solidFill>
                          <a:srgbClr val="00B050"/>
                        </a:solidFill>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tc>
                  <a:txBody>
                    <a:bodyPr/>
                    <a:lstStyle/>
                    <a:p>
                      <a:pPr marL="0" indent="0">
                        <a:buNone/>
                      </a:pPr>
                      <a:r>
                        <a:rPr lang="en-US" sz="1400" b="0" dirty="0">
                          <a:solidFill>
                            <a:srgbClr val="233044"/>
                          </a:solidFill>
                          <a:latin typeface="Times New Roman" panose="02020603050405020304" pitchFamily="18" charset="0"/>
                          <a:ea typeface="Calibri" pitchFamily="34" charset="-122"/>
                          <a:cs typeface="Times New Roman" panose="02020603050405020304" pitchFamily="18" charset="0"/>
                        </a:rPr>
                        <a:t>Day 5</a:t>
                      </a:r>
                      <a:endParaRPr lang="en-US" sz="1400" b="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16081">
                <a:tc>
                  <a:txBody>
                    <a:bodyPr/>
                    <a:lstStyle/>
                    <a:p>
                      <a:pPr marL="0" indent="0">
                        <a:buNone/>
                      </a:pP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US02</a:t>
                      </a:r>
                      <a:endParaRPr lang="en-US" sz="1400" b="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chemeClr val="accent6">
                        <a:lumMod val="20000"/>
                        <a:lumOff val="80000"/>
                      </a:schemeClr>
                    </a:solidFill>
                  </a:tcPr>
                </a:tc>
                <a:tc>
                  <a:txBody>
                    <a:bodyPr/>
                    <a:lstStyle/>
                    <a:p>
                      <a:pPr marL="0" indent="0">
                        <a:buNone/>
                      </a:pP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Dashboard</a:t>
                      </a:r>
                      <a:endParaRPr lang="en-US" sz="1400" b="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chemeClr val="accent6">
                        <a:lumMod val="20000"/>
                        <a:lumOff val="80000"/>
                      </a:schemeClr>
                    </a:solidFill>
                  </a:tcPr>
                </a:tc>
                <a:tc>
                  <a:txBody>
                    <a:bodyPr/>
                    <a:lstStyle/>
                    <a:p>
                      <a:pPr marL="0" indent="0">
                        <a:buNone/>
                      </a:pPr>
                      <a:r>
                        <a:rPr lang="en-US" sz="1400" b="0" dirty="0">
                          <a:solidFill>
                            <a:srgbClr val="233044"/>
                          </a:solidFill>
                          <a:latin typeface="Times New Roman" panose="02020603050405020304" pitchFamily="18" charset="0"/>
                          <a:ea typeface="Calibri" pitchFamily="34" charset="-122"/>
                          <a:cs typeface="Times New Roman" panose="02020603050405020304" pitchFamily="18" charset="0"/>
                        </a:rPr>
                        <a:t>Samjhana</a:t>
                      </a:r>
                      <a:endParaRPr lang="en-US" sz="1400" b="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chemeClr val="accent6">
                        <a:lumMod val="20000"/>
                        <a:lumOff val="80000"/>
                      </a:schemeClr>
                    </a:solidFill>
                  </a:tcPr>
                </a:tc>
                <a:tc>
                  <a:txBody>
                    <a:bodyPr/>
                    <a:lstStyle/>
                    <a:p>
                      <a:pPr marL="0" indent="0">
                        <a:buNone/>
                      </a:pPr>
                      <a:r>
                        <a:rPr lang="en-US" sz="1400" b="0" dirty="0">
                          <a:solidFill>
                            <a:srgbClr val="233044"/>
                          </a:solidFill>
                          <a:latin typeface="Times New Roman" panose="02020603050405020304" pitchFamily="18" charset="0"/>
                          <a:ea typeface="Calibri" pitchFamily="34" charset="-122"/>
                          <a:cs typeface="Times New Roman" panose="02020603050405020304" pitchFamily="18" charset="0"/>
                        </a:rPr>
                        <a:t>5</a:t>
                      </a:r>
                      <a:endParaRPr lang="en-US" sz="1400" b="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chemeClr val="accent6">
                        <a:lumMod val="20000"/>
                        <a:lumOff val="80000"/>
                      </a:schemeClr>
                    </a:solidFill>
                  </a:tcPr>
                </a:tc>
                <a:tc>
                  <a:txBody>
                    <a:bodyPr/>
                    <a:lstStyle/>
                    <a:p>
                      <a:pPr marL="0" indent="0">
                        <a:buNone/>
                      </a:pPr>
                      <a:r>
                        <a:rPr lang="en-US" sz="1400" b="0" dirty="0">
                          <a:solidFill>
                            <a:srgbClr val="233044"/>
                          </a:solidFill>
                          <a:latin typeface="Times New Roman" panose="02020603050405020304" pitchFamily="18" charset="0"/>
                          <a:ea typeface="Calibri" pitchFamily="34" charset="-122"/>
                          <a:cs typeface="Times New Roman" panose="02020603050405020304" pitchFamily="18" charset="0"/>
                        </a:rPr>
                        <a:t>High</a:t>
                      </a:r>
                      <a:endParaRPr lang="en-US" sz="1400" b="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a:solidFill>
                            <a:srgbClr val="F2A93B"/>
                          </a:solidFill>
                          <a:latin typeface="Times New Roman" panose="02020603050405020304" pitchFamily="18" charset="0"/>
                          <a:ea typeface="Calibri" pitchFamily="34" charset="-122"/>
                          <a:cs typeface="Times New Roman" panose="02020603050405020304" pitchFamily="18" charset="0"/>
                        </a:rPr>
                        <a:t>In Progress</a:t>
                      </a:r>
                      <a:endParaRPr lang="en-US" sz="1400" b="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chemeClr val="accent6">
                        <a:lumMod val="20000"/>
                        <a:lumOff val="80000"/>
                      </a:schemeClr>
                    </a:solidFill>
                  </a:tcPr>
                </a:tc>
                <a:tc>
                  <a:txBody>
                    <a:bodyPr/>
                    <a:lstStyle/>
                    <a:p>
                      <a:pPr marL="0" indent="0">
                        <a:buNone/>
                      </a:pPr>
                      <a:r>
                        <a:rPr lang="en-US" sz="1400" b="0" dirty="0">
                          <a:solidFill>
                            <a:srgbClr val="233044"/>
                          </a:solidFill>
                          <a:latin typeface="Times New Roman" panose="02020603050405020304" pitchFamily="18" charset="0"/>
                          <a:ea typeface="Calibri" pitchFamily="34" charset="-122"/>
                          <a:cs typeface="Times New Roman" panose="02020603050405020304" pitchFamily="18" charset="0"/>
                        </a:rPr>
                        <a:t>Day 6</a:t>
                      </a:r>
                      <a:endParaRPr lang="en-US" sz="1400" b="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2"/>
                  </a:ext>
                </a:extLst>
              </a:tr>
              <a:tr h="616081">
                <a:tc>
                  <a:txBody>
                    <a:bodyPr/>
                    <a:lstStyle/>
                    <a:p>
                      <a:pPr marL="0" indent="0">
                        <a:buNone/>
                      </a:pP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US03</a:t>
                      </a:r>
                      <a:endParaRPr lang="en-US" sz="1400" b="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tc>
                  <a:txBody>
                    <a:bodyPr/>
                    <a:lstStyle/>
                    <a:p>
                      <a:pPr marL="0" indent="0">
                        <a:buNone/>
                      </a:pP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Vehicle Registration</a:t>
                      </a:r>
                      <a:endParaRPr lang="en-US" sz="1400" b="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tc>
                  <a:txBody>
                    <a:bodyPr/>
                    <a:lstStyle/>
                    <a:p>
                      <a:pPr marL="0" indent="0">
                        <a:buNone/>
                      </a:pPr>
                      <a:r>
                        <a:rPr lang="en-US" sz="1400" b="0" dirty="0">
                          <a:solidFill>
                            <a:srgbClr val="233044"/>
                          </a:solidFill>
                          <a:latin typeface="Times New Roman" panose="02020603050405020304" pitchFamily="18" charset="0"/>
                          <a:ea typeface="Calibri" pitchFamily="34" charset="-122"/>
                          <a:cs typeface="Times New Roman" panose="02020603050405020304" pitchFamily="18" charset="0"/>
                        </a:rPr>
                        <a:t>Samjhana</a:t>
                      </a:r>
                      <a:endParaRPr lang="en-US" sz="1400" b="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tc>
                  <a:txBody>
                    <a:bodyPr/>
                    <a:lstStyle/>
                    <a:p>
                      <a:pPr marL="0" indent="0">
                        <a:buNone/>
                      </a:pPr>
                      <a:r>
                        <a:rPr lang="en-US" sz="1400" b="0" dirty="0">
                          <a:solidFill>
                            <a:srgbClr val="233044"/>
                          </a:solidFill>
                          <a:latin typeface="Times New Roman" panose="02020603050405020304" pitchFamily="18" charset="0"/>
                          <a:ea typeface="Calibri" pitchFamily="34" charset="-122"/>
                          <a:cs typeface="Times New Roman" panose="02020603050405020304" pitchFamily="18" charset="0"/>
                        </a:rPr>
                        <a:t>5</a:t>
                      </a:r>
                      <a:endParaRPr lang="en-US" sz="1400" b="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tc>
                  <a:txBody>
                    <a:bodyPr/>
                    <a:lstStyle/>
                    <a:p>
                      <a:pPr marL="0" indent="0">
                        <a:buNone/>
                      </a:pPr>
                      <a:r>
                        <a:rPr lang="en-US" sz="1400" b="0" dirty="0">
                          <a:solidFill>
                            <a:srgbClr val="233044"/>
                          </a:solidFill>
                          <a:latin typeface="Times New Roman" panose="02020603050405020304" pitchFamily="18" charset="0"/>
                          <a:ea typeface="Calibri" pitchFamily="34" charset="-122"/>
                          <a:cs typeface="Times New Roman" panose="02020603050405020304" pitchFamily="18" charset="0"/>
                        </a:rPr>
                        <a:t>High</a:t>
                      </a:r>
                      <a:endParaRPr lang="en-US" sz="1400" b="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tc>
                  <a:txBody>
                    <a:bodyPr/>
                    <a:lstStyle/>
                    <a:p>
                      <a:pPr marL="0" indent="0">
                        <a:buNone/>
                      </a:pPr>
                      <a:r>
                        <a:rPr lang="en-US" sz="1400" b="0" dirty="0">
                          <a:solidFill>
                            <a:srgbClr val="F2A93B"/>
                          </a:solidFill>
                          <a:latin typeface="Times New Roman" panose="02020603050405020304" pitchFamily="18" charset="0"/>
                          <a:ea typeface="Calibri" pitchFamily="34" charset="-122"/>
                          <a:cs typeface="Times New Roman" panose="02020603050405020304" pitchFamily="18" charset="0"/>
                        </a:rPr>
                        <a:t>In Progress</a:t>
                      </a:r>
                      <a:endParaRPr lang="en-US" sz="1400" b="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tc>
                  <a:txBody>
                    <a:bodyPr/>
                    <a:lstStyle/>
                    <a:p>
                      <a:pPr marL="0" indent="0">
                        <a:buNone/>
                      </a:pPr>
                      <a:r>
                        <a:rPr lang="en-US" sz="1400" b="0" dirty="0">
                          <a:solidFill>
                            <a:srgbClr val="233044"/>
                          </a:solidFill>
                          <a:latin typeface="Times New Roman" panose="02020603050405020304" pitchFamily="18" charset="0"/>
                          <a:ea typeface="Calibri" pitchFamily="34" charset="-122"/>
                          <a:cs typeface="Times New Roman" panose="02020603050405020304" pitchFamily="18" charset="0"/>
                        </a:rPr>
                        <a:t>Day 7</a:t>
                      </a:r>
                      <a:endParaRPr lang="en-US" sz="1400" b="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16081">
                <a:tc>
                  <a:txBody>
                    <a:bodyPr/>
                    <a:lstStyle/>
                    <a:p>
                      <a:pPr marL="0" indent="0">
                        <a:buNone/>
                      </a:pP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US04</a:t>
                      </a:r>
                      <a:endParaRPr lang="en-US" sz="1400" b="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chemeClr val="accent6">
                        <a:lumMod val="20000"/>
                        <a:lumOff val="80000"/>
                      </a:schemeClr>
                    </a:solidFill>
                  </a:tcPr>
                </a:tc>
                <a:tc>
                  <a:txBody>
                    <a:bodyPr/>
                    <a:lstStyle/>
                    <a:p>
                      <a:pPr marL="0" indent="0">
                        <a:buNone/>
                      </a:pP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Parking Slot Management</a:t>
                      </a:r>
                      <a:endParaRPr lang="en-US" sz="1400" b="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chemeClr val="accent6">
                        <a:lumMod val="20000"/>
                        <a:lumOff val="80000"/>
                      </a:schemeClr>
                    </a:solidFill>
                  </a:tcPr>
                </a:tc>
                <a:tc>
                  <a:txBody>
                    <a:bodyPr/>
                    <a:lstStyle/>
                    <a:p>
                      <a:pPr marL="0" indent="0">
                        <a:buNone/>
                      </a:pP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Samjhana</a:t>
                      </a:r>
                      <a:endParaRPr lang="en-US" sz="1400" b="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chemeClr val="accent6">
                        <a:lumMod val="20000"/>
                        <a:lumOff val="80000"/>
                      </a:schemeClr>
                    </a:solidFill>
                  </a:tcPr>
                </a:tc>
                <a:tc>
                  <a:txBody>
                    <a:bodyPr/>
                    <a:lstStyle/>
                    <a:p>
                      <a:pPr marL="0" indent="0">
                        <a:buNone/>
                      </a:pPr>
                      <a:r>
                        <a:rPr lang="en-US" sz="1400" b="0" dirty="0">
                          <a:solidFill>
                            <a:srgbClr val="233044"/>
                          </a:solidFill>
                          <a:latin typeface="Times New Roman" panose="02020603050405020304" pitchFamily="18" charset="0"/>
                          <a:ea typeface="Calibri" pitchFamily="34" charset="-122"/>
                          <a:cs typeface="Times New Roman" panose="02020603050405020304" pitchFamily="18" charset="0"/>
                        </a:rPr>
                        <a:t>5</a:t>
                      </a:r>
                      <a:endParaRPr lang="en-US" sz="1400" b="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chemeClr val="accent6">
                        <a:lumMod val="20000"/>
                        <a:lumOff val="80000"/>
                      </a:schemeClr>
                    </a:solidFill>
                  </a:tcPr>
                </a:tc>
                <a:tc>
                  <a:txBody>
                    <a:bodyPr/>
                    <a:lstStyle/>
                    <a:p>
                      <a:pPr marL="0" indent="0">
                        <a:buNone/>
                      </a:pPr>
                      <a:r>
                        <a:rPr lang="en-US" sz="1400" b="0" dirty="0">
                          <a:solidFill>
                            <a:srgbClr val="233044"/>
                          </a:solidFill>
                          <a:latin typeface="Times New Roman" panose="02020603050405020304" pitchFamily="18" charset="0"/>
                          <a:ea typeface="Calibri" pitchFamily="34" charset="-122"/>
                          <a:cs typeface="Times New Roman" panose="02020603050405020304" pitchFamily="18" charset="0"/>
                        </a:rPr>
                        <a:t>High</a:t>
                      </a:r>
                      <a:endParaRPr lang="en-US" sz="1400" b="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chemeClr val="accent6">
                        <a:lumMod val="20000"/>
                        <a:lumOff val="80000"/>
                      </a:schemeClr>
                    </a:solidFill>
                  </a:tcPr>
                </a:tc>
                <a:tc>
                  <a:txBody>
                    <a:bodyPr/>
                    <a:lstStyle/>
                    <a:p>
                      <a:pPr marL="0" indent="0">
                        <a:buNone/>
                      </a:pPr>
                      <a:r>
                        <a:rPr lang="en-US" sz="1400" b="0" i="0" kern="1200" dirty="0">
                          <a:solidFill>
                            <a:srgbClr val="0070C0"/>
                          </a:solidFill>
                          <a:effectLst/>
                          <a:latin typeface="Times New Roman" panose="02020603050405020304" pitchFamily="18" charset="0"/>
                          <a:ea typeface="+mn-ea"/>
                          <a:cs typeface="Times New Roman" panose="02020603050405020304" pitchFamily="18" charset="0"/>
                        </a:rPr>
                        <a:t>To Do</a:t>
                      </a:r>
                      <a:endParaRPr lang="en-US" sz="1400" b="0" dirty="0">
                        <a:solidFill>
                          <a:srgbClr val="0070C0"/>
                        </a:solidFill>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chemeClr val="accent6">
                        <a:lumMod val="20000"/>
                        <a:lumOff val="80000"/>
                      </a:schemeClr>
                    </a:solidFill>
                  </a:tcPr>
                </a:tc>
                <a:tc>
                  <a:txBody>
                    <a:bodyPr/>
                    <a:lstStyle/>
                    <a:p>
                      <a:pPr marL="0" indent="0">
                        <a:buNone/>
                      </a:pPr>
                      <a:r>
                        <a:rPr lang="en-US" sz="1400" b="0" dirty="0">
                          <a:solidFill>
                            <a:srgbClr val="233044"/>
                          </a:solidFill>
                          <a:latin typeface="Times New Roman" panose="02020603050405020304" pitchFamily="18" charset="0"/>
                          <a:ea typeface="Calibri" pitchFamily="34" charset="-122"/>
                          <a:cs typeface="Times New Roman" panose="02020603050405020304" pitchFamily="18" charset="0"/>
                        </a:rPr>
                        <a:t>Day 8</a:t>
                      </a:r>
                      <a:endParaRPr lang="en-US" sz="1400" b="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4"/>
                  </a:ext>
                </a:extLst>
              </a:tr>
              <a:tr h="616081">
                <a:tc>
                  <a:txBody>
                    <a:bodyPr/>
                    <a:lstStyle/>
                    <a:p>
                      <a:pPr marL="0" indent="0">
                        <a:buNone/>
                      </a:pP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US05</a:t>
                      </a:r>
                      <a:endParaRPr lang="en-US" sz="1400" b="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tc>
                  <a:txBody>
                    <a:bodyPr/>
                    <a:lstStyle/>
                    <a:p>
                      <a:pPr marL="0" indent="0">
                        <a:buNone/>
                      </a:pP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System Navigation</a:t>
                      </a:r>
                      <a:endParaRPr lang="en-US" sz="1400" b="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tc>
                  <a:txBody>
                    <a:bodyPr/>
                    <a:lstStyle/>
                    <a:p>
                      <a:pPr marL="0" indent="0">
                        <a:buNone/>
                      </a:pPr>
                      <a:r>
                        <a:rPr lang="en-US" sz="1400" b="0" dirty="0">
                          <a:solidFill>
                            <a:srgbClr val="233044"/>
                          </a:solidFill>
                          <a:latin typeface="Times New Roman" panose="02020603050405020304" pitchFamily="18" charset="0"/>
                          <a:ea typeface="Calibri" pitchFamily="34" charset="-122"/>
                          <a:cs typeface="Times New Roman" panose="02020603050405020304" pitchFamily="18" charset="0"/>
                        </a:rPr>
                        <a:t>Dinesh</a:t>
                      </a:r>
                      <a:endParaRPr lang="en-US" sz="1400" b="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tc>
                  <a:txBody>
                    <a:bodyPr/>
                    <a:lstStyle/>
                    <a:p>
                      <a:pPr marL="0" indent="0">
                        <a:buNone/>
                      </a:pPr>
                      <a:r>
                        <a:rPr lang="en-US" sz="1400" b="0" dirty="0">
                          <a:solidFill>
                            <a:srgbClr val="233044"/>
                          </a:solidFill>
                          <a:latin typeface="Times New Roman" panose="02020603050405020304" pitchFamily="18" charset="0"/>
                          <a:ea typeface="Calibri" pitchFamily="34" charset="-122"/>
                          <a:cs typeface="Times New Roman" panose="02020603050405020304" pitchFamily="18" charset="0"/>
                        </a:rPr>
                        <a:t>3</a:t>
                      </a:r>
                      <a:endParaRPr lang="en-US" sz="1400" b="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tc>
                  <a:txBody>
                    <a:bodyPr/>
                    <a:lstStyle/>
                    <a:p>
                      <a:pPr marL="0" indent="0">
                        <a:buNone/>
                      </a:pPr>
                      <a:r>
                        <a:rPr lang="en-US" sz="1400" b="0" dirty="0">
                          <a:solidFill>
                            <a:srgbClr val="233044"/>
                          </a:solidFill>
                          <a:latin typeface="Times New Roman" panose="02020603050405020304" pitchFamily="18" charset="0"/>
                          <a:ea typeface="Calibri" pitchFamily="34" charset="-122"/>
                          <a:cs typeface="Times New Roman" panose="02020603050405020304" pitchFamily="18" charset="0"/>
                        </a:rPr>
                        <a:t>Medium</a:t>
                      </a:r>
                      <a:endParaRPr lang="en-US" sz="1400" b="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tc>
                  <a:txBody>
                    <a:bodyPr/>
                    <a:lstStyle/>
                    <a:p>
                      <a:pPr marL="0" indent="0">
                        <a:buNone/>
                      </a:pPr>
                      <a:r>
                        <a:rPr lang="en-US" sz="1400" b="0" i="0" kern="1200" dirty="0">
                          <a:solidFill>
                            <a:srgbClr val="0070C0"/>
                          </a:solidFill>
                          <a:effectLst/>
                          <a:latin typeface="Times New Roman" panose="02020603050405020304" pitchFamily="18" charset="0"/>
                          <a:ea typeface="+mn-ea"/>
                          <a:cs typeface="Times New Roman" panose="02020603050405020304" pitchFamily="18" charset="0"/>
                        </a:rPr>
                        <a:t>To Do</a:t>
                      </a:r>
                      <a:endParaRPr lang="en-US" sz="1400" b="0" dirty="0">
                        <a:solidFill>
                          <a:srgbClr val="0070C0"/>
                        </a:solidFill>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tc>
                  <a:txBody>
                    <a:bodyPr/>
                    <a:lstStyle/>
                    <a:p>
                      <a:pPr marL="0" indent="0">
                        <a:buNone/>
                      </a:pPr>
                      <a:r>
                        <a:rPr lang="en-US" sz="1400" b="0" dirty="0">
                          <a:solidFill>
                            <a:srgbClr val="233044"/>
                          </a:solidFill>
                          <a:latin typeface="Times New Roman" panose="02020603050405020304" pitchFamily="18" charset="0"/>
                          <a:ea typeface="Calibri" pitchFamily="34" charset="-122"/>
                          <a:cs typeface="Times New Roman" panose="02020603050405020304" pitchFamily="18" charset="0"/>
                        </a:rPr>
                        <a:t>Day 9</a:t>
                      </a:r>
                      <a:endParaRPr lang="en-US" sz="1400" b="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Text 8">
            <a:extLst>
              <a:ext uri="{FF2B5EF4-FFF2-40B4-BE49-F238E27FC236}">
                <a16:creationId xmlns:a16="http://schemas.microsoft.com/office/drawing/2014/main" id="{BB91E009-2B15-6161-5059-0B6A6396FE66}"/>
              </a:ext>
            </a:extLst>
          </p:cNvPr>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10</a:t>
            </a:r>
            <a:endParaRPr lang="en-US" sz="1000" dirty="0"/>
          </a:p>
        </p:txBody>
      </p:sp>
    </p:spTree>
    <p:extLst>
      <p:ext uri="{BB962C8B-B14F-4D97-AF65-F5344CB8AC3E}">
        <p14:creationId xmlns:p14="http://schemas.microsoft.com/office/powerpoint/2010/main" val="19588966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069D05A-3E91-B3B0-3E33-C455B12A74DC}"/>
              </a:ext>
            </a:extLst>
          </p:cNvPr>
          <p:cNvSpPr txBox="1"/>
          <p:nvPr/>
        </p:nvSpPr>
        <p:spPr>
          <a:xfrm>
            <a:off x="230933" y="113007"/>
            <a:ext cx="6097554" cy="492443"/>
          </a:xfrm>
          <a:prstGeom prst="rect">
            <a:avLst/>
          </a:prstGeom>
          <a:noFill/>
        </p:spPr>
        <p:txBody>
          <a:bodyPr wrap="square">
            <a:spAutoFit/>
          </a:bodyPr>
          <a:lstStyle/>
          <a:p>
            <a:r>
              <a:rPr lang="en-US" sz="2600" b="1" dirty="0">
                <a:solidFill>
                  <a:srgbClr val="21295C"/>
                </a:solidFill>
                <a:latin typeface="Cambria" pitchFamily="34" charset="0"/>
                <a:ea typeface="Cambria" pitchFamily="34" charset="-122"/>
                <a:cs typeface="Cambria" pitchFamily="34" charset="-120"/>
              </a:rPr>
              <a:t>5.3 Sequence and Activity Diagram</a:t>
            </a:r>
            <a:endParaRPr lang="en-US" sz="2600" dirty="0"/>
          </a:p>
        </p:txBody>
      </p:sp>
      <p:sp>
        <p:nvSpPr>
          <p:cNvPr id="7" name="Shape 3">
            <a:extLst>
              <a:ext uri="{FF2B5EF4-FFF2-40B4-BE49-F238E27FC236}">
                <a16:creationId xmlns:a16="http://schemas.microsoft.com/office/drawing/2014/main" id="{EB1FA766-F2C1-AE38-AF2E-E1F5E36F5841}"/>
              </a:ext>
            </a:extLst>
          </p:cNvPr>
          <p:cNvSpPr/>
          <p:nvPr/>
        </p:nvSpPr>
        <p:spPr>
          <a:xfrm>
            <a:off x="354562" y="634478"/>
            <a:ext cx="5645021" cy="5859624"/>
          </a:xfrm>
          <a:prstGeom prst="roundRect">
            <a:avLst>
              <a:gd name="adj" fmla="val 2712"/>
            </a:avLst>
          </a:prstGeom>
          <a:solidFill>
            <a:srgbClr val="FFFFFF"/>
          </a:solidFill>
          <a:ln w="12700">
            <a:solidFill>
              <a:srgbClr val="00B050"/>
            </a:solidFill>
            <a:prstDash val="solid"/>
          </a:ln>
        </p:spPr>
      </p:sp>
      <p:sp>
        <p:nvSpPr>
          <p:cNvPr id="9" name="Shape 3">
            <a:extLst>
              <a:ext uri="{FF2B5EF4-FFF2-40B4-BE49-F238E27FC236}">
                <a16:creationId xmlns:a16="http://schemas.microsoft.com/office/drawing/2014/main" id="{6EBDBC7E-9352-09AC-4B0D-D51795E0071E}"/>
              </a:ext>
            </a:extLst>
          </p:cNvPr>
          <p:cNvSpPr/>
          <p:nvPr/>
        </p:nvSpPr>
        <p:spPr>
          <a:xfrm>
            <a:off x="6241395" y="634478"/>
            <a:ext cx="5645021" cy="5859624"/>
          </a:xfrm>
          <a:prstGeom prst="roundRect">
            <a:avLst>
              <a:gd name="adj" fmla="val 2712"/>
            </a:avLst>
          </a:prstGeom>
          <a:solidFill>
            <a:srgbClr val="FFFFFF"/>
          </a:solidFill>
          <a:ln w="12700">
            <a:solidFill>
              <a:srgbClr val="00B050"/>
            </a:solidFill>
            <a:prstDash val="solid"/>
          </a:ln>
        </p:spPr>
      </p:sp>
      <p:sp>
        <p:nvSpPr>
          <p:cNvPr id="11" name="Text 21">
            <a:extLst>
              <a:ext uri="{FF2B5EF4-FFF2-40B4-BE49-F238E27FC236}">
                <a16:creationId xmlns:a16="http://schemas.microsoft.com/office/drawing/2014/main" id="{F70FC460-D8FE-599E-C7BE-EFF6A3D96168}"/>
              </a:ext>
            </a:extLst>
          </p:cNvPr>
          <p:cNvSpPr/>
          <p:nvPr/>
        </p:nvSpPr>
        <p:spPr>
          <a:xfrm>
            <a:off x="1315180" y="671256"/>
            <a:ext cx="2976901" cy="502920"/>
          </a:xfrm>
          <a:prstGeom prst="rect">
            <a:avLst/>
          </a:prstGeom>
          <a:noFill/>
          <a:ln/>
        </p:spPr>
        <p:txBody>
          <a:bodyPr wrap="square" lIns="0" tIns="0" rIns="0" bIns="0" rtlCol="0" anchor="ctr"/>
          <a:lstStyle/>
          <a:p>
            <a:pPr marL="0" indent="0" algn="ctr">
              <a:buNone/>
            </a:pPr>
            <a:r>
              <a:rPr lang="en-US" b="1" dirty="0">
                <a:solidFill>
                  <a:srgbClr val="21295C"/>
                </a:solidFill>
                <a:latin typeface="Times New Roman" panose="02020603050405020304" pitchFamily="18" charset="0"/>
                <a:ea typeface="Cambria" pitchFamily="34" charset="-122"/>
                <a:cs typeface="Times New Roman" panose="02020603050405020304" pitchFamily="18" charset="0"/>
              </a:rPr>
              <a:t>Diagram of Product Backlog</a:t>
            </a:r>
            <a:endParaRPr lang="en-US" dirty="0">
              <a:latin typeface="Times New Roman" panose="02020603050405020304" pitchFamily="18" charset="0"/>
              <a:cs typeface="Times New Roman" panose="02020603050405020304" pitchFamily="18" charset="0"/>
            </a:endParaRPr>
          </a:p>
        </p:txBody>
      </p:sp>
      <p:sp>
        <p:nvSpPr>
          <p:cNvPr id="15" name="Text 21">
            <a:extLst>
              <a:ext uri="{FF2B5EF4-FFF2-40B4-BE49-F238E27FC236}">
                <a16:creationId xmlns:a16="http://schemas.microsoft.com/office/drawing/2014/main" id="{9505941E-43CD-10C8-FE24-F2735E56B78E}"/>
              </a:ext>
            </a:extLst>
          </p:cNvPr>
          <p:cNvSpPr/>
          <p:nvPr/>
        </p:nvSpPr>
        <p:spPr>
          <a:xfrm>
            <a:off x="7575454" y="671256"/>
            <a:ext cx="2976901" cy="502920"/>
          </a:xfrm>
          <a:prstGeom prst="rect">
            <a:avLst/>
          </a:prstGeom>
          <a:noFill/>
          <a:ln/>
        </p:spPr>
        <p:txBody>
          <a:bodyPr wrap="square" lIns="0" tIns="0" rIns="0" bIns="0" rtlCol="0" anchor="ctr"/>
          <a:lstStyle/>
          <a:p>
            <a:pPr marL="0" indent="0" algn="ctr">
              <a:buNone/>
            </a:pPr>
            <a:r>
              <a:rPr lang="en-US" b="1" dirty="0">
                <a:solidFill>
                  <a:srgbClr val="21295C"/>
                </a:solidFill>
                <a:latin typeface="Times New Roman" panose="02020603050405020304" pitchFamily="18" charset="0"/>
                <a:ea typeface="Cambria" pitchFamily="34" charset="-122"/>
                <a:cs typeface="Times New Roman" panose="02020603050405020304" pitchFamily="18" charset="0"/>
              </a:rPr>
              <a:t>Diagram of Spring 1</a:t>
            </a:r>
            <a:endParaRPr lang="en-US" dirty="0">
              <a:latin typeface="Times New Roman" panose="020206030504050203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B1EF8AEE-5F35-9BCC-BC8B-0AA0BA936D00}"/>
              </a:ext>
            </a:extLst>
          </p:cNvPr>
          <p:cNvPicPr>
            <a:picLocks noChangeAspect="1"/>
          </p:cNvPicPr>
          <p:nvPr/>
        </p:nvPicPr>
        <p:blipFill>
          <a:blip r:embed="rId2"/>
          <a:stretch>
            <a:fillRect/>
          </a:stretch>
        </p:blipFill>
        <p:spPr>
          <a:xfrm>
            <a:off x="1903445" y="1333836"/>
            <a:ext cx="2092380" cy="4922360"/>
          </a:xfrm>
          <a:prstGeom prst="rect">
            <a:avLst/>
          </a:prstGeom>
        </p:spPr>
      </p:pic>
      <p:pic>
        <p:nvPicPr>
          <p:cNvPr id="19" name="Picture 18">
            <a:extLst>
              <a:ext uri="{FF2B5EF4-FFF2-40B4-BE49-F238E27FC236}">
                <a16:creationId xmlns:a16="http://schemas.microsoft.com/office/drawing/2014/main" id="{8EE65AA0-93CB-AA13-EE44-693CF400AC8A}"/>
              </a:ext>
            </a:extLst>
          </p:cNvPr>
          <p:cNvPicPr>
            <a:picLocks noChangeAspect="1"/>
          </p:cNvPicPr>
          <p:nvPr/>
        </p:nvPicPr>
        <p:blipFill>
          <a:blip r:embed="rId3"/>
          <a:stretch>
            <a:fillRect/>
          </a:stretch>
        </p:blipFill>
        <p:spPr>
          <a:xfrm>
            <a:off x="6447454" y="1978089"/>
            <a:ext cx="5330018" cy="2015413"/>
          </a:xfrm>
          <a:prstGeom prst="rect">
            <a:avLst/>
          </a:prstGeom>
        </p:spPr>
      </p:pic>
      <p:sp>
        <p:nvSpPr>
          <p:cNvPr id="21" name="Text 8">
            <a:extLst>
              <a:ext uri="{FF2B5EF4-FFF2-40B4-BE49-F238E27FC236}">
                <a16:creationId xmlns:a16="http://schemas.microsoft.com/office/drawing/2014/main" id="{7230BCB6-FF51-83B9-5997-C31272B813FE}"/>
              </a:ext>
            </a:extLst>
          </p:cNvPr>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11</a:t>
            </a:r>
            <a:endParaRPr lang="en-US" sz="1000" dirty="0"/>
          </a:p>
        </p:txBody>
      </p:sp>
    </p:spTree>
    <p:extLst>
      <p:ext uri="{BB962C8B-B14F-4D97-AF65-F5344CB8AC3E}">
        <p14:creationId xmlns:p14="http://schemas.microsoft.com/office/powerpoint/2010/main" val="175523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023B667-F44D-1C07-9B30-44ED64092159}"/>
              </a:ext>
            </a:extLst>
          </p:cNvPr>
          <p:cNvSpPr txBox="1"/>
          <p:nvPr/>
        </p:nvSpPr>
        <p:spPr>
          <a:xfrm>
            <a:off x="305577" y="243284"/>
            <a:ext cx="7821385" cy="492443"/>
          </a:xfrm>
          <a:prstGeom prst="rect">
            <a:avLst/>
          </a:prstGeom>
          <a:noFill/>
        </p:spPr>
        <p:txBody>
          <a:bodyPr wrap="square">
            <a:spAutoFit/>
          </a:bodyPr>
          <a:lstStyle/>
          <a:p>
            <a:pPr marL="0" indent="0">
              <a:buNone/>
            </a:pPr>
            <a:r>
              <a:rPr lang="en-US" sz="2600" b="1" dirty="0">
                <a:solidFill>
                  <a:srgbClr val="21295C"/>
                </a:solidFill>
                <a:latin typeface="Cambria" pitchFamily="34" charset="0"/>
                <a:ea typeface="Cambria" pitchFamily="34" charset="-122"/>
                <a:cs typeface="Cambria" pitchFamily="34" charset="-120"/>
              </a:rPr>
              <a:t>5.3 Gannt Chart</a:t>
            </a:r>
            <a:endParaRPr lang="en-US" sz="2600" dirty="0"/>
          </a:p>
        </p:txBody>
      </p:sp>
      <p:sp>
        <p:nvSpPr>
          <p:cNvPr id="5" name="TextBox 4">
            <a:extLst>
              <a:ext uri="{FF2B5EF4-FFF2-40B4-BE49-F238E27FC236}">
                <a16:creationId xmlns:a16="http://schemas.microsoft.com/office/drawing/2014/main" id="{ED0765E9-0117-0DD3-8ACA-063AB34C8FEC}"/>
              </a:ext>
            </a:extLst>
          </p:cNvPr>
          <p:cNvSpPr txBox="1"/>
          <p:nvPr/>
        </p:nvSpPr>
        <p:spPr>
          <a:xfrm>
            <a:off x="305577" y="806612"/>
            <a:ext cx="10403633" cy="791499"/>
          </a:xfrm>
          <a:prstGeom prst="rect">
            <a:avLst/>
          </a:prstGeom>
          <a:noFill/>
        </p:spPr>
        <p:txBody>
          <a:bodyPr wrap="square">
            <a:spAutoFit/>
          </a:bodyPr>
          <a:lstStyle/>
          <a:p>
            <a:pPr>
              <a:lnSpc>
                <a:spcPct val="150000"/>
              </a:lnSpc>
            </a:pPr>
            <a:r>
              <a:rPr lang="en-US" sz="1600" dirty="0">
                <a:latin typeface="Times New Roman" panose="02020603050405020304" pitchFamily="18" charset="0"/>
                <a:cs typeface="Times New Roman" panose="02020603050405020304" pitchFamily="18" charset="0"/>
              </a:rPr>
              <a:t>A Gantt chart helps us visualize the timeline, schedule, and progress of Sprint 1 tasks. We created it using tools such as Excel or Gantt Project to track task durations and deadlines</a:t>
            </a:r>
            <a:endParaRPr lang="en-US" sz="1600" dirty="0"/>
          </a:p>
        </p:txBody>
      </p:sp>
      <p:sp>
        <p:nvSpPr>
          <p:cNvPr id="4" name="Text 8">
            <a:extLst>
              <a:ext uri="{FF2B5EF4-FFF2-40B4-BE49-F238E27FC236}">
                <a16:creationId xmlns:a16="http://schemas.microsoft.com/office/drawing/2014/main" id="{428EEC7C-AF7B-F0C9-931C-AA891E612C0C}"/>
              </a:ext>
            </a:extLst>
          </p:cNvPr>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12</a:t>
            </a:r>
            <a:endParaRPr lang="en-US" sz="1000" dirty="0"/>
          </a:p>
        </p:txBody>
      </p:sp>
      <p:pic>
        <p:nvPicPr>
          <p:cNvPr id="7" name="Picture 6">
            <a:extLst>
              <a:ext uri="{FF2B5EF4-FFF2-40B4-BE49-F238E27FC236}">
                <a16:creationId xmlns:a16="http://schemas.microsoft.com/office/drawing/2014/main" id="{BACF1480-51ED-6FB9-CB6C-42D02902EC03}"/>
              </a:ext>
            </a:extLst>
          </p:cNvPr>
          <p:cNvPicPr>
            <a:picLocks noChangeAspect="1"/>
          </p:cNvPicPr>
          <p:nvPr/>
        </p:nvPicPr>
        <p:blipFill>
          <a:blip r:embed="rId2"/>
          <a:stretch>
            <a:fillRect/>
          </a:stretch>
        </p:blipFill>
        <p:spPr>
          <a:xfrm>
            <a:off x="965200" y="1668996"/>
            <a:ext cx="9499600" cy="4634632"/>
          </a:xfrm>
          <a:prstGeom prst="rect">
            <a:avLst/>
          </a:prstGeom>
        </p:spPr>
      </p:pic>
    </p:spTree>
    <p:extLst>
      <p:ext uri="{BB962C8B-B14F-4D97-AF65-F5344CB8AC3E}">
        <p14:creationId xmlns:p14="http://schemas.microsoft.com/office/powerpoint/2010/main" val="39864121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06  TESTING</a:t>
            </a:r>
            <a:endParaRPr lang="en-US" sz="13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Testing Strategy</a:t>
            </a:r>
            <a:endParaRPr lang="en-US" sz="3000" dirty="0"/>
          </a:p>
        </p:txBody>
      </p:sp>
      <p:sp>
        <p:nvSpPr>
          <p:cNvPr id="4" name="Text 2"/>
          <p:cNvSpPr/>
          <p:nvPr/>
        </p:nvSpPr>
        <p:spPr>
          <a:xfrm>
            <a:off x="548640" y="1325880"/>
            <a:ext cx="11064240" cy="761784"/>
          </a:xfrm>
          <a:prstGeom prst="rect">
            <a:avLst/>
          </a:prstGeom>
          <a:noFill/>
          <a:ln/>
        </p:spPr>
        <p:txBody>
          <a:bodyPr wrap="square" lIns="0" tIns="0" rIns="0" bIns="0" rtlCol="0" anchor="ctr"/>
          <a:lstStyle/>
          <a:p>
            <a:pPr>
              <a:lnSpc>
                <a:spcPct val="150000"/>
              </a:lnSpc>
            </a:pPr>
            <a:r>
              <a:rPr lang="en-US" sz="1400" dirty="0">
                <a:latin typeface="Times New Roman" panose="02020603050405020304" pitchFamily="18" charset="0"/>
                <a:cs typeface="Times New Roman" panose="02020603050405020304" pitchFamily="18" charset="0"/>
              </a:rPr>
              <a:t>Testing helps us verify that the system meets the defined requirements through four testing levels, with each test documented using a Test ID, objective, input, expected output, actual output, and status for clear and organized tracking.</a:t>
            </a:r>
          </a:p>
        </p:txBody>
      </p:sp>
      <p:sp>
        <p:nvSpPr>
          <p:cNvPr id="5" name="Shape 3"/>
          <p:cNvSpPr/>
          <p:nvPr/>
        </p:nvSpPr>
        <p:spPr>
          <a:xfrm>
            <a:off x="548640" y="2286000"/>
            <a:ext cx="2697480" cy="2286000"/>
          </a:xfrm>
          <a:prstGeom prst="roundRect">
            <a:avLst>
              <a:gd name="adj" fmla="val 3200"/>
            </a:avLst>
          </a:prstGeom>
          <a:solidFill>
            <a:srgbClr val="FFFFFF"/>
          </a:solidFill>
          <a:ln w="12700">
            <a:solidFill>
              <a:srgbClr val="DCE6EA"/>
            </a:solidFill>
            <a:prstDash val="solid"/>
          </a:ln>
        </p:spPr>
      </p:sp>
      <p:sp>
        <p:nvSpPr>
          <p:cNvPr id="6" name="Shape 4"/>
          <p:cNvSpPr/>
          <p:nvPr/>
        </p:nvSpPr>
        <p:spPr>
          <a:xfrm>
            <a:off x="1613916" y="2441448"/>
            <a:ext cx="566928" cy="566928"/>
          </a:xfrm>
          <a:prstGeom prst="ellipse">
            <a:avLst/>
          </a:prstGeom>
          <a:solidFill>
            <a:srgbClr val="065A82"/>
          </a:solidFill>
          <a:ln/>
        </p:spPr>
      </p:sp>
      <p:sp>
        <p:nvSpPr>
          <p:cNvPr id="7" name="Text 5"/>
          <p:cNvSpPr/>
          <p:nvPr/>
        </p:nvSpPr>
        <p:spPr>
          <a:xfrm>
            <a:off x="1613916" y="2441448"/>
            <a:ext cx="566928" cy="56692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U</a:t>
            </a:r>
            <a:endParaRPr lang="en-US" sz="1250" dirty="0"/>
          </a:p>
        </p:txBody>
      </p:sp>
      <p:sp>
        <p:nvSpPr>
          <p:cNvPr id="8" name="Text 6"/>
          <p:cNvSpPr/>
          <p:nvPr/>
        </p:nvSpPr>
        <p:spPr>
          <a:xfrm>
            <a:off x="685800" y="3127248"/>
            <a:ext cx="2423160" cy="411480"/>
          </a:xfrm>
          <a:prstGeom prst="rect">
            <a:avLst/>
          </a:prstGeom>
          <a:noFill/>
          <a:ln/>
        </p:spPr>
        <p:txBody>
          <a:bodyPr wrap="square" lIns="0" tIns="0" rIns="0" bIns="0" rtlCol="0" anchor="ctr"/>
          <a:lstStyle/>
          <a:p>
            <a:pPr marL="0" indent="0" algn="ctr">
              <a:buNone/>
            </a:pPr>
            <a:r>
              <a:rPr lang="en-US" sz="1600" b="1" dirty="0">
                <a:solidFill>
                  <a:srgbClr val="21295C"/>
                </a:solidFill>
                <a:latin typeface="Cambria" pitchFamily="34" charset="0"/>
                <a:ea typeface="Cambria" pitchFamily="34" charset="-122"/>
                <a:cs typeface="Cambria" pitchFamily="34" charset="-120"/>
              </a:rPr>
              <a:t>Unit Testing</a:t>
            </a:r>
            <a:endParaRPr lang="en-US" sz="1600" dirty="0"/>
          </a:p>
        </p:txBody>
      </p:sp>
      <p:sp>
        <p:nvSpPr>
          <p:cNvPr id="9" name="Text 7"/>
          <p:cNvSpPr/>
          <p:nvPr/>
        </p:nvSpPr>
        <p:spPr>
          <a:xfrm>
            <a:off x="731520" y="3547872"/>
            <a:ext cx="2331720" cy="960120"/>
          </a:xfrm>
          <a:prstGeom prst="rect">
            <a:avLst/>
          </a:prstGeom>
          <a:noFill/>
          <a:ln/>
        </p:spPr>
        <p:txBody>
          <a:bodyPr wrap="square" lIns="0" tIns="0" rIns="0" bIns="0" rtlCol="0" anchor="t"/>
          <a:lstStyle/>
          <a:p>
            <a:pPr algn="ctr">
              <a:lnSpc>
                <a:spcPct val="115000"/>
              </a:lnSpc>
            </a:pPr>
            <a:r>
              <a:rPr lang="en-US" sz="1400" dirty="0">
                <a:latin typeface="Times New Roman" panose="02020603050405020304" pitchFamily="18" charset="0"/>
                <a:cs typeface="Times New Roman" panose="02020603050405020304" pitchFamily="18" charset="0"/>
              </a:rPr>
              <a:t>Checks individual components separately, such as the parking fee calculation.</a:t>
            </a:r>
          </a:p>
        </p:txBody>
      </p:sp>
      <p:sp>
        <p:nvSpPr>
          <p:cNvPr id="10" name="Shape 8"/>
          <p:cNvSpPr/>
          <p:nvPr/>
        </p:nvSpPr>
        <p:spPr>
          <a:xfrm>
            <a:off x="3410712" y="2286000"/>
            <a:ext cx="2697480" cy="2286000"/>
          </a:xfrm>
          <a:prstGeom prst="roundRect">
            <a:avLst>
              <a:gd name="adj" fmla="val 3200"/>
            </a:avLst>
          </a:prstGeom>
          <a:solidFill>
            <a:srgbClr val="FFFFFF"/>
          </a:solidFill>
          <a:ln w="12700">
            <a:solidFill>
              <a:srgbClr val="DCE6EA"/>
            </a:solidFill>
            <a:prstDash val="solid"/>
          </a:ln>
        </p:spPr>
      </p:sp>
      <p:sp>
        <p:nvSpPr>
          <p:cNvPr id="11" name="Shape 9"/>
          <p:cNvSpPr/>
          <p:nvPr/>
        </p:nvSpPr>
        <p:spPr>
          <a:xfrm>
            <a:off x="4475988" y="2441448"/>
            <a:ext cx="566928" cy="566928"/>
          </a:xfrm>
          <a:prstGeom prst="ellipse">
            <a:avLst/>
          </a:prstGeom>
          <a:solidFill>
            <a:srgbClr val="065A82"/>
          </a:solidFill>
          <a:ln/>
        </p:spPr>
      </p:sp>
      <p:sp>
        <p:nvSpPr>
          <p:cNvPr id="12" name="Text 10"/>
          <p:cNvSpPr/>
          <p:nvPr/>
        </p:nvSpPr>
        <p:spPr>
          <a:xfrm>
            <a:off x="4475988" y="2441448"/>
            <a:ext cx="566928" cy="56692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I</a:t>
            </a:r>
            <a:endParaRPr lang="en-US" sz="1250" dirty="0"/>
          </a:p>
        </p:txBody>
      </p:sp>
      <p:sp>
        <p:nvSpPr>
          <p:cNvPr id="13" name="Text 11"/>
          <p:cNvSpPr/>
          <p:nvPr/>
        </p:nvSpPr>
        <p:spPr>
          <a:xfrm>
            <a:off x="3547872" y="3127248"/>
            <a:ext cx="2423160" cy="411480"/>
          </a:xfrm>
          <a:prstGeom prst="rect">
            <a:avLst/>
          </a:prstGeom>
          <a:noFill/>
          <a:ln/>
        </p:spPr>
        <p:txBody>
          <a:bodyPr wrap="square" lIns="0" tIns="0" rIns="0" bIns="0" rtlCol="0" anchor="ctr"/>
          <a:lstStyle/>
          <a:p>
            <a:pPr marL="0" indent="0" algn="ctr">
              <a:buNone/>
            </a:pPr>
            <a:r>
              <a:rPr lang="en-US" sz="1600" b="1" dirty="0">
                <a:solidFill>
                  <a:srgbClr val="21295C"/>
                </a:solidFill>
                <a:latin typeface="Cambria" pitchFamily="34" charset="0"/>
                <a:ea typeface="Cambria" pitchFamily="34" charset="-122"/>
                <a:cs typeface="Cambria" pitchFamily="34" charset="-120"/>
              </a:rPr>
              <a:t>Integration Testing</a:t>
            </a:r>
            <a:endParaRPr lang="en-US" sz="1600" dirty="0"/>
          </a:p>
        </p:txBody>
      </p:sp>
      <p:sp>
        <p:nvSpPr>
          <p:cNvPr id="14" name="Text 12"/>
          <p:cNvSpPr/>
          <p:nvPr/>
        </p:nvSpPr>
        <p:spPr>
          <a:xfrm>
            <a:off x="3593592" y="3547872"/>
            <a:ext cx="2331720" cy="960120"/>
          </a:xfrm>
          <a:prstGeom prst="rect">
            <a:avLst/>
          </a:prstGeom>
          <a:noFill/>
          <a:ln/>
        </p:spPr>
        <p:txBody>
          <a:bodyPr wrap="square" lIns="0" tIns="0" rIns="0" bIns="0" rtlCol="0" anchor="t"/>
          <a:lstStyle/>
          <a:p>
            <a:pPr algn="ctr">
              <a:lnSpc>
                <a:spcPct val="115000"/>
              </a:lnSpc>
            </a:pPr>
            <a:r>
              <a:rPr lang="en-US" sz="1400" dirty="0">
                <a:latin typeface="Times New Roman" panose="02020603050405020304" pitchFamily="18" charset="0"/>
                <a:cs typeface="Times New Roman" panose="02020603050405020304" pitchFamily="18" charset="0"/>
              </a:rPr>
              <a:t>Checks that different modules work together correctly, such as vehicle entry logging and slot allocation.</a:t>
            </a:r>
          </a:p>
        </p:txBody>
      </p:sp>
      <p:sp>
        <p:nvSpPr>
          <p:cNvPr id="15" name="Shape 13"/>
          <p:cNvSpPr/>
          <p:nvPr/>
        </p:nvSpPr>
        <p:spPr>
          <a:xfrm>
            <a:off x="6272784" y="2286000"/>
            <a:ext cx="2697480" cy="2286000"/>
          </a:xfrm>
          <a:prstGeom prst="roundRect">
            <a:avLst>
              <a:gd name="adj" fmla="val 3200"/>
            </a:avLst>
          </a:prstGeom>
          <a:solidFill>
            <a:srgbClr val="FFFFFF"/>
          </a:solidFill>
          <a:ln w="12700">
            <a:solidFill>
              <a:srgbClr val="DCE6EA"/>
            </a:solidFill>
            <a:prstDash val="solid"/>
          </a:ln>
        </p:spPr>
      </p:sp>
      <p:sp>
        <p:nvSpPr>
          <p:cNvPr id="16" name="Shape 14"/>
          <p:cNvSpPr/>
          <p:nvPr/>
        </p:nvSpPr>
        <p:spPr>
          <a:xfrm>
            <a:off x="7338060" y="2441448"/>
            <a:ext cx="566928" cy="566928"/>
          </a:xfrm>
          <a:prstGeom prst="ellipse">
            <a:avLst/>
          </a:prstGeom>
          <a:solidFill>
            <a:srgbClr val="065A82"/>
          </a:solidFill>
          <a:ln/>
        </p:spPr>
      </p:sp>
      <p:sp>
        <p:nvSpPr>
          <p:cNvPr id="17" name="Text 15"/>
          <p:cNvSpPr/>
          <p:nvPr/>
        </p:nvSpPr>
        <p:spPr>
          <a:xfrm>
            <a:off x="7338060" y="2441448"/>
            <a:ext cx="566928" cy="56692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SY</a:t>
            </a:r>
            <a:endParaRPr lang="en-US" sz="1250" dirty="0"/>
          </a:p>
        </p:txBody>
      </p:sp>
      <p:sp>
        <p:nvSpPr>
          <p:cNvPr id="18" name="Text 16"/>
          <p:cNvSpPr/>
          <p:nvPr/>
        </p:nvSpPr>
        <p:spPr>
          <a:xfrm>
            <a:off x="6409944" y="3127248"/>
            <a:ext cx="2423160" cy="411480"/>
          </a:xfrm>
          <a:prstGeom prst="rect">
            <a:avLst/>
          </a:prstGeom>
          <a:noFill/>
          <a:ln/>
        </p:spPr>
        <p:txBody>
          <a:bodyPr wrap="square" lIns="0" tIns="0" rIns="0" bIns="0" rtlCol="0" anchor="ctr"/>
          <a:lstStyle/>
          <a:p>
            <a:pPr marL="0" indent="0" algn="ctr">
              <a:buNone/>
            </a:pPr>
            <a:r>
              <a:rPr lang="en-US" sz="1600" b="1" dirty="0">
                <a:solidFill>
                  <a:srgbClr val="21295C"/>
                </a:solidFill>
                <a:latin typeface="Cambria" pitchFamily="34" charset="0"/>
                <a:ea typeface="Cambria" pitchFamily="34" charset="-122"/>
                <a:cs typeface="Cambria" pitchFamily="34" charset="-120"/>
              </a:rPr>
              <a:t>System Testing</a:t>
            </a:r>
            <a:endParaRPr lang="en-US" sz="1600" dirty="0"/>
          </a:p>
        </p:txBody>
      </p:sp>
      <p:sp>
        <p:nvSpPr>
          <p:cNvPr id="19" name="Text 17"/>
          <p:cNvSpPr/>
          <p:nvPr/>
        </p:nvSpPr>
        <p:spPr>
          <a:xfrm>
            <a:off x="6455664" y="3547872"/>
            <a:ext cx="2331720" cy="960120"/>
          </a:xfrm>
          <a:prstGeom prst="rect">
            <a:avLst/>
          </a:prstGeom>
          <a:noFill/>
          <a:ln/>
        </p:spPr>
        <p:txBody>
          <a:bodyPr wrap="square" lIns="0" tIns="0" rIns="0" bIns="0" rtlCol="0" anchor="t"/>
          <a:lstStyle/>
          <a:p>
            <a:pPr algn="ctr"/>
            <a:r>
              <a:rPr lang="en-US" sz="1400" dirty="0">
                <a:latin typeface="Times New Roman" panose="02020603050405020304" pitchFamily="18" charset="0"/>
                <a:cs typeface="Times New Roman" panose="02020603050405020304" pitchFamily="18" charset="0"/>
              </a:rPr>
              <a:t>Checks the complete system from start to finish against the defined functional requirements.</a:t>
            </a:r>
          </a:p>
        </p:txBody>
      </p:sp>
      <p:sp>
        <p:nvSpPr>
          <p:cNvPr id="20" name="Shape 18"/>
          <p:cNvSpPr/>
          <p:nvPr/>
        </p:nvSpPr>
        <p:spPr>
          <a:xfrm>
            <a:off x="9134856" y="2286000"/>
            <a:ext cx="2697480" cy="2286000"/>
          </a:xfrm>
          <a:prstGeom prst="roundRect">
            <a:avLst>
              <a:gd name="adj" fmla="val 3200"/>
            </a:avLst>
          </a:prstGeom>
          <a:solidFill>
            <a:srgbClr val="FFFFFF"/>
          </a:solidFill>
          <a:ln w="12700">
            <a:solidFill>
              <a:srgbClr val="DCE6EA"/>
            </a:solidFill>
            <a:prstDash val="solid"/>
          </a:ln>
        </p:spPr>
      </p:sp>
      <p:sp>
        <p:nvSpPr>
          <p:cNvPr id="21" name="Shape 19"/>
          <p:cNvSpPr/>
          <p:nvPr/>
        </p:nvSpPr>
        <p:spPr>
          <a:xfrm>
            <a:off x="10200132" y="2441448"/>
            <a:ext cx="566928" cy="566928"/>
          </a:xfrm>
          <a:prstGeom prst="ellipse">
            <a:avLst/>
          </a:prstGeom>
          <a:solidFill>
            <a:srgbClr val="065A82"/>
          </a:solidFill>
          <a:ln/>
        </p:spPr>
      </p:sp>
      <p:sp>
        <p:nvSpPr>
          <p:cNvPr id="22" name="Text 20"/>
          <p:cNvSpPr/>
          <p:nvPr/>
        </p:nvSpPr>
        <p:spPr>
          <a:xfrm>
            <a:off x="10200132" y="2441448"/>
            <a:ext cx="566928" cy="56692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UAT</a:t>
            </a:r>
            <a:endParaRPr lang="en-US" sz="1250" dirty="0"/>
          </a:p>
        </p:txBody>
      </p:sp>
      <p:sp>
        <p:nvSpPr>
          <p:cNvPr id="23" name="Text 21"/>
          <p:cNvSpPr/>
          <p:nvPr/>
        </p:nvSpPr>
        <p:spPr>
          <a:xfrm>
            <a:off x="9272016" y="3127248"/>
            <a:ext cx="2423160" cy="411480"/>
          </a:xfrm>
          <a:prstGeom prst="rect">
            <a:avLst/>
          </a:prstGeom>
          <a:noFill/>
          <a:ln/>
        </p:spPr>
        <p:txBody>
          <a:bodyPr wrap="square" lIns="0" tIns="0" rIns="0" bIns="0" rtlCol="0" anchor="ctr"/>
          <a:lstStyle/>
          <a:p>
            <a:pPr marL="0" indent="0" algn="ctr">
              <a:buNone/>
            </a:pPr>
            <a:r>
              <a:rPr lang="en-US" sz="1600" b="1" dirty="0">
                <a:solidFill>
                  <a:srgbClr val="21295C"/>
                </a:solidFill>
                <a:latin typeface="Cambria" pitchFamily="34" charset="0"/>
                <a:ea typeface="Cambria" pitchFamily="34" charset="-122"/>
                <a:cs typeface="Cambria" pitchFamily="34" charset="-120"/>
              </a:rPr>
              <a:t>User Acceptance Testing</a:t>
            </a:r>
            <a:endParaRPr lang="en-US" sz="1600" dirty="0"/>
          </a:p>
        </p:txBody>
      </p:sp>
      <p:sp>
        <p:nvSpPr>
          <p:cNvPr id="24" name="Text 22"/>
          <p:cNvSpPr/>
          <p:nvPr/>
        </p:nvSpPr>
        <p:spPr>
          <a:xfrm>
            <a:off x="9317736" y="3547872"/>
            <a:ext cx="2331720" cy="960120"/>
          </a:xfrm>
          <a:prstGeom prst="rect">
            <a:avLst/>
          </a:prstGeom>
          <a:noFill/>
          <a:ln/>
        </p:spPr>
        <p:txBody>
          <a:bodyPr wrap="square" lIns="0" tIns="0" rIns="0" bIns="0" rtlCol="0" anchor="t"/>
          <a:lstStyle/>
          <a:p>
            <a:pPr algn="ctr"/>
            <a:r>
              <a:rPr lang="en-US" sz="1400" dirty="0">
                <a:latin typeface="Times New Roman" panose="02020603050405020304" pitchFamily="18" charset="0"/>
                <a:cs typeface="Times New Roman" panose="02020603050405020304" pitchFamily="18" charset="0"/>
              </a:rPr>
              <a:t>Confirms that the system meets stakeholder needs in real-world scenarios.</a:t>
            </a:r>
          </a:p>
        </p:txBody>
      </p:sp>
      <p:sp>
        <p:nvSpPr>
          <p:cNvPr id="28" name="Text 25"/>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13</a:t>
            </a:r>
            <a:endParaRPr lang="en-US" sz="1000" dirty="0"/>
          </a:p>
        </p:txBody>
      </p:sp>
      <p:sp>
        <p:nvSpPr>
          <p:cNvPr id="30" name="TextBox 29">
            <a:extLst>
              <a:ext uri="{FF2B5EF4-FFF2-40B4-BE49-F238E27FC236}">
                <a16:creationId xmlns:a16="http://schemas.microsoft.com/office/drawing/2014/main" id="{A1561CD2-1450-C660-F703-786A850416BA}"/>
              </a:ext>
            </a:extLst>
          </p:cNvPr>
          <p:cNvSpPr txBox="1"/>
          <p:nvPr/>
        </p:nvSpPr>
        <p:spPr>
          <a:xfrm>
            <a:off x="460248" y="6434544"/>
            <a:ext cx="6097554" cy="276999"/>
          </a:xfrm>
          <a:prstGeom prst="rect">
            <a:avLst/>
          </a:prstGeom>
          <a:noFill/>
        </p:spPr>
        <p:txBody>
          <a:bodyPr wrap="square">
            <a:spAutoFit/>
          </a:bodyPr>
          <a:lstStyle/>
          <a:p>
            <a:pPr marL="0" indent="0" algn="l">
              <a:buNone/>
            </a:pPr>
            <a:r>
              <a:rPr lang="en-US" sz="1200" dirty="0">
                <a:latin typeface="Times New Roman" panose="02020603050405020304" pitchFamily="18" charset="0"/>
                <a:ea typeface="Calibri" pitchFamily="34" charset="-122"/>
                <a:cs typeface="Times New Roman" panose="02020603050405020304" pitchFamily="18" charset="0"/>
              </a:rPr>
              <a:t>Parking Management System: Agile Project Simulation</a:t>
            </a:r>
            <a:endParaRPr lang="en-US"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673A278-D079-9C3F-1364-AA6F02B00045}"/>
              </a:ext>
            </a:extLst>
          </p:cNvPr>
          <p:cNvSpPr txBox="1"/>
          <p:nvPr/>
        </p:nvSpPr>
        <p:spPr>
          <a:xfrm>
            <a:off x="409575" y="304026"/>
            <a:ext cx="4762500" cy="553998"/>
          </a:xfrm>
          <a:prstGeom prst="rect">
            <a:avLst/>
          </a:prstGeom>
          <a:noFill/>
        </p:spPr>
        <p:txBody>
          <a:bodyPr wrap="square">
            <a:spAutoFit/>
          </a:bodyPr>
          <a:lstStyle/>
          <a:p>
            <a:pPr marL="0" indent="0">
              <a:buNone/>
            </a:pPr>
            <a:r>
              <a:rPr lang="en-US" sz="3000" b="1" dirty="0">
                <a:solidFill>
                  <a:srgbClr val="21295C"/>
                </a:solidFill>
                <a:latin typeface="Cambria" pitchFamily="34" charset="0"/>
                <a:ea typeface="Cambria" pitchFamily="34" charset="-122"/>
                <a:cs typeface="Cambria" pitchFamily="34" charset="-120"/>
              </a:rPr>
              <a:t>6.1 Test Case Example</a:t>
            </a:r>
            <a:endParaRPr lang="en-US" sz="3000" dirty="0"/>
          </a:p>
        </p:txBody>
      </p:sp>
      <p:graphicFrame>
        <p:nvGraphicFramePr>
          <p:cNvPr id="4" name="Table 0">
            <a:extLst>
              <a:ext uri="{FF2B5EF4-FFF2-40B4-BE49-F238E27FC236}">
                <a16:creationId xmlns:a16="http://schemas.microsoft.com/office/drawing/2014/main" id="{D6E39088-D8FA-2D26-F807-2973D41FCC71}"/>
              </a:ext>
            </a:extLst>
          </p:cNvPr>
          <p:cNvGraphicFramePr>
            <a:graphicFrameLocks noGrp="1"/>
          </p:cNvGraphicFramePr>
          <p:nvPr>
            <p:extLst>
              <p:ext uri="{D42A27DB-BD31-4B8C-83A1-F6EECF244321}">
                <p14:modId xmlns:p14="http://schemas.microsoft.com/office/powerpoint/2010/main" val="2702109618"/>
              </p:ext>
            </p:extLst>
          </p:nvPr>
        </p:nvGraphicFramePr>
        <p:xfrm>
          <a:off x="409575" y="975981"/>
          <a:ext cx="11247120" cy="4165184"/>
        </p:xfrm>
        <a:graphic>
          <a:graphicData uri="http://schemas.openxmlformats.org/drawingml/2006/table">
            <a:tbl>
              <a:tblPr/>
              <a:tblGrid>
                <a:gridCol w="1143000">
                  <a:extLst>
                    <a:ext uri="{9D8B030D-6E8A-4147-A177-3AD203B41FA5}">
                      <a16:colId xmlns:a16="http://schemas.microsoft.com/office/drawing/2014/main" val="20000"/>
                    </a:ext>
                  </a:extLst>
                </a:gridCol>
                <a:gridCol w="2423160">
                  <a:extLst>
                    <a:ext uri="{9D8B030D-6E8A-4147-A177-3AD203B41FA5}">
                      <a16:colId xmlns:a16="http://schemas.microsoft.com/office/drawing/2014/main" val="20001"/>
                    </a:ext>
                  </a:extLst>
                </a:gridCol>
                <a:gridCol w="2331720">
                  <a:extLst>
                    <a:ext uri="{9D8B030D-6E8A-4147-A177-3AD203B41FA5}">
                      <a16:colId xmlns:a16="http://schemas.microsoft.com/office/drawing/2014/main" val="20002"/>
                    </a:ext>
                  </a:extLst>
                </a:gridCol>
                <a:gridCol w="233172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gridCol w="731520">
                  <a:extLst>
                    <a:ext uri="{9D8B030D-6E8A-4147-A177-3AD203B41FA5}">
                      <a16:colId xmlns:a16="http://schemas.microsoft.com/office/drawing/2014/main" val="20005"/>
                    </a:ext>
                  </a:extLst>
                </a:gridCol>
              </a:tblGrid>
              <a:tr h="444004">
                <a:tc>
                  <a:txBody>
                    <a:bodyPr/>
                    <a:lstStyle/>
                    <a:p>
                      <a:pPr marL="0" indent="0">
                        <a:buNone/>
                      </a:pPr>
                      <a:r>
                        <a:rPr lang="en-US" sz="1600" b="1" dirty="0">
                          <a:solidFill>
                            <a:schemeClr val="bg1"/>
                          </a:solidFill>
                          <a:latin typeface="Times New Roman" panose="02020603050405020304" pitchFamily="18" charset="0"/>
                          <a:ea typeface="Calibri" pitchFamily="34" charset="-122"/>
                          <a:cs typeface="Times New Roman" panose="02020603050405020304" pitchFamily="18" charset="0"/>
                        </a:rPr>
                        <a:t>Type</a:t>
                      </a:r>
                      <a:endParaRPr lang="en-US" sz="1600" dirty="0">
                        <a:solidFill>
                          <a:schemeClr val="bg1"/>
                        </a:solidFill>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00B050"/>
                    </a:solidFill>
                  </a:tcPr>
                </a:tc>
                <a:tc>
                  <a:txBody>
                    <a:bodyPr/>
                    <a:lstStyle/>
                    <a:p>
                      <a:pPr marL="0" indent="0">
                        <a:buNone/>
                      </a:pPr>
                      <a:r>
                        <a:rPr lang="en-US" sz="1600" b="1" dirty="0">
                          <a:solidFill>
                            <a:schemeClr val="bg1"/>
                          </a:solidFill>
                          <a:latin typeface="Times New Roman" panose="02020603050405020304" pitchFamily="18" charset="0"/>
                          <a:ea typeface="Calibri" pitchFamily="34" charset="-122"/>
                          <a:cs typeface="Times New Roman" panose="02020603050405020304" pitchFamily="18" charset="0"/>
                        </a:rPr>
                        <a:t>Objective</a:t>
                      </a:r>
                      <a:endParaRPr lang="en-US" sz="1600" dirty="0">
                        <a:solidFill>
                          <a:schemeClr val="bg1"/>
                        </a:solidFill>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00B050"/>
                    </a:solidFill>
                  </a:tcPr>
                </a:tc>
                <a:tc>
                  <a:txBody>
                    <a:bodyPr/>
                    <a:lstStyle/>
                    <a:p>
                      <a:pPr marL="0" indent="0">
                        <a:buNone/>
                      </a:pPr>
                      <a:r>
                        <a:rPr lang="en-US" sz="1600" b="1" dirty="0">
                          <a:solidFill>
                            <a:schemeClr val="bg1"/>
                          </a:solidFill>
                          <a:latin typeface="Times New Roman" panose="02020603050405020304" pitchFamily="18" charset="0"/>
                          <a:ea typeface="Calibri" pitchFamily="34" charset="-122"/>
                          <a:cs typeface="Times New Roman" panose="02020603050405020304" pitchFamily="18" charset="0"/>
                        </a:rPr>
                        <a:t>Input</a:t>
                      </a:r>
                      <a:endParaRPr lang="en-US" sz="1600" dirty="0">
                        <a:solidFill>
                          <a:schemeClr val="bg1"/>
                        </a:solidFill>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00B050"/>
                    </a:solidFill>
                  </a:tcPr>
                </a:tc>
                <a:tc>
                  <a:txBody>
                    <a:bodyPr/>
                    <a:lstStyle/>
                    <a:p>
                      <a:pPr marL="0" indent="0">
                        <a:buNone/>
                      </a:pPr>
                      <a:r>
                        <a:rPr lang="en-US" sz="1600" b="1" dirty="0">
                          <a:solidFill>
                            <a:schemeClr val="bg1"/>
                          </a:solidFill>
                          <a:latin typeface="Times New Roman" panose="02020603050405020304" pitchFamily="18" charset="0"/>
                          <a:ea typeface="Calibri" pitchFamily="34" charset="-122"/>
                          <a:cs typeface="Times New Roman" panose="02020603050405020304" pitchFamily="18" charset="0"/>
                        </a:rPr>
                        <a:t>Expected Output</a:t>
                      </a:r>
                      <a:endParaRPr lang="en-US" sz="1600" dirty="0">
                        <a:solidFill>
                          <a:schemeClr val="bg1"/>
                        </a:solidFill>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00B050"/>
                    </a:solidFill>
                  </a:tcPr>
                </a:tc>
                <a:tc>
                  <a:txBody>
                    <a:bodyPr/>
                    <a:lstStyle/>
                    <a:p>
                      <a:pPr marL="0" indent="0">
                        <a:buNone/>
                      </a:pPr>
                      <a:r>
                        <a:rPr lang="en-US" sz="1600" b="1" dirty="0">
                          <a:solidFill>
                            <a:schemeClr val="bg1"/>
                          </a:solidFill>
                          <a:latin typeface="Times New Roman" panose="02020603050405020304" pitchFamily="18" charset="0"/>
                          <a:ea typeface="Calibri" pitchFamily="34" charset="-122"/>
                          <a:cs typeface="Times New Roman" panose="02020603050405020304" pitchFamily="18" charset="0"/>
                        </a:rPr>
                        <a:t>Actual Output</a:t>
                      </a:r>
                      <a:endParaRPr lang="en-US" sz="1600" dirty="0">
                        <a:solidFill>
                          <a:schemeClr val="bg1"/>
                        </a:solidFill>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00B050"/>
                    </a:solidFill>
                  </a:tcPr>
                </a:tc>
                <a:tc>
                  <a:txBody>
                    <a:bodyPr/>
                    <a:lstStyle/>
                    <a:p>
                      <a:pPr marL="0" indent="0">
                        <a:buNone/>
                      </a:pPr>
                      <a:r>
                        <a:rPr lang="en-US" sz="1600" b="1" dirty="0">
                          <a:solidFill>
                            <a:schemeClr val="bg1"/>
                          </a:solidFill>
                          <a:latin typeface="Times New Roman" panose="02020603050405020304" pitchFamily="18" charset="0"/>
                          <a:ea typeface="Calibri" pitchFamily="34" charset="-122"/>
                          <a:cs typeface="Times New Roman" panose="02020603050405020304" pitchFamily="18" charset="0"/>
                        </a:rPr>
                        <a:t>Status</a:t>
                      </a:r>
                      <a:endParaRPr lang="en-US" sz="1600" dirty="0">
                        <a:solidFill>
                          <a:schemeClr val="bg1"/>
                        </a:solidFill>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00B050"/>
                    </a:solidFill>
                  </a:tcPr>
                </a:tc>
                <a:extLst>
                  <a:ext uri="{0D108BD9-81ED-4DB2-BD59-A6C34878D82A}">
                    <a16:rowId xmlns:a16="http://schemas.microsoft.com/office/drawing/2014/main" val="10000"/>
                  </a:ext>
                </a:extLst>
              </a:tr>
              <a:tr h="930295">
                <a:tc>
                  <a:txBody>
                    <a:bodyPr/>
                    <a:lstStyle/>
                    <a:p>
                      <a:pPr marL="0" indent="0">
                        <a:buNone/>
                      </a:pPr>
                      <a:r>
                        <a:rPr lang="en-US" sz="1400" b="1" dirty="0">
                          <a:solidFill>
                            <a:srgbClr val="1B2A4A"/>
                          </a:solidFill>
                          <a:latin typeface="Times New Roman" panose="02020603050405020304" pitchFamily="18" charset="0"/>
                          <a:ea typeface="Calibri" pitchFamily="34" charset="-122"/>
                          <a:cs typeface="Times New Roman" panose="02020603050405020304" pitchFamily="18" charset="0"/>
                        </a:rPr>
                        <a:t>Unit</a:t>
                      </a:r>
                      <a:endParaRPr lang="en-US" sz="1400" dirty="0">
                        <a:latin typeface="Times New Roman" panose="02020603050405020304" pitchFamily="18" charset="0"/>
                        <a:ea typeface="Calibri" charset="0"/>
                        <a:cs typeface="Times New Roman" panose="02020603050405020304" pitchFamily="18" charset="0"/>
                      </a:endParaRPr>
                    </a:p>
                    <a:p>
                      <a:pPr marL="0" indent="0">
                        <a:buNone/>
                      </a:pPr>
                      <a:r>
                        <a:rPr lang="en-US" sz="1400" b="1" dirty="0">
                          <a:solidFill>
                            <a:srgbClr val="1B2A4A"/>
                          </a:solidFill>
                          <a:latin typeface="Times New Roman" panose="02020603050405020304" pitchFamily="18" charset="0"/>
                          <a:ea typeface="Calibri" pitchFamily="34" charset="-122"/>
                          <a:cs typeface="Times New Roman" panose="02020603050405020304" pitchFamily="18" charset="0"/>
                        </a:rPr>
                        <a:t>(TC-U01)</a:t>
                      </a:r>
                      <a:endParaRPr lang="en-US" sz="14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tc>
                  <a:txBody>
                    <a:bodyPr/>
                    <a:lstStyle/>
                    <a:p>
                      <a:pPr marL="0" indent="0">
                        <a:buNone/>
                      </a:pPr>
                      <a:r>
                        <a:rPr lang="en-US" sz="1400" dirty="0">
                          <a:solidFill>
                            <a:srgbClr val="233044"/>
                          </a:solidFill>
                          <a:latin typeface="Times New Roman" panose="02020603050405020304" pitchFamily="18" charset="0"/>
                          <a:ea typeface="Calibri" pitchFamily="34" charset="-122"/>
                          <a:cs typeface="Times New Roman" panose="02020603050405020304" pitchFamily="18" charset="0"/>
                        </a:rPr>
                        <a:t>Verify fee-calculation function returns correct charge for duration</a:t>
                      </a:r>
                      <a:endParaRPr lang="en-US" sz="14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tc>
                  <a:txBody>
                    <a:bodyPr/>
                    <a:lstStyle/>
                    <a:p>
                      <a:pPr marL="0" indent="0">
                        <a:buNone/>
                      </a:pPr>
                      <a:r>
                        <a:rPr lang="en-US" sz="1400" dirty="0">
                          <a:solidFill>
                            <a:srgbClr val="233044"/>
                          </a:solidFill>
                          <a:latin typeface="Times New Roman" panose="02020603050405020304" pitchFamily="18" charset="0"/>
                          <a:ea typeface="Calibri" pitchFamily="34" charset="-122"/>
                          <a:cs typeface="Times New Roman" panose="02020603050405020304" pitchFamily="18" charset="0"/>
                        </a:rPr>
                        <a:t>Entry 10:00, Exit 12:00 (2 hrs), Rate = $2/hr</a:t>
                      </a:r>
                      <a:endParaRPr lang="en-US" sz="14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tc>
                  <a:txBody>
                    <a:bodyPr/>
                    <a:lstStyle/>
                    <a:p>
                      <a:pPr marL="0" indent="0">
                        <a:buNone/>
                      </a:pPr>
                      <a:r>
                        <a:rPr lang="en-US" sz="1400" dirty="0">
                          <a:solidFill>
                            <a:srgbClr val="233044"/>
                          </a:solidFill>
                          <a:latin typeface="Times New Roman" panose="02020603050405020304" pitchFamily="18" charset="0"/>
                          <a:ea typeface="Calibri" pitchFamily="34" charset="-122"/>
                          <a:cs typeface="Times New Roman" panose="02020603050405020304" pitchFamily="18" charset="0"/>
                        </a:rPr>
                        <a:t>Fee = $4.00</a:t>
                      </a:r>
                      <a:endParaRPr lang="en-US" sz="14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tc>
                  <a:txBody>
                    <a:bodyPr/>
                    <a:lstStyle/>
                    <a:p>
                      <a:pPr marL="0" indent="0">
                        <a:buNone/>
                      </a:pPr>
                      <a:r>
                        <a:rPr lang="en-US" sz="1400" dirty="0">
                          <a:solidFill>
                            <a:srgbClr val="233044"/>
                          </a:solidFill>
                          <a:latin typeface="Times New Roman" panose="02020603050405020304" pitchFamily="18" charset="0"/>
                          <a:ea typeface="Calibri" pitchFamily="34" charset="-122"/>
                          <a:cs typeface="Times New Roman" panose="02020603050405020304" pitchFamily="18" charset="0"/>
                        </a:rPr>
                        <a:t>Fee = $4.00</a:t>
                      </a:r>
                      <a:endParaRPr lang="en-US" sz="14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00B050"/>
                          </a:solidFill>
                          <a:latin typeface="Times New Roman" panose="02020603050405020304" pitchFamily="18" charset="0"/>
                          <a:ea typeface="Calibri" pitchFamily="34" charset="-122"/>
                          <a:cs typeface="Times New Roman" panose="02020603050405020304" pitchFamily="18" charset="0"/>
                        </a:rPr>
                        <a:t>Pass</a:t>
                      </a:r>
                      <a:endParaRPr lang="en-US" sz="1400" dirty="0">
                        <a:solidFill>
                          <a:srgbClr val="00B050"/>
                        </a:solidFill>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30295">
                <a:tc>
                  <a:txBody>
                    <a:bodyPr/>
                    <a:lstStyle/>
                    <a:p>
                      <a:pPr marL="0" indent="0">
                        <a:buNone/>
                      </a:pPr>
                      <a:r>
                        <a:rPr lang="en-US" sz="1400" b="1" dirty="0">
                          <a:solidFill>
                            <a:srgbClr val="1B2A4A"/>
                          </a:solidFill>
                          <a:latin typeface="Times New Roman" panose="02020603050405020304" pitchFamily="18" charset="0"/>
                          <a:ea typeface="Calibri" pitchFamily="34" charset="-122"/>
                          <a:cs typeface="Times New Roman" panose="02020603050405020304" pitchFamily="18" charset="0"/>
                        </a:rPr>
                        <a:t>Integration</a:t>
                      </a:r>
                      <a:endParaRPr lang="en-US" sz="1400" dirty="0">
                        <a:latin typeface="Times New Roman" panose="02020603050405020304" pitchFamily="18" charset="0"/>
                        <a:ea typeface="Calibri" charset="0"/>
                        <a:cs typeface="Times New Roman" panose="02020603050405020304" pitchFamily="18" charset="0"/>
                      </a:endParaRPr>
                    </a:p>
                    <a:p>
                      <a:pPr marL="0" indent="0">
                        <a:buNone/>
                      </a:pPr>
                      <a:r>
                        <a:rPr lang="en-US" sz="1400" b="1" dirty="0">
                          <a:solidFill>
                            <a:srgbClr val="1B2A4A"/>
                          </a:solidFill>
                          <a:latin typeface="Times New Roman" panose="02020603050405020304" pitchFamily="18" charset="0"/>
                          <a:ea typeface="Calibri" pitchFamily="34" charset="-122"/>
                          <a:cs typeface="Times New Roman" panose="02020603050405020304" pitchFamily="18" charset="0"/>
                        </a:rPr>
                        <a:t>(TC-I01)</a:t>
                      </a:r>
                      <a:endParaRPr lang="en-US" sz="14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chemeClr val="accent6">
                        <a:lumMod val="20000"/>
                        <a:lumOff val="80000"/>
                      </a:schemeClr>
                    </a:solidFill>
                  </a:tcPr>
                </a:tc>
                <a:tc>
                  <a:txBody>
                    <a:bodyPr/>
                    <a:lstStyle/>
                    <a:p>
                      <a:pPr marL="0" indent="0">
                        <a:buNone/>
                      </a:pPr>
                      <a:r>
                        <a:rPr lang="en-US" sz="1400" dirty="0">
                          <a:solidFill>
                            <a:srgbClr val="233044"/>
                          </a:solidFill>
                          <a:latin typeface="Times New Roman" panose="02020603050405020304" pitchFamily="18" charset="0"/>
                          <a:ea typeface="Calibri" pitchFamily="34" charset="-122"/>
                          <a:cs typeface="Times New Roman" panose="02020603050405020304" pitchFamily="18" charset="0"/>
                        </a:rPr>
                        <a:t>Verify Reservation module correctly triggers Payment module on booking</a:t>
                      </a:r>
                      <a:endParaRPr lang="en-US" sz="14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chemeClr val="accent6">
                        <a:lumMod val="20000"/>
                        <a:lumOff val="80000"/>
                      </a:schemeClr>
                    </a:solidFill>
                  </a:tcPr>
                </a:tc>
                <a:tc>
                  <a:txBody>
                    <a:bodyPr/>
                    <a:lstStyle/>
                    <a:p>
                      <a:pPr marL="0" indent="0">
                        <a:buNone/>
                      </a:pPr>
                      <a:r>
                        <a:rPr lang="en-US" sz="1400" dirty="0">
                          <a:solidFill>
                            <a:srgbClr val="233044"/>
                          </a:solidFill>
                          <a:latin typeface="Times New Roman" panose="02020603050405020304" pitchFamily="18" charset="0"/>
                          <a:ea typeface="Calibri" pitchFamily="34" charset="-122"/>
                          <a:cs typeface="Times New Roman" panose="02020603050405020304" pitchFamily="18" charset="0"/>
                        </a:rPr>
                        <a:t>Driver reserves Slot A-12 for 2 hrs via app</a:t>
                      </a:r>
                      <a:endParaRPr lang="en-US" sz="14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chemeClr val="accent6">
                        <a:lumMod val="20000"/>
                        <a:lumOff val="80000"/>
                      </a:schemeClr>
                    </a:solidFill>
                  </a:tcPr>
                </a:tc>
                <a:tc>
                  <a:txBody>
                    <a:bodyPr/>
                    <a:lstStyle/>
                    <a:p>
                      <a:pPr marL="0" indent="0">
                        <a:buNone/>
                      </a:pPr>
                      <a:r>
                        <a:rPr lang="en-US" sz="1400" dirty="0">
                          <a:solidFill>
                            <a:srgbClr val="233044"/>
                          </a:solidFill>
                          <a:latin typeface="Times New Roman" panose="02020603050405020304" pitchFamily="18" charset="0"/>
                          <a:ea typeface="Calibri" pitchFamily="34" charset="-122"/>
                          <a:cs typeface="Times New Roman" panose="02020603050405020304" pitchFamily="18" charset="0"/>
                        </a:rPr>
                        <a:t>Payment request of $4.00 generated &amp; linked to reservation ID</a:t>
                      </a:r>
                      <a:endParaRPr lang="en-US" sz="14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chemeClr val="accent6">
                        <a:lumMod val="20000"/>
                        <a:lumOff val="80000"/>
                      </a:schemeClr>
                    </a:solidFill>
                  </a:tcPr>
                </a:tc>
                <a:tc>
                  <a:txBody>
                    <a:bodyPr/>
                    <a:lstStyle/>
                    <a:p>
                      <a:pPr marL="0" indent="0">
                        <a:buNone/>
                      </a:pPr>
                      <a:r>
                        <a:rPr lang="en-US" sz="1400" dirty="0">
                          <a:solidFill>
                            <a:srgbClr val="233044"/>
                          </a:solidFill>
                          <a:latin typeface="Times New Roman" panose="02020603050405020304" pitchFamily="18" charset="0"/>
                          <a:ea typeface="Calibri" pitchFamily="34" charset="-122"/>
                          <a:cs typeface="Times New Roman" panose="02020603050405020304" pitchFamily="18" charset="0"/>
                        </a:rPr>
                        <a:t>Payment request of $4.00 generated &amp; linked correctly</a:t>
                      </a:r>
                      <a:endParaRPr lang="en-US" sz="14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chemeClr val="accent6">
                        <a:lumMod val="20000"/>
                        <a:lumOff val="80000"/>
                      </a:schemeClr>
                    </a:solidFill>
                  </a:tcPr>
                </a:tc>
                <a:tc>
                  <a:txBody>
                    <a:bodyPr/>
                    <a:lstStyle/>
                    <a:p>
                      <a:pPr marL="0" indent="0" algn="ctr">
                        <a:buNone/>
                      </a:pPr>
                      <a:r>
                        <a:rPr lang="en-US" sz="1400" b="1" dirty="0">
                          <a:solidFill>
                            <a:srgbClr val="00B050"/>
                          </a:solidFill>
                          <a:latin typeface="Times New Roman" panose="02020603050405020304" pitchFamily="18" charset="0"/>
                          <a:ea typeface="Calibri" pitchFamily="34" charset="-122"/>
                          <a:cs typeface="Times New Roman" panose="02020603050405020304" pitchFamily="18" charset="0"/>
                        </a:rPr>
                        <a:t>Pass</a:t>
                      </a:r>
                      <a:endParaRPr lang="en-US" sz="1400" dirty="0">
                        <a:solidFill>
                          <a:srgbClr val="00B050"/>
                        </a:solidFill>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2"/>
                  </a:ext>
                </a:extLst>
              </a:tr>
              <a:tr h="930295">
                <a:tc>
                  <a:txBody>
                    <a:bodyPr/>
                    <a:lstStyle/>
                    <a:p>
                      <a:pPr marL="0" indent="0">
                        <a:buNone/>
                      </a:pPr>
                      <a:r>
                        <a:rPr lang="en-US" sz="1400" b="1" dirty="0">
                          <a:solidFill>
                            <a:srgbClr val="1B2A4A"/>
                          </a:solidFill>
                          <a:latin typeface="Times New Roman" panose="02020603050405020304" pitchFamily="18" charset="0"/>
                          <a:ea typeface="Calibri" pitchFamily="34" charset="-122"/>
                          <a:cs typeface="Times New Roman" panose="02020603050405020304" pitchFamily="18" charset="0"/>
                        </a:rPr>
                        <a:t>System</a:t>
                      </a:r>
                      <a:endParaRPr lang="en-US" sz="1400" dirty="0">
                        <a:latin typeface="Times New Roman" panose="02020603050405020304" pitchFamily="18" charset="0"/>
                        <a:ea typeface="Calibri" charset="0"/>
                        <a:cs typeface="Times New Roman" panose="02020603050405020304" pitchFamily="18" charset="0"/>
                      </a:endParaRPr>
                    </a:p>
                    <a:p>
                      <a:pPr marL="0" indent="0">
                        <a:buNone/>
                      </a:pPr>
                      <a:r>
                        <a:rPr lang="en-US" sz="1400" b="1" dirty="0">
                          <a:solidFill>
                            <a:srgbClr val="1B2A4A"/>
                          </a:solidFill>
                          <a:latin typeface="Times New Roman" panose="02020603050405020304" pitchFamily="18" charset="0"/>
                          <a:ea typeface="Calibri" pitchFamily="34" charset="-122"/>
                          <a:cs typeface="Times New Roman" panose="02020603050405020304" pitchFamily="18" charset="0"/>
                        </a:rPr>
                        <a:t>(TC-S01)</a:t>
                      </a:r>
                      <a:endParaRPr lang="en-US" sz="14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tc>
                  <a:txBody>
                    <a:bodyPr/>
                    <a:lstStyle/>
                    <a:p>
                      <a:pPr marL="0" indent="0">
                        <a:buNone/>
                      </a:pPr>
                      <a:r>
                        <a:rPr lang="en-US" sz="1400" dirty="0">
                          <a:solidFill>
                            <a:srgbClr val="233044"/>
                          </a:solidFill>
                          <a:latin typeface="Times New Roman" panose="02020603050405020304" pitchFamily="18" charset="0"/>
                          <a:ea typeface="Calibri" pitchFamily="34" charset="-122"/>
                          <a:cs typeface="Times New Roman" panose="02020603050405020304" pitchFamily="18" charset="0"/>
                        </a:rPr>
                        <a:t>Validate full entry-to-exit journey meets all functional requirements</a:t>
                      </a:r>
                      <a:endParaRPr lang="en-US" sz="14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tc>
                  <a:txBody>
                    <a:bodyPr/>
                    <a:lstStyle/>
                    <a:p>
                      <a:pPr marL="0" indent="0">
                        <a:buNone/>
                      </a:pPr>
                      <a:r>
                        <a:rPr lang="en-US" sz="1400" dirty="0">
                          <a:solidFill>
                            <a:srgbClr val="233044"/>
                          </a:solidFill>
                          <a:latin typeface="Times New Roman" panose="02020603050405020304" pitchFamily="18" charset="0"/>
                          <a:ea typeface="Calibri" pitchFamily="34" charset="-122"/>
                          <a:cs typeface="Times New Roman" panose="02020603050405020304" pitchFamily="18" charset="0"/>
                        </a:rPr>
                        <a:t>Vehicle enters, reserves slot, parks 2 hrs, exits, pays via wallet</a:t>
                      </a:r>
                      <a:endParaRPr lang="en-US" sz="14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tc>
                  <a:txBody>
                    <a:bodyPr/>
                    <a:lstStyle/>
                    <a:p>
                      <a:pPr marL="0" indent="0">
                        <a:buNone/>
                      </a:pPr>
                      <a:r>
                        <a:rPr lang="en-US" sz="1400" dirty="0">
                          <a:solidFill>
                            <a:srgbClr val="233044"/>
                          </a:solidFill>
                          <a:latin typeface="Times New Roman" panose="02020603050405020304" pitchFamily="18" charset="0"/>
                          <a:ea typeface="Calibri" pitchFamily="34" charset="-122"/>
                          <a:cs typeface="Times New Roman" panose="02020603050405020304" pitchFamily="18" charset="0"/>
                        </a:rPr>
                        <a:t>Slot allocated, fee billed, receipt issued, slot released on exit</a:t>
                      </a:r>
                      <a:endParaRPr lang="en-US" sz="14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tc>
                  <a:txBody>
                    <a:bodyPr/>
                    <a:lstStyle/>
                    <a:p>
                      <a:pPr marL="0" indent="0">
                        <a:buNone/>
                      </a:pPr>
                      <a:r>
                        <a:rPr lang="en-US" sz="1400" dirty="0">
                          <a:solidFill>
                            <a:srgbClr val="233044"/>
                          </a:solidFill>
                          <a:latin typeface="Times New Roman" panose="02020603050405020304" pitchFamily="18" charset="0"/>
                          <a:ea typeface="Calibri" pitchFamily="34" charset="-122"/>
                          <a:cs typeface="Times New Roman" panose="02020603050405020304" pitchFamily="18" charset="0"/>
                        </a:rPr>
                        <a:t>Slot allocated, fee billed, receipt issued, slot released</a:t>
                      </a:r>
                      <a:endParaRPr lang="en-US" sz="14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00B050"/>
                          </a:solidFill>
                          <a:latin typeface="Times New Roman" panose="02020603050405020304" pitchFamily="18" charset="0"/>
                          <a:ea typeface="Calibri" pitchFamily="34" charset="-122"/>
                          <a:cs typeface="Times New Roman" panose="02020603050405020304" pitchFamily="18" charset="0"/>
                        </a:rPr>
                        <a:t>Pass</a:t>
                      </a:r>
                      <a:endParaRPr lang="en-US" sz="1400" dirty="0">
                        <a:solidFill>
                          <a:srgbClr val="00B050"/>
                        </a:solidFill>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930295">
                <a:tc>
                  <a:txBody>
                    <a:bodyPr/>
                    <a:lstStyle/>
                    <a:p>
                      <a:pPr marL="0" indent="0">
                        <a:buNone/>
                      </a:pPr>
                      <a:r>
                        <a:rPr lang="en-US" sz="1400" b="1" dirty="0">
                          <a:solidFill>
                            <a:srgbClr val="1B2A4A"/>
                          </a:solidFill>
                          <a:latin typeface="Times New Roman" panose="02020603050405020304" pitchFamily="18" charset="0"/>
                          <a:ea typeface="Calibri" pitchFamily="34" charset="-122"/>
                          <a:cs typeface="Times New Roman" panose="02020603050405020304" pitchFamily="18" charset="0"/>
                        </a:rPr>
                        <a:t>UAT</a:t>
                      </a:r>
                      <a:endParaRPr lang="en-US" sz="1400" dirty="0">
                        <a:latin typeface="Times New Roman" panose="02020603050405020304" pitchFamily="18" charset="0"/>
                        <a:ea typeface="Calibri" charset="0"/>
                        <a:cs typeface="Times New Roman" panose="02020603050405020304" pitchFamily="18" charset="0"/>
                      </a:endParaRPr>
                    </a:p>
                    <a:p>
                      <a:pPr marL="0" indent="0">
                        <a:buNone/>
                      </a:pPr>
                      <a:r>
                        <a:rPr lang="en-US" sz="1400" b="1" dirty="0">
                          <a:solidFill>
                            <a:srgbClr val="1B2A4A"/>
                          </a:solidFill>
                          <a:latin typeface="Times New Roman" panose="02020603050405020304" pitchFamily="18" charset="0"/>
                          <a:ea typeface="Calibri" pitchFamily="34" charset="-122"/>
                          <a:cs typeface="Times New Roman" panose="02020603050405020304" pitchFamily="18" charset="0"/>
                        </a:rPr>
                        <a:t>(TC-A01)</a:t>
                      </a:r>
                      <a:endParaRPr lang="en-US" sz="14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chemeClr val="accent6">
                        <a:lumMod val="20000"/>
                        <a:lumOff val="80000"/>
                      </a:schemeClr>
                    </a:solidFill>
                  </a:tcPr>
                </a:tc>
                <a:tc>
                  <a:txBody>
                    <a:bodyPr/>
                    <a:lstStyle/>
                    <a:p>
                      <a:pPr marL="0" indent="0">
                        <a:buNone/>
                      </a:pPr>
                      <a:r>
                        <a:rPr lang="en-US" sz="1400" dirty="0">
                          <a:solidFill>
                            <a:srgbClr val="233044"/>
                          </a:solidFill>
                          <a:latin typeface="Times New Roman" panose="02020603050405020304" pitchFamily="18" charset="0"/>
                          <a:ea typeface="Calibri" pitchFamily="34" charset="-122"/>
                          <a:cs typeface="Times New Roman" panose="02020603050405020304" pitchFamily="18" charset="0"/>
                        </a:rPr>
                        <a:t>Confirm attendant can log entries as fast as current manual process</a:t>
                      </a:r>
                      <a:endParaRPr lang="en-US" sz="14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chemeClr val="accent6">
                        <a:lumMod val="20000"/>
                        <a:lumOff val="80000"/>
                      </a:schemeClr>
                    </a:solidFill>
                  </a:tcPr>
                </a:tc>
                <a:tc>
                  <a:txBody>
                    <a:bodyPr/>
                    <a:lstStyle/>
                    <a:p>
                      <a:pPr marL="0" indent="0">
                        <a:buNone/>
                      </a:pPr>
                      <a:r>
                        <a:rPr lang="en-US" sz="1400" dirty="0">
                          <a:solidFill>
                            <a:srgbClr val="233044"/>
                          </a:solidFill>
                          <a:latin typeface="Times New Roman" panose="02020603050405020304" pitchFamily="18" charset="0"/>
                          <a:ea typeface="Calibri" pitchFamily="34" charset="-122"/>
                          <a:cs typeface="Times New Roman" panose="02020603050405020304" pitchFamily="18" charset="0"/>
                        </a:rPr>
                        <a:t>Attendant logs 5 consecutive vehicle entries during peak hour</a:t>
                      </a:r>
                      <a:endParaRPr lang="en-US" sz="14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chemeClr val="accent6">
                        <a:lumMod val="20000"/>
                        <a:lumOff val="80000"/>
                      </a:schemeClr>
                    </a:solidFill>
                  </a:tcPr>
                </a:tc>
                <a:tc>
                  <a:txBody>
                    <a:bodyPr/>
                    <a:lstStyle/>
                    <a:p>
                      <a:pPr marL="0" indent="0">
                        <a:buNone/>
                      </a:pPr>
                      <a:r>
                        <a:rPr lang="en-US" sz="1400" dirty="0">
                          <a:solidFill>
                            <a:srgbClr val="233044"/>
                          </a:solidFill>
                          <a:latin typeface="Times New Roman" panose="02020603050405020304" pitchFamily="18" charset="0"/>
                          <a:ea typeface="Calibri" pitchFamily="34" charset="-122"/>
                          <a:cs typeface="Times New Roman" panose="02020603050405020304" pitchFamily="18" charset="0"/>
                        </a:rPr>
                        <a:t>All 5 logged in under 3 minutes with no errors, per attendant feedback</a:t>
                      </a:r>
                      <a:endParaRPr lang="en-US" sz="14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chemeClr val="accent6">
                        <a:lumMod val="20000"/>
                        <a:lumOff val="80000"/>
                      </a:schemeClr>
                    </a:solidFill>
                  </a:tcPr>
                </a:tc>
                <a:tc>
                  <a:txBody>
                    <a:bodyPr/>
                    <a:lstStyle/>
                    <a:p>
                      <a:pPr marL="0" indent="0">
                        <a:buNone/>
                      </a:pPr>
                      <a:r>
                        <a:rPr lang="en-US" sz="1400" dirty="0">
                          <a:solidFill>
                            <a:srgbClr val="233044"/>
                          </a:solidFill>
                          <a:latin typeface="Times New Roman" panose="02020603050405020304" pitchFamily="18" charset="0"/>
                          <a:ea typeface="Calibri" pitchFamily="34" charset="-122"/>
                          <a:cs typeface="Times New Roman" panose="02020603050405020304" pitchFamily="18" charset="0"/>
                        </a:rPr>
                        <a:t>5 logged in 2m 40s; attendant confirms workflow fit</a:t>
                      </a:r>
                      <a:endParaRPr lang="en-US" sz="14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chemeClr val="accent6">
                        <a:lumMod val="20000"/>
                        <a:lumOff val="80000"/>
                      </a:schemeClr>
                    </a:solidFill>
                  </a:tcPr>
                </a:tc>
                <a:tc>
                  <a:txBody>
                    <a:bodyPr/>
                    <a:lstStyle/>
                    <a:p>
                      <a:pPr marL="0" indent="0" algn="ctr">
                        <a:buNone/>
                      </a:pPr>
                      <a:r>
                        <a:rPr lang="en-US" sz="1400" b="1" dirty="0">
                          <a:solidFill>
                            <a:srgbClr val="00B050"/>
                          </a:solidFill>
                          <a:latin typeface="Times New Roman" panose="02020603050405020304" pitchFamily="18" charset="0"/>
                          <a:ea typeface="Calibri" pitchFamily="34" charset="-122"/>
                          <a:cs typeface="Times New Roman" panose="02020603050405020304" pitchFamily="18" charset="0"/>
                        </a:rPr>
                        <a:t>Pass</a:t>
                      </a:r>
                      <a:endParaRPr lang="en-US" sz="1400" dirty="0">
                        <a:solidFill>
                          <a:srgbClr val="00B050"/>
                        </a:solidFill>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4"/>
                  </a:ext>
                </a:extLst>
              </a:tr>
            </a:tbl>
          </a:graphicData>
        </a:graphic>
      </p:graphicFrame>
      <p:sp>
        <p:nvSpPr>
          <p:cNvPr id="6" name="Text 8">
            <a:extLst>
              <a:ext uri="{FF2B5EF4-FFF2-40B4-BE49-F238E27FC236}">
                <a16:creationId xmlns:a16="http://schemas.microsoft.com/office/drawing/2014/main" id="{AB6ADD2D-D16C-880A-FADA-75E1A3EF4DE5}"/>
              </a:ext>
            </a:extLst>
          </p:cNvPr>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14</a:t>
            </a:r>
            <a:endParaRPr lang="en-US" sz="1000" dirty="0"/>
          </a:p>
        </p:txBody>
      </p:sp>
    </p:spTree>
    <p:extLst>
      <p:ext uri="{BB962C8B-B14F-4D97-AF65-F5344CB8AC3E}">
        <p14:creationId xmlns:p14="http://schemas.microsoft.com/office/powerpoint/2010/main" val="28807010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07 REFLECTION AND CONCLUSION</a:t>
            </a:r>
            <a:endParaRPr lang="en-US" sz="13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Reflections on Using Agile Tools &amp; Conclusion</a:t>
            </a:r>
            <a:endParaRPr lang="en-US" sz="3000" dirty="0"/>
          </a:p>
        </p:txBody>
      </p:sp>
      <p:sp>
        <p:nvSpPr>
          <p:cNvPr id="4" name="Text 2"/>
          <p:cNvSpPr/>
          <p:nvPr/>
        </p:nvSpPr>
        <p:spPr>
          <a:xfrm>
            <a:off x="548640" y="1325880"/>
            <a:ext cx="11064240" cy="604626"/>
          </a:xfrm>
          <a:prstGeom prst="rect">
            <a:avLst/>
          </a:prstGeom>
          <a:noFill/>
          <a:ln/>
        </p:spPr>
        <p:txBody>
          <a:bodyPr wrap="square" lIns="0" tIns="0" rIns="0" bIns="0" rtlCol="0" anchor="ctr"/>
          <a:lstStyle/>
          <a:p>
            <a:pPr>
              <a:lnSpc>
                <a:spcPct val="150000"/>
              </a:lnSpc>
            </a:pPr>
            <a:r>
              <a:rPr lang="en-US" sz="1400" dirty="0">
                <a:latin typeface="Times New Roman" panose="02020603050405020304" pitchFamily="18" charset="0"/>
                <a:cs typeface="Times New Roman" panose="02020603050405020304" pitchFamily="18" charset="0"/>
              </a:rPr>
              <a:t>Using Trello and GitHub without coding helps us practice the main principles of Agile. It allows us to plan tasks clearly, update project documents step by step, and track all changes. This gives us experience with team collaboration, transparency, and proper project management.</a:t>
            </a:r>
            <a:endParaRPr lang="en-US" sz="1350" dirty="0">
              <a:latin typeface="Times New Roman" panose="02020603050405020304" pitchFamily="18" charset="0"/>
              <a:cs typeface="Times New Roman" panose="02020603050405020304" pitchFamily="18" charset="0"/>
            </a:endParaRPr>
          </a:p>
        </p:txBody>
      </p:sp>
      <p:sp>
        <p:nvSpPr>
          <p:cNvPr id="5" name="Shape 3"/>
          <p:cNvSpPr/>
          <p:nvPr/>
        </p:nvSpPr>
        <p:spPr>
          <a:xfrm>
            <a:off x="548640" y="2194560"/>
            <a:ext cx="5440680" cy="3794760"/>
          </a:xfrm>
          <a:prstGeom prst="roundRect">
            <a:avLst>
              <a:gd name="adj" fmla="val 1928"/>
            </a:avLst>
          </a:prstGeom>
          <a:solidFill>
            <a:srgbClr val="CFE8EF"/>
          </a:solidFill>
          <a:ln/>
        </p:spPr>
      </p:sp>
      <p:sp>
        <p:nvSpPr>
          <p:cNvPr id="6" name="Text 4"/>
          <p:cNvSpPr/>
          <p:nvPr/>
        </p:nvSpPr>
        <p:spPr>
          <a:xfrm>
            <a:off x="688133" y="2230016"/>
            <a:ext cx="4846320" cy="365760"/>
          </a:xfrm>
          <a:prstGeom prst="rect">
            <a:avLst/>
          </a:prstGeom>
          <a:noFill/>
          <a:ln/>
        </p:spPr>
        <p:txBody>
          <a:bodyPr wrap="square" lIns="0" tIns="0" rIns="0" bIns="0" rtlCol="0" anchor="ctr"/>
          <a:lstStyle/>
          <a:p>
            <a:pPr marL="0" indent="0">
              <a:buNone/>
            </a:pPr>
            <a:r>
              <a:rPr lang="en-US" sz="1600" b="1" dirty="0">
                <a:solidFill>
                  <a:srgbClr val="21295C"/>
                </a:solidFill>
                <a:latin typeface="Times New Roman" panose="02020603050405020304" pitchFamily="18" charset="0"/>
                <a:ea typeface="Cambria" pitchFamily="34" charset="-122"/>
                <a:cs typeface="Times New Roman" panose="02020603050405020304" pitchFamily="18" charset="0"/>
              </a:rPr>
              <a:t>Benefits Observed</a:t>
            </a:r>
            <a:endParaRPr lang="en-US" sz="1600" dirty="0">
              <a:latin typeface="Times New Roman" panose="02020603050405020304" pitchFamily="18" charset="0"/>
              <a:cs typeface="Times New Roman" panose="02020603050405020304" pitchFamily="18" charset="0"/>
            </a:endParaRPr>
          </a:p>
        </p:txBody>
      </p:sp>
      <p:sp>
        <p:nvSpPr>
          <p:cNvPr id="7" name="Text 5"/>
          <p:cNvSpPr/>
          <p:nvPr/>
        </p:nvSpPr>
        <p:spPr>
          <a:xfrm>
            <a:off x="688133" y="2549123"/>
            <a:ext cx="4846320" cy="1397726"/>
          </a:xfrm>
          <a:prstGeom prst="rect">
            <a:avLst/>
          </a:prstGeom>
          <a:noFill/>
          <a:ln/>
        </p:spPr>
        <p:txBody>
          <a:bodyPr wrap="square" lIns="0" tIns="0" rIns="0" bIns="0" rtlCol="0" anchor="t"/>
          <a:lstStyle/>
          <a:p>
            <a:pPr marL="285750" indent="-285750">
              <a:lnSpc>
                <a:spcPct val="140000"/>
              </a:lnSpc>
              <a:buFont typeface="Arial" panose="020B0604020202020204" pitchFamily="34" charset="0"/>
              <a:buChar char="•"/>
            </a:pPr>
            <a:r>
              <a:rPr lang="en-US" sz="1300" dirty="0">
                <a:solidFill>
                  <a:srgbClr val="1B1F2A"/>
                </a:solidFill>
                <a:latin typeface="Times New Roman" panose="02020603050405020304" pitchFamily="18" charset="0"/>
                <a:ea typeface="Calibri" pitchFamily="34" charset="-122"/>
                <a:cs typeface="Times New Roman" panose="02020603050405020304" pitchFamily="18" charset="0"/>
              </a:rPr>
              <a:t>Visual backlog improves shared understanding of priorities</a:t>
            </a:r>
            <a:endParaRPr lang="en-US" sz="1300" dirty="0">
              <a:latin typeface="Times New Roman" panose="02020603050405020304" pitchFamily="18" charset="0"/>
              <a:cs typeface="Times New Roman" panose="02020603050405020304" pitchFamily="18" charset="0"/>
            </a:endParaRPr>
          </a:p>
          <a:p>
            <a:pPr marL="285750" indent="-285750">
              <a:lnSpc>
                <a:spcPct val="140000"/>
              </a:lnSpc>
              <a:buFont typeface="Arial" panose="020B0604020202020204" pitchFamily="34" charset="0"/>
              <a:buChar char="•"/>
            </a:pPr>
            <a:r>
              <a:rPr lang="en-US" sz="1300" dirty="0">
                <a:solidFill>
                  <a:srgbClr val="1B1F2A"/>
                </a:solidFill>
                <a:latin typeface="Times New Roman" panose="02020603050405020304" pitchFamily="18" charset="0"/>
                <a:ea typeface="Calibri" pitchFamily="34" charset="-122"/>
                <a:cs typeface="Times New Roman" panose="02020603050405020304" pitchFamily="18" charset="0"/>
              </a:rPr>
              <a:t>Sprint boards make progress and blockers immediately visible</a:t>
            </a:r>
            <a:endParaRPr lang="en-US" sz="1300" dirty="0">
              <a:latin typeface="Times New Roman" panose="02020603050405020304" pitchFamily="18" charset="0"/>
              <a:cs typeface="Times New Roman" panose="02020603050405020304" pitchFamily="18" charset="0"/>
            </a:endParaRPr>
          </a:p>
          <a:p>
            <a:pPr marL="285750" indent="-285750">
              <a:lnSpc>
                <a:spcPct val="140000"/>
              </a:lnSpc>
              <a:buFont typeface="Arial" panose="020B0604020202020204" pitchFamily="34" charset="0"/>
              <a:buChar char="•"/>
            </a:pPr>
            <a:r>
              <a:rPr lang="en-US" sz="1300" dirty="0">
                <a:solidFill>
                  <a:srgbClr val="1B1F2A"/>
                </a:solidFill>
                <a:latin typeface="Times New Roman" panose="02020603050405020304" pitchFamily="18" charset="0"/>
                <a:ea typeface="Calibri" pitchFamily="34" charset="-122"/>
                <a:cs typeface="Times New Roman" panose="02020603050405020304" pitchFamily="18" charset="0"/>
              </a:rPr>
              <a:t>Git history gives full traceability of document evolution</a:t>
            </a:r>
            <a:endParaRPr lang="en-US" sz="1300" dirty="0">
              <a:latin typeface="Times New Roman" panose="02020603050405020304" pitchFamily="18" charset="0"/>
              <a:cs typeface="Times New Roman" panose="02020603050405020304" pitchFamily="18" charset="0"/>
            </a:endParaRPr>
          </a:p>
          <a:p>
            <a:pPr marL="285750" indent="-285750">
              <a:lnSpc>
                <a:spcPct val="140000"/>
              </a:lnSpc>
              <a:buFont typeface="Arial" panose="020B0604020202020204" pitchFamily="34" charset="0"/>
              <a:buChar char="•"/>
            </a:pPr>
            <a:r>
              <a:rPr lang="en-US" sz="1300" dirty="0">
                <a:solidFill>
                  <a:srgbClr val="1B1F2A"/>
                </a:solidFill>
                <a:latin typeface="Times New Roman" panose="02020603050405020304" pitchFamily="18" charset="0"/>
                <a:ea typeface="Calibri" pitchFamily="34" charset="-122"/>
                <a:cs typeface="Times New Roman" panose="02020603050405020304" pitchFamily="18" charset="0"/>
              </a:rPr>
              <a:t>Pull requests enforce peer review before changes are merged</a:t>
            </a:r>
            <a:endParaRPr lang="en-US" sz="1300" dirty="0">
              <a:latin typeface="Times New Roman" panose="02020603050405020304" pitchFamily="18" charset="0"/>
              <a:cs typeface="Times New Roman" panose="02020603050405020304" pitchFamily="18" charset="0"/>
            </a:endParaRPr>
          </a:p>
          <a:p>
            <a:pPr marL="285750" indent="-285750">
              <a:lnSpc>
                <a:spcPct val="140000"/>
              </a:lnSpc>
              <a:buFont typeface="Arial" panose="020B0604020202020204" pitchFamily="34" charset="0"/>
              <a:buChar char="•"/>
            </a:pPr>
            <a:r>
              <a:rPr lang="en-US" sz="1300" dirty="0">
                <a:solidFill>
                  <a:srgbClr val="1B1F2A"/>
                </a:solidFill>
                <a:latin typeface="Times New Roman" panose="02020603050405020304" pitchFamily="18" charset="0"/>
                <a:ea typeface="Calibri" pitchFamily="34" charset="-122"/>
                <a:cs typeface="Times New Roman" panose="02020603050405020304" pitchFamily="18" charset="0"/>
              </a:rPr>
              <a:t>Clear roles reduce ambiguity in a distributed team</a:t>
            </a:r>
            <a:endParaRPr lang="en-US" sz="1300" dirty="0">
              <a:latin typeface="Times New Roman" panose="02020603050405020304" pitchFamily="18" charset="0"/>
              <a:cs typeface="Times New Roman" panose="02020603050405020304" pitchFamily="18" charset="0"/>
            </a:endParaRPr>
          </a:p>
        </p:txBody>
      </p:sp>
      <p:sp>
        <p:nvSpPr>
          <p:cNvPr id="8" name="Shape 6"/>
          <p:cNvSpPr/>
          <p:nvPr/>
        </p:nvSpPr>
        <p:spPr>
          <a:xfrm>
            <a:off x="6217920" y="2194560"/>
            <a:ext cx="5440680" cy="3794760"/>
          </a:xfrm>
          <a:prstGeom prst="roundRect">
            <a:avLst>
              <a:gd name="adj" fmla="val 1928"/>
            </a:avLst>
          </a:prstGeom>
          <a:solidFill>
            <a:srgbClr val="FFFFFF"/>
          </a:solidFill>
          <a:ln w="12700">
            <a:solidFill>
              <a:srgbClr val="DCE6EA"/>
            </a:solidFill>
            <a:prstDash val="solid"/>
          </a:ln>
        </p:spPr>
        <p:txBody>
          <a:bodyPr/>
          <a:lstStyle/>
          <a:p>
            <a:endParaRPr lang="en-US" dirty="0"/>
          </a:p>
        </p:txBody>
      </p:sp>
      <p:sp>
        <p:nvSpPr>
          <p:cNvPr id="9" name="Text 7"/>
          <p:cNvSpPr/>
          <p:nvPr/>
        </p:nvSpPr>
        <p:spPr>
          <a:xfrm>
            <a:off x="688133" y="3896465"/>
            <a:ext cx="4846320" cy="365760"/>
          </a:xfrm>
          <a:prstGeom prst="rect">
            <a:avLst/>
          </a:prstGeom>
          <a:noFill/>
          <a:ln/>
        </p:spPr>
        <p:txBody>
          <a:bodyPr wrap="square" lIns="0" tIns="0" rIns="0" bIns="0" rtlCol="0" anchor="ctr"/>
          <a:lstStyle/>
          <a:p>
            <a:pPr marL="0" indent="0">
              <a:buNone/>
            </a:pPr>
            <a:r>
              <a:rPr lang="en-US" sz="1600" b="1" dirty="0">
                <a:solidFill>
                  <a:srgbClr val="21295C"/>
                </a:solidFill>
                <a:latin typeface="Times New Roman" panose="02020603050405020304" pitchFamily="18" charset="0"/>
                <a:ea typeface="Cambria" pitchFamily="34" charset="-122"/>
                <a:cs typeface="Times New Roman" panose="02020603050405020304" pitchFamily="18" charset="0"/>
              </a:rPr>
              <a:t>Challenges Encountered</a:t>
            </a:r>
            <a:endParaRPr lang="en-US" sz="1600" dirty="0">
              <a:latin typeface="Times New Roman" panose="02020603050405020304" pitchFamily="18" charset="0"/>
              <a:cs typeface="Times New Roman" panose="02020603050405020304" pitchFamily="18" charset="0"/>
            </a:endParaRPr>
          </a:p>
        </p:txBody>
      </p:sp>
      <p:sp>
        <p:nvSpPr>
          <p:cNvPr id="10" name="Text 8"/>
          <p:cNvSpPr/>
          <p:nvPr/>
        </p:nvSpPr>
        <p:spPr>
          <a:xfrm>
            <a:off x="688133" y="4262225"/>
            <a:ext cx="4846320" cy="1427585"/>
          </a:xfrm>
          <a:prstGeom prst="rect">
            <a:avLst/>
          </a:prstGeom>
          <a:noFill/>
          <a:ln/>
        </p:spPr>
        <p:txBody>
          <a:bodyPr wrap="square" lIns="0" tIns="0" rIns="0" bIns="0" rtlCol="0" anchor="t"/>
          <a:lstStyle/>
          <a:p>
            <a:pPr marL="285750" indent="-285750">
              <a:lnSpc>
                <a:spcPct val="140000"/>
              </a:lnSpc>
              <a:buFont typeface="Arial" panose="020B0604020202020204" pitchFamily="34" charset="0"/>
              <a:buChar char="•"/>
            </a:pPr>
            <a:r>
              <a:rPr lang="en-US" sz="1300" dirty="0">
                <a:solidFill>
                  <a:srgbClr val="1B1F2A"/>
                </a:solidFill>
                <a:latin typeface="Times New Roman" panose="02020603050405020304" pitchFamily="18" charset="0"/>
                <a:ea typeface="Calibri" pitchFamily="34" charset="-122"/>
                <a:cs typeface="Times New Roman" panose="02020603050405020304" pitchFamily="18" charset="0"/>
              </a:rPr>
              <a:t>Initial learning curve with branching &amp; PR etiquette</a:t>
            </a:r>
            <a:endParaRPr lang="en-US" sz="1300" dirty="0">
              <a:latin typeface="Times New Roman" panose="02020603050405020304" pitchFamily="18" charset="0"/>
              <a:cs typeface="Times New Roman" panose="02020603050405020304" pitchFamily="18" charset="0"/>
            </a:endParaRPr>
          </a:p>
          <a:p>
            <a:pPr marL="285750" indent="-285750">
              <a:lnSpc>
                <a:spcPct val="140000"/>
              </a:lnSpc>
              <a:buFont typeface="Arial" panose="020B0604020202020204" pitchFamily="34" charset="0"/>
              <a:buChar char="•"/>
            </a:pPr>
            <a:r>
              <a:rPr lang="en-US" sz="1300" dirty="0">
                <a:solidFill>
                  <a:srgbClr val="1B1F2A"/>
                </a:solidFill>
                <a:latin typeface="Times New Roman" panose="02020603050405020304" pitchFamily="18" charset="0"/>
                <a:ea typeface="Calibri" pitchFamily="34" charset="-122"/>
                <a:cs typeface="Times New Roman" panose="02020603050405020304" pitchFamily="18" charset="0"/>
              </a:rPr>
              <a:t>Keeping Trello card status in sync with actual progress</a:t>
            </a:r>
            <a:endParaRPr lang="en-US" sz="1300" dirty="0">
              <a:latin typeface="Times New Roman" panose="02020603050405020304" pitchFamily="18" charset="0"/>
              <a:cs typeface="Times New Roman" panose="02020603050405020304" pitchFamily="18" charset="0"/>
            </a:endParaRPr>
          </a:p>
          <a:p>
            <a:pPr marL="285750" indent="-285750">
              <a:lnSpc>
                <a:spcPct val="140000"/>
              </a:lnSpc>
              <a:buFont typeface="Arial" panose="020B0604020202020204" pitchFamily="34" charset="0"/>
              <a:buChar char="•"/>
            </a:pPr>
            <a:r>
              <a:rPr lang="en-US" sz="1300" dirty="0">
                <a:solidFill>
                  <a:srgbClr val="1B1F2A"/>
                </a:solidFill>
                <a:latin typeface="Times New Roman" panose="02020603050405020304" pitchFamily="18" charset="0"/>
                <a:ea typeface="Calibri" pitchFamily="34" charset="-122"/>
                <a:cs typeface="Times New Roman" panose="02020603050405020304" pitchFamily="18" charset="0"/>
              </a:rPr>
              <a:t>Coordinating merge timing across concurrent branches</a:t>
            </a:r>
            <a:endParaRPr lang="en-US" sz="1300" dirty="0">
              <a:latin typeface="Times New Roman" panose="02020603050405020304" pitchFamily="18" charset="0"/>
              <a:cs typeface="Times New Roman" panose="02020603050405020304" pitchFamily="18" charset="0"/>
            </a:endParaRPr>
          </a:p>
          <a:p>
            <a:pPr marL="285750" indent="-285750">
              <a:lnSpc>
                <a:spcPct val="140000"/>
              </a:lnSpc>
              <a:buFont typeface="Arial" panose="020B0604020202020204" pitchFamily="34" charset="0"/>
              <a:buChar char="•"/>
            </a:pPr>
            <a:r>
              <a:rPr lang="en-US" sz="1300" dirty="0">
                <a:solidFill>
                  <a:srgbClr val="1B1F2A"/>
                </a:solidFill>
                <a:latin typeface="Times New Roman" panose="02020603050405020304" pitchFamily="18" charset="0"/>
                <a:ea typeface="Calibri" pitchFamily="34" charset="-122"/>
                <a:cs typeface="Times New Roman" panose="02020603050405020304" pitchFamily="18" charset="0"/>
              </a:rPr>
              <a:t>Translating informal discussion into precise user stories</a:t>
            </a:r>
            <a:endParaRPr lang="en-US" sz="1300" dirty="0">
              <a:latin typeface="Times New Roman" panose="02020603050405020304" pitchFamily="18" charset="0"/>
              <a:cs typeface="Times New Roman" panose="02020603050405020304" pitchFamily="18" charset="0"/>
            </a:endParaRPr>
          </a:p>
          <a:p>
            <a:pPr marL="285750" indent="-285750">
              <a:lnSpc>
                <a:spcPct val="140000"/>
              </a:lnSpc>
              <a:buFont typeface="Arial" panose="020B0604020202020204" pitchFamily="34" charset="0"/>
              <a:buChar char="•"/>
            </a:pPr>
            <a:r>
              <a:rPr lang="en-US" sz="1300" dirty="0">
                <a:solidFill>
                  <a:srgbClr val="1B1F2A"/>
                </a:solidFill>
                <a:latin typeface="Times New Roman" panose="02020603050405020304" pitchFamily="18" charset="0"/>
                <a:ea typeface="Calibri" pitchFamily="34" charset="-122"/>
                <a:cs typeface="Times New Roman" panose="02020603050405020304" pitchFamily="18" charset="0"/>
              </a:rPr>
              <a:t>Maintaining consistent commit-message conventions</a:t>
            </a:r>
            <a:endParaRPr lang="en-US" sz="1300" dirty="0">
              <a:latin typeface="Times New Roman" panose="02020603050405020304" pitchFamily="18" charset="0"/>
              <a:cs typeface="Times New Roman" panose="02020603050405020304" pitchFamily="18" charset="0"/>
            </a:endParaRPr>
          </a:p>
        </p:txBody>
      </p:sp>
      <p:sp>
        <p:nvSpPr>
          <p:cNvPr id="12" name="Text 10"/>
          <p:cNvSpPr/>
          <p:nvPr/>
        </p:nvSpPr>
        <p:spPr>
          <a:xfrm>
            <a:off x="11283883" y="6473952"/>
            <a:ext cx="457200" cy="274320"/>
          </a:xfrm>
          <a:prstGeom prst="rect">
            <a:avLst/>
          </a:prstGeom>
          <a:noFill/>
          <a:ln/>
        </p:spPr>
        <p:txBody>
          <a:bodyPr wrap="square"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15</a:t>
            </a:r>
            <a:endParaRPr lang="en-US" sz="1000" dirty="0"/>
          </a:p>
        </p:txBody>
      </p:sp>
      <p:sp>
        <p:nvSpPr>
          <p:cNvPr id="16" name="TextBox 15">
            <a:extLst>
              <a:ext uri="{FF2B5EF4-FFF2-40B4-BE49-F238E27FC236}">
                <a16:creationId xmlns:a16="http://schemas.microsoft.com/office/drawing/2014/main" id="{9D76ED04-54EE-87B0-9D8D-23E86CF0FCC3}"/>
              </a:ext>
            </a:extLst>
          </p:cNvPr>
          <p:cNvSpPr txBox="1"/>
          <p:nvPr/>
        </p:nvSpPr>
        <p:spPr>
          <a:xfrm>
            <a:off x="688133" y="6472612"/>
            <a:ext cx="6097554" cy="276999"/>
          </a:xfrm>
          <a:prstGeom prst="rect">
            <a:avLst/>
          </a:prstGeom>
          <a:noFill/>
        </p:spPr>
        <p:txBody>
          <a:bodyPr wrap="square">
            <a:spAutoFit/>
          </a:bodyPr>
          <a:lstStyle/>
          <a:p>
            <a:pPr marL="0" indent="0" algn="l">
              <a:buNone/>
            </a:pPr>
            <a:r>
              <a:rPr lang="en-US" sz="1200" dirty="0">
                <a:latin typeface="Times New Roman" panose="02020603050405020304" pitchFamily="18" charset="0"/>
                <a:ea typeface="Calibri" pitchFamily="34" charset="-122"/>
                <a:cs typeface="Times New Roman" panose="02020603050405020304" pitchFamily="18" charset="0"/>
              </a:rPr>
              <a:t>Parking Management System: Agile Project Simulation</a:t>
            </a:r>
            <a:endParaRPr lang="en-US" sz="1200" dirty="0">
              <a:latin typeface="Times New Roman" panose="02020603050405020304" pitchFamily="18" charset="0"/>
              <a:cs typeface="Times New Roman" panose="02020603050405020304" pitchFamily="18" charset="0"/>
            </a:endParaRPr>
          </a:p>
        </p:txBody>
      </p:sp>
      <p:sp>
        <p:nvSpPr>
          <p:cNvPr id="18" name="Text 4">
            <a:extLst>
              <a:ext uri="{FF2B5EF4-FFF2-40B4-BE49-F238E27FC236}">
                <a16:creationId xmlns:a16="http://schemas.microsoft.com/office/drawing/2014/main" id="{46D01FD0-47F7-456D-8115-047FDD8F7357}"/>
              </a:ext>
            </a:extLst>
          </p:cNvPr>
          <p:cNvSpPr/>
          <p:nvPr/>
        </p:nvSpPr>
        <p:spPr>
          <a:xfrm>
            <a:off x="6354925" y="2199536"/>
            <a:ext cx="4846320" cy="365760"/>
          </a:xfrm>
          <a:prstGeom prst="rect">
            <a:avLst/>
          </a:prstGeom>
          <a:noFill/>
          <a:ln/>
        </p:spPr>
        <p:txBody>
          <a:bodyPr wrap="square" lIns="0" tIns="0" rIns="0" bIns="0" rtlCol="0" anchor="ctr"/>
          <a:lstStyle/>
          <a:p>
            <a:pPr marL="0" indent="0">
              <a:buNone/>
            </a:pPr>
            <a:r>
              <a:rPr lang="en-US" sz="1600" b="1" dirty="0">
                <a:solidFill>
                  <a:srgbClr val="21295C"/>
                </a:solidFill>
                <a:latin typeface="Cambria" pitchFamily="34" charset="0"/>
                <a:ea typeface="Cambria" pitchFamily="34" charset="-122"/>
              </a:rPr>
              <a:t>Conclusion</a:t>
            </a:r>
            <a:endParaRPr lang="en-US" sz="1600" dirty="0"/>
          </a:p>
        </p:txBody>
      </p:sp>
      <p:sp>
        <p:nvSpPr>
          <p:cNvPr id="20" name="Text 8">
            <a:extLst>
              <a:ext uri="{FF2B5EF4-FFF2-40B4-BE49-F238E27FC236}">
                <a16:creationId xmlns:a16="http://schemas.microsoft.com/office/drawing/2014/main" id="{880352E7-D95C-D34B-5C4F-ADFFE1614D5B}"/>
              </a:ext>
            </a:extLst>
          </p:cNvPr>
          <p:cNvSpPr/>
          <p:nvPr/>
        </p:nvSpPr>
        <p:spPr>
          <a:xfrm>
            <a:off x="6354925" y="2442133"/>
            <a:ext cx="4846320" cy="1427585"/>
          </a:xfrm>
          <a:prstGeom prst="rect">
            <a:avLst/>
          </a:prstGeom>
          <a:noFill/>
          <a:ln/>
        </p:spPr>
        <p:txBody>
          <a:bodyPr wrap="square" lIns="0" tIns="0" rIns="0" bIns="0" rtlCol="0" anchor="t"/>
          <a:lstStyle/>
          <a:p>
            <a:pPr marL="0" indent="0">
              <a:lnSpc>
                <a:spcPct val="140000"/>
              </a:lnSpc>
              <a:buNone/>
            </a:pPr>
            <a:endParaRPr lang="en-US" sz="1250" dirty="0"/>
          </a:p>
        </p:txBody>
      </p:sp>
      <p:sp>
        <p:nvSpPr>
          <p:cNvPr id="22" name="Text 8">
            <a:extLst>
              <a:ext uri="{FF2B5EF4-FFF2-40B4-BE49-F238E27FC236}">
                <a16:creationId xmlns:a16="http://schemas.microsoft.com/office/drawing/2014/main" id="{D7FEED2C-F5AD-3C39-9EE6-63D96169B4D4}"/>
              </a:ext>
            </a:extLst>
          </p:cNvPr>
          <p:cNvSpPr/>
          <p:nvPr/>
        </p:nvSpPr>
        <p:spPr>
          <a:xfrm>
            <a:off x="6354924" y="2565296"/>
            <a:ext cx="5288435" cy="1427585"/>
          </a:xfrm>
          <a:prstGeom prst="rect">
            <a:avLst/>
          </a:prstGeom>
          <a:noFill/>
          <a:ln/>
        </p:spPr>
        <p:txBody>
          <a:bodyPr wrap="square" lIns="0" tIns="0" rIns="0" bIns="0" rtlCol="0" anchor="t"/>
          <a:lstStyle/>
          <a:p>
            <a:pPr>
              <a:lnSpc>
                <a:spcPct val="125000"/>
              </a:lnSpc>
            </a:pPr>
            <a:r>
              <a:rPr lang="en-US" sz="1400" dirty="0">
                <a:latin typeface="Times New Roman" panose="02020603050405020304" pitchFamily="18" charset="0"/>
                <a:cs typeface="Times New Roman" panose="02020603050405020304" pitchFamily="18" charset="0"/>
              </a:rPr>
              <a:t>This project showed us that Agile is a way of working, not just coding. Trello helped us plan, assign, and prioritize tasks clearly. GitHub helped us manage documents through branches, commits, reviews, and merges. Together, these tools helped us work collaboratively and follow practices similar to a real software development team.</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0">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1463040" y="-1645920"/>
            <a:ext cx="4572000" cy="4572000"/>
          </a:xfrm>
          <a:prstGeom prst="ellipse">
            <a:avLst/>
          </a:prstGeom>
          <a:solidFill>
            <a:srgbClr val="065A82">
              <a:alpha val="45000"/>
            </a:srgbClr>
          </a:solidFill>
          <a:ln/>
        </p:spPr>
      </p:sp>
      <p:sp>
        <p:nvSpPr>
          <p:cNvPr id="3" name="Shape 1"/>
          <p:cNvSpPr/>
          <p:nvPr/>
        </p:nvSpPr>
        <p:spPr>
          <a:xfrm>
            <a:off x="9875520" y="4206240"/>
            <a:ext cx="3840480" cy="3840480"/>
          </a:xfrm>
          <a:prstGeom prst="ellipse">
            <a:avLst/>
          </a:prstGeom>
          <a:solidFill>
            <a:srgbClr val="1C7293">
              <a:alpha val="45000"/>
            </a:srgbClr>
          </a:solidFill>
          <a:ln/>
        </p:spPr>
      </p:sp>
      <p:sp>
        <p:nvSpPr>
          <p:cNvPr id="4" name="Text 2"/>
          <p:cNvSpPr/>
          <p:nvPr/>
        </p:nvSpPr>
        <p:spPr>
          <a:xfrm>
            <a:off x="640080" y="502920"/>
            <a:ext cx="5486400" cy="320040"/>
          </a:xfrm>
          <a:prstGeom prst="rect">
            <a:avLst/>
          </a:prstGeom>
          <a:noFill/>
          <a:ln/>
        </p:spPr>
        <p:txBody>
          <a:bodyPr wrap="square" lIns="0" tIns="0" rIns="0" bIns="0" rtlCol="0" anchor="ctr"/>
          <a:lstStyle/>
          <a:p>
            <a:pPr marL="0" indent="0">
              <a:buNone/>
            </a:pPr>
            <a:r>
              <a:rPr lang="en-US" sz="1300" b="1" kern="0" spc="200" dirty="0">
                <a:solidFill>
                  <a:srgbClr val="CFE8EF"/>
                </a:solidFill>
                <a:latin typeface="Calibri" pitchFamily="34" charset="0"/>
                <a:ea typeface="Calibri" pitchFamily="34" charset="-122"/>
                <a:cs typeface="Calibri" pitchFamily="34" charset="-120"/>
              </a:rPr>
              <a:t>REFERENCES</a:t>
            </a:r>
            <a:endParaRPr lang="en-US" sz="1300" dirty="0"/>
          </a:p>
        </p:txBody>
      </p:sp>
      <p:sp>
        <p:nvSpPr>
          <p:cNvPr id="5" name="Text 3"/>
          <p:cNvSpPr/>
          <p:nvPr/>
        </p:nvSpPr>
        <p:spPr>
          <a:xfrm>
            <a:off x="594360" y="804672"/>
            <a:ext cx="10789920" cy="68580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References</a:t>
            </a:r>
            <a:endParaRPr lang="en-US" sz="3000" dirty="0"/>
          </a:p>
        </p:txBody>
      </p:sp>
      <p:sp>
        <p:nvSpPr>
          <p:cNvPr id="8" name="Text 6"/>
          <p:cNvSpPr/>
          <p:nvPr/>
        </p:nvSpPr>
        <p:spPr>
          <a:xfrm>
            <a:off x="594360" y="1609344"/>
            <a:ext cx="10881360" cy="3367278"/>
          </a:xfrm>
          <a:prstGeom prst="rect">
            <a:avLst/>
          </a:prstGeom>
          <a:noFill/>
          <a:ln/>
        </p:spPr>
        <p:txBody>
          <a:bodyPr wrap="square" lIns="0" tIns="0" rIns="0" bIns="0" rtlCol="0" anchor="t"/>
          <a:lstStyle/>
          <a:p>
            <a:r>
              <a:rPr lang="en-US" sz="1600" dirty="0">
                <a:solidFill>
                  <a:schemeClr val="bg1"/>
                </a:solidFill>
                <a:latin typeface="Times New Roman" panose="02020603050405020304" pitchFamily="18" charset="0"/>
                <a:cs typeface="Times New Roman" panose="02020603050405020304" pitchFamily="18" charset="0"/>
              </a:rPr>
              <a:t>Atlassian. (2024). </a:t>
            </a:r>
            <a:r>
              <a:rPr lang="en-US" sz="1600" i="1" dirty="0">
                <a:solidFill>
                  <a:schemeClr val="bg1"/>
                </a:solidFill>
                <a:latin typeface="Times New Roman" panose="02020603050405020304" pitchFamily="18" charset="0"/>
                <a:cs typeface="Times New Roman" panose="02020603050405020304" pitchFamily="18" charset="0"/>
              </a:rPr>
              <a:t>The Agile Coach</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a:solidFill>
                  <a:schemeClr val="bg1"/>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https://www.atlassian.com/agile/about</a:t>
            </a:r>
            <a:endParaRPr lang="en-US" sz="1600"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sz="1600" dirty="0">
                <a:solidFill>
                  <a:schemeClr val="bg1"/>
                </a:solidFill>
                <a:latin typeface="Times New Roman" panose="02020603050405020304" pitchFamily="18" charset="0"/>
                <a:cs typeface="Times New Roman" panose="02020603050405020304" pitchFamily="18" charset="0"/>
              </a:rPr>
              <a:t>GitHub, Inc. (2024). </a:t>
            </a:r>
            <a:r>
              <a:rPr lang="en-US" sz="1600" i="1" dirty="0">
                <a:solidFill>
                  <a:schemeClr val="bg1"/>
                </a:solidFill>
                <a:latin typeface="Times New Roman" panose="02020603050405020304" pitchFamily="18" charset="0"/>
                <a:cs typeface="Times New Roman" panose="02020603050405020304" pitchFamily="18" charset="0"/>
              </a:rPr>
              <a:t>Pull requests documentation</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a:solidFill>
                  <a:schemeClr val="bg1"/>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https://docs.github.com/en/pull-requests</a:t>
            </a:r>
            <a:endParaRPr lang="en-US" sz="1600"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sz="1600" dirty="0">
                <a:solidFill>
                  <a:schemeClr val="bg1"/>
                </a:solidFill>
                <a:latin typeface="Times New Roman" panose="02020603050405020304" pitchFamily="18" charset="0"/>
                <a:cs typeface="Times New Roman" panose="02020603050405020304" pitchFamily="18" charset="0"/>
              </a:rPr>
              <a:t>International Software Testing Qualifications Board. (2023). </a:t>
            </a:r>
            <a:r>
              <a:rPr lang="en-US" sz="1600" i="1" dirty="0">
                <a:solidFill>
                  <a:schemeClr val="bg1"/>
                </a:solidFill>
                <a:latin typeface="Times New Roman" panose="02020603050405020304" pitchFamily="18" charset="0"/>
                <a:cs typeface="Times New Roman" panose="02020603050405020304" pitchFamily="18" charset="0"/>
              </a:rPr>
              <a:t>ISTQB foundation level syllabus</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a:solidFill>
                  <a:schemeClr val="bg1"/>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https://www.istqb.org</a:t>
            </a:r>
            <a:endParaRPr lang="en-US" sz="1600"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sz="1600" dirty="0">
                <a:solidFill>
                  <a:schemeClr val="bg1"/>
                </a:solidFill>
                <a:latin typeface="Times New Roman" panose="02020603050405020304" pitchFamily="18" charset="0"/>
                <a:cs typeface="Times New Roman" panose="02020603050405020304" pitchFamily="18" charset="0"/>
              </a:rPr>
              <a:t>Object Management Group. (2017). </a:t>
            </a:r>
            <a:r>
              <a:rPr lang="en-US" sz="1600" i="1" dirty="0">
                <a:solidFill>
                  <a:schemeClr val="bg1"/>
                </a:solidFill>
                <a:latin typeface="Times New Roman" panose="02020603050405020304" pitchFamily="18" charset="0"/>
                <a:cs typeface="Times New Roman" panose="02020603050405020304" pitchFamily="18" charset="0"/>
              </a:rPr>
              <a:t>OMG Unified Modeling Language (UML) specification: Version 2.5.1</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a:solidFill>
                  <a:schemeClr val="bg1"/>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https://www.omg.org/spec/UML/2.5.1</a:t>
            </a:r>
            <a:endParaRPr lang="en-US" sz="1600"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sz="1600" dirty="0">
                <a:solidFill>
                  <a:schemeClr val="bg1"/>
                </a:solidFill>
                <a:latin typeface="Times New Roman" panose="02020603050405020304" pitchFamily="18" charset="0"/>
                <a:cs typeface="Times New Roman" panose="02020603050405020304" pitchFamily="18" charset="0"/>
              </a:rPr>
              <a:t>Schwaber, K., &amp; Sutherland, J. (2020). </a:t>
            </a:r>
            <a:r>
              <a:rPr lang="en-US" sz="1600" i="1" dirty="0">
                <a:solidFill>
                  <a:schemeClr val="bg1"/>
                </a:solidFill>
                <a:latin typeface="Times New Roman" panose="02020603050405020304" pitchFamily="18" charset="0"/>
                <a:cs typeface="Times New Roman" panose="02020603050405020304" pitchFamily="18" charset="0"/>
              </a:rPr>
              <a:t>The Scrum Guide: The definitive guide to Scrum</a:t>
            </a:r>
            <a:r>
              <a:rPr lang="en-US" sz="1600" dirty="0">
                <a:solidFill>
                  <a:schemeClr val="bg1"/>
                </a:solidFill>
                <a:latin typeface="Times New Roman" panose="02020603050405020304" pitchFamily="18" charset="0"/>
                <a:cs typeface="Times New Roman" panose="02020603050405020304" pitchFamily="18" charset="0"/>
              </a:rPr>
              <a:t>. Scrum.org. </a:t>
            </a:r>
            <a:r>
              <a:rPr lang="en-US" sz="1600" dirty="0">
                <a:solidFill>
                  <a:schemeClr val="bg1"/>
                </a:solidFill>
                <a:latin typeface="Times New Roman" panose="02020603050405020304" pitchFamily="18" charset="0"/>
                <a:cs typeface="Times New Roman" panose="02020603050405020304" pitchFamily="18" charset="0"/>
                <a:hlinkClick r:id="rId7">
                  <a:extLst>
                    <a:ext uri="{A12FA001-AC4F-418D-AE19-62706E023703}">
                      <ahyp:hlinkClr xmlns:ahyp="http://schemas.microsoft.com/office/drawing/2018/hyperlinkcolor" val="tx"/>
                    </a:ext>
                  </a:extLst>
                </a:hlinkClick>
              </a:rPr>
              <a:t>Scrum Guide</a:t>
            </a:r>
            <a:endParaRPr lang="en-US" sz="1600"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sz="1600" dirty="0">
                <a:solidFill>
                  <a:schemeClr val="bg1"/>
                </a:solidFill>
                <a:latin typeface="Times New Roman" panose="02020603050405020304" pitchFamily="18" charset="0"/>
                <a:cs typeface="Times New Roman" panose="02020603050405020304" pitchFamily="18" charset="0"/>
              </a:rPr>
              <a:t>Trello, Inc. (2024). </a:t>
            </a:r>
            <a:r>
              <a:rPr lang="en-US" sz="1600" i="1" dirty="0">
                <a:solidFill>
                  <a:schemeClr val="bg1"/>
                </a:solidFill>
                <a:latin typeface="Times New Roman" panose="02020603050405020304" pitchFamily="18" charset="0"/>
                <a:cs typeface="Times New Roman" panose="02020603050405020304" pitchFamily="18" charset="0"/>
              </a:rPr>
              <a:t>Trello guide: Boards, lists, and cards</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a:solidFill>
                  <a:schemeClr val="bg1"/>
                </a:solidFill>
                <a:latin typeface="Times New Roman" panose="02020603050405020304" pitchFamily="18" charset="0"/>
                <a:cs typeface="Times New Roman" panose="02020603050405020304" pitchFamily="18" charset="0"/>
                <a:hlinkClick r:id="rId8">
                  <a:extLst>
                    <a:ext uri="{A12FA001-AC4F-418D-AE19-62706E023703}">
                      <ahyp:hlinkClr xmlns:ahyp="http://schemas.microsoft.com/office/drawing/2018/hyperlinkcolor" val="tx"/>
                    </a:ext>
                  </a:extLst>
                </a:hlinkClick>
              </a:rPr>
              <a:t>https://trello.com/guide</a:t>
            </a:r>
            <a:endParaRPr lang="en-US" sz="16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1371</TotalTime>
  <Words>2345</Words>
  <Application>Microsoft Office PowerPoint</Application>
  <PresentationFormat>Widescreen</PresentationFormat>
  <Paragraphs>342</Paragraphs>
  <Slides>18</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Cambria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Dinesh Devkota</cp:lastModifiedBy>
  <cp:revision>9</cp:revision>
  <dcterms:created xsi:type="dcterms:W3CDTF">2026-08-17T12:44:21Z</dcterms:created>
  <dcterms:modified xsi:type="dcterms:W3CDTF">2026-08-20T10:08:17Z</dcterms:modified>
</cp:coreProperties>
</file>